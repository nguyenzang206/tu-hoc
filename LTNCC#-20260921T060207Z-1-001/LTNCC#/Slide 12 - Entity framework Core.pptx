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326" r:id="rId2"/>
    <p:sldId id="329" r:id="rId3"/>
    <p:sldId id="632" r:id="rId4"/>
    <p:sldId id="683" r:id="rId5"/>
    <p:sldId id="633" r:id="rId6"/>
    <p:sldId id="634" r:id="rId7"/>
    <p:sldId id="685" r:id="rId8"/>
    <p:sldId id="635" r:id="rId9"/>
    <p:sldId id="684" r:id="rId10"/>
    <p:sldId id="636" r:id="rId11"/>
    <p:sldId id="617" r:id="rId12"/>
    <p:sldId id="637" r:id="rId13"/>
    <p:sldId id="638" r:id="rId14"/>
    <p:sldId id="640" r:id="rId15"/>
    <p:sldId id="641" r:id="rId16"/>
    <p:sldId id="687" r:id="rId17"/>
    <p:sldId id="688" r:id="rId18"/>
    <p:sldId id="689" r:id="rId19"/>
    <p:sldId id="690" r:id="rId20"/>
    <p:sldId id="642" r:id="rId21"/>
    <p:sldId id="691" r:id="rId22"/>
    <p:sldId id="694" r:id="rId23"/>
    <p:sldId id="693" r:id="rId24"/>
    <p:sldId id="696" r:id="rId25"/>
    <p:sldId id="697" r:id="rId26"/>
    <p:sldId id="695" r:id="rId27"/>
    <p:sldId id="698" r:id="rId28"/>
    <p:sldId id="699" r:id="rId29"/>
    <p:sldId id="692" r:id="rId30"/>
    <p:sldId id="644" r:id="rId31"/>
    <p:sldId id="645" r:id="rId32"/>
    <p:sldId id="646" r:id="rId33"/>
    <p:sldId id="647" r:id="rId34"/>
    <p:sldId id="648" r:id="rId35"/>
    <p:sldId id="649" r:id="rId36"/>
    <p:sldId id="650" r:id="rId37"/>
    <p:sldId id="652" r:id="rId38"/>
    <p:sldId id="653" r:id="rId39"/>
    <p:sldId id="654" r:id="rId40"/>
    <p:sldId id="655" r:id="rId41"/>
    <p:sldId id="656" r:id="rId42"/>
    <p:sldId id="657" r:id="rId43"/>
    <p:sldId id="659" r:id="rId44"/>
    <p:sldId id="658" r:id="rId45"/>
    <p:sldId id="660" r:id="rId46"/>
    <p:sldId id="661" r:id="rId47"/>
    <p:sldId id="662" r:id="rId48"/>
    <p:sldId id="663" r:id="rId49"/>
    <p:sldId id="664" r:id="rId50"/>
    <p:sldId id="665" r:id="rId51"/>
    <p:sldId id="666" r:id="rId52"/>
    <p:sldId id="667" r:id="rId53"/>
    <p:sldId id="668" r:id="rId54"/>
    <p:sldId id="669" r:id="rId55"/>
    <p:sldId id="670" r:id="rId56"/>
    <p:sldId id="671" r:id="rId57"/>
    <p:sldId id="672" r:id="rId58"/>
    <p:sldId id="673" r:id="rId59"/>
    <p:sldId id="674" r:id="rId60"/>
    <p:sldId id="676" r:id="rId61"/>
    <p:sldId id="677" r:id="rId62"/>
    <p:sldId id="679" r:id="rId63"/>
    <p:sldId id="680" r:id="rId64"/>
    <p:sldId id="681" r:id="rId65"/>
    <p:sldId id="682" r:id="rId66"/>
    <p:sldId id="365"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3399"/>
    <a:srgbClr val="006600"/>
    <a:srgbClr val="008000"/>
    <a:srgbClr val="009900"/>
    <a:srgbClr val="FF9900"/>
    <a:srgbClr val="FF66CC"/>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06" autoAdjust="0"/>
    <p:restoredTop sz="93848" autoAdjust="0"/>
  </p:normalViewPr>
  <p:slideViewPr>
    <p:cSldViewPr>
      <p:cViewPr varScale="1">
        <p:scale>
          <a:sx n="126" d="100"/>
          <a:sy n="126" d="100"/>
        </p:scale>
        <p:origin x="960" y="13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496221D-5A41-4E4B-B273-B46A145C070D}" type="datetimeFigureOut">
              <a:rPr lang="en-US" smtClean="0"/>
              <a:t>11/21/2025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F74780-AD20-4C27-8BFF-11517CFD8EA3}" type="slidenum">
              <a:rPr lang="en-US" smtClean="0"/>
              <a:t>‹#›</a:t>
            </a:fld>
            <a:endParaRPr lang="en-US"/>
          </a:p>
        </p:txBody>
      </p:sp>
    </p:spTree>
    <p:extLst>
      <p:ext uri="{BB962C8B-B14F-4D97-AF65-F5344CB8AC3E}">
        <p14:creationId xmlns:p14="http://schemas.microsoft.com/office/powerpoint/2010/main" val="30730919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5A7CD3-BC72-4EE1-A161-1AE0A46D4526}" type="datetimeFigureOut">
              <a:rPr lang="en-US" smtClean="0"/>
              <a:t>11/21/2025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162A40-4696-434D-804E-F7DFBF114578}" type="slidenum">
              <a:rPr lang="en-US" smtClean="0"/>
              <a:t>‹#›</a:t>
            </a:fld>
            <a:endParaRPr lang="en-US"/>
          </a:p>
        </p:txBody>
      </p:sp>
    </p:spTree>
    <p:extLst>
      <p:ext uri="{BB962C8B-B14F-4D97-AF65-F5344CB8AC3E}">
        <p14:creationId xmlns:p14="http://schemas.microsoft.com/office/powerpoint/2010/main" val="380597465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1"/>
            <a:ext cx="9144000" cy="533400"/>
          </a:xfrm>
        </p:spPr>
        <p:txBody>
          <a:bodyPr>
            <a:noAutofit/>
          </a:bodyPr>
          <a:lstStyle>
            <a:lvl1pPr algn="ctr">
              <a:lnSpc>
                <a:spcPct val="150000"/>
              </a:lnSpc>
              <a:spcBef>
                <a:spcPts val="0"/>
              </a:spcBef>
              <a:spcAft>
                <a:spcPts val="0"/>
              </a:spcAft>
              <a:defRPr lang="en-US" sz="3000" b="1" kern="1200">
                <a:solidFill>
                  <a:schemeClr val="bg1"/>
                </a:solidFill>
                <a:latin typeface="Arial" panose="020B0604020202020204" pitchFamily="34" charset="0"/>
                <a:ea typeface="+mj-ea"/>
                <a:cs typeface="Arial" panose="020B0604020202020204" pitchFamily="34" charset="0"/>
              </a:defRPr>
            </a:lvl1pPr>
          </a:lstStyle>
          <a:p>
            <a:r>
              <a:rPr lang="en-US"/>
              <a:t>NHẬP TÊN HỌC PHẦN VÀO ĐÂY</a:t>
            </a:r>
          </a:p>
        </p:txBody>
      </p:sp>
      <p:sp>
        <p:nvSpPr>
          <p:cNvPr id="4" name="Date Placeholder 3"/>
          <p:cNvSpPr>
            <a:spLocks noGrp="1"/>
          </p:cNvSpPr>
          <p:nvPr>
            <p:ph type="dt" sz="half" idx="10"/>
          </p:nvPr>
        </p:nvSpPr>
        <p:spPr/>
        <p:txBody>
          <a:bodyPr/>
          <a:lstStyle/>
          <a:p>
            <a:fld id="{264F3982-4CC6-4EC4-85EF-7B204C519F33}" type="datetime1">
              <a:rPr lang="en-US" smtClean="0"/>
              <a:t>11/21/2025</a:t>
            </a:fld>
            <a:endParaRPr lang="en-US"/>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F4E32468-D4D3-45A6-A508-7622D5375F4E}" type="slidenum">
              <a:rPr lang="en-US" smtClean="0"/>
              <a:t>‹#›</a:t>
            </a:fld>
            <a:endParaRPr lang="en-US"/>
          </a:p>
        </p:txBody>
      </p:sp>
      <p:pic>
        <p:nvPicPr>
          <p:cNvPr id="8" name="Picture 7">
            <a:extLst>
              <a:ext uri="{FF2B5EF4-FFF2-40B4-BE49-F238E27FC236}">
                <a16:creationId xmlns:a16="http://schemas.microsoft.com/office/drawing/2014/main" id="{326E09E4-ADF4-4EA6-8B8C-CA21351A02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81424" y="3524250"/>
            <a:ext cx="1581150" cy="1581150"/>
          </a:xfrm>
          <a:prstGeom prst="rect">
            <a:avLst/>
          </a:prstGeom>
        </p:spPr>
      </p:pic>
      <p:sp>
        <p:nvSpPr>
          <p:cNvPr id="9" name="TextBox 8">
            <a:extLst>
              <a:ext uri="{FF2B5EF4-FFF2-40B4-BE49-F238E27FC236}">
                <a16:creationId xmlns:a16="http://schemas.microsoft.com/office/drawing/2014/main" id="{8464925B-5719-4519-92F7-55CCFD892B03}"/>
              </a:ext>
            </a:extLst>
          </p:cNvPr>
          <p:cNvSpPr txBox="1"/>
          <p:nvPr userDrawn="1"/>
        </p:nvSpPr>
        <p:spPr>
          <a:xfrm>
            <a:off x="1894665" y="5232739"/>
            <a:ext cx="5354671" cy="1015663"/>
          </a:xfrm>
          <a:prstGeom prst="rect">
            <a:avLst/>
          </a:prstGeom>
          <a:noFill/>
        </p:spPr>
        <p:txBody>
          <a:bodyPr wrap="none" rtlCol="0">
            <a:spAutoFit/>
          </a:bodyPr>
          <a:lstStyle/>
          <a:p>
            <a:pPr algn="ctr">
              <a:lnSpc>
                <a:spcPct val="100000"/>
              </a:lnSpc>
              <a:spcBef>
                <a:spcPts val="1200"/>
              </a:spcBef>
              <a:spcAft>
                <a:spcPts val="1200"/>
              </a:spcAft>
            </a:pPr>
            <a:r>
              <a:rPr lang="en-US" sz="2000">
                <a:latin typeface="Arial" panose="020B0604020202020204" pitchFamily="34" charset="0"/>
                <a:cs typeface="Arial" panose="020B0604020202020204" pitchFamily="34" charset="0"/>
              </a:rPr>
              <a:t>Bộ môn Công nghệ Phần mềm,</a:t>
            </a:r>
            <a:br>
              <a:rPr lang="en-US" sz="2000">
                <a:latin typeface="Arial" panose="020B0604020202020204" pitchFamily="34" charset="0"/>
                <a:cs typeface="Arial" panose="020B0604020202020204" pitchFamily="34" charset="0"/>
              </a:rPr>
            </a:br>
            <a:r>
              <a:rPr lang="en-US" sz="2000">
                <a:latin typeface="Arial" panose="020B0604020202020204" pitchFamily="34" charset="0"/>
                <a:cs typeface="Arial" panose="020B0604020202020204" pitchFamily="34" charset="0"/>
              </a:rPr>
              <a:t>Khoa Công nghệ Thông tin,</a:t>
            </a:r>
            <a:br>
              <a:rPr lang="en-US" sz="2000">
                <a:latin typeface="Arial" panose="020B0604020202020204" pitchFamily="34" charset="0"/>
                <a:cs typeface="Arial" panose="020B0604020202020204" pitchFamily="34" charset="0"/>
              </a:rPr>
            </a:br>
            <a:r>
              <a:rPr lang="en-US" sz="2000">
                <a:latin typeface="Arial" panose="020B0604020202020204" pitchFamily="34" charset="0"/>
                <a:cs typeface="Arial" panose="020B0604020202020204" pitchFamily="34" charset="0"/>
              </a:rPr>
              <a:t>Trường Đại học Sư phạm Kỹ thuật Hưng Yên</a:t>
            </a:r>
            <a:endParaRPr lang="en-US" sz="1400">
              <a:latin typeface="Arial" panose="020B0604020202020204" pitchFamily="34" charset="0"/>
              <a:cs typeface="Arial" panose="020B0604020202020204" pitchFamily="34" charset="0"/>
            </a:endParaRPr>
          </a:p>
        </p:txBody>
      </p:sp>
      <p:sp>
        <p:nvSpPr>
          <p:cNvPr id="12" name="Subtitle 2">
            <a:extLst>
              <a:ext uri="{FF2B5EF4-FFF2-40B4-BE49-F238E27FC236}">
                <a16:creationId xmlns:a16="http://schemas.microsoft.com/office/drawing/2014/main" id="{0A020463-26BC-4DBC-92CD-F3ACA184C1FA}"/>
              </a:ext>
            </a:extLst>
          </p:cNvPr>
          <p:cNvSpPr>
            <a:spLocks noGrp="1"/>
          </p:cNvSpPr>
          <p:nvPr>
            <p:ph type="subTitle" idx="1" hasCustomPrompt="1"/>
          </p:nvPr>
        </p:nvSpPr>
        <p:spPr>
          <a:xfrm>
            <a:off x="457200" y="1303167"/>
            <a:ext cx="8229600" cy="2030585"/>
          </a:xfrm>
        </p:spPr>
        <p:txBody>
          <a:bodyPr>
            <a:normAutofit/>
          </a:bodyPr>
          <a:lstStyle>
            <a:lvl1pPr marL="0" indent="0" algn="ctr">
              <a:buNone/>
              <a:defRPr lang="en-US" sz="3000" b="1" kern="1200">
                <a:solidFill>
                  <a:schemeClr val="accent1">
                    <a:lumMod val="75000"/>
                  </a:schemeClr>
                </a:solidFill>
                <a:latin typeface="Arial" panose="020B0604020202020204" pitchFamily="34" charset="0"/>
                <a:ea typeface="+mj-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NHẬP TÊN BÀI HỌC VÀO ĐÂY</a:t>
            </a:r>
          </a:p>
          <a:p>
            <a:endParaRPr lang="en-US"/>
          </a:p>
        </p:txBody>
      </p:sp>
    </p:spTree>
    <p:extLst>
      <p:ext uri="{BB962C8B-B14F-4D97-AF65-F5344CB8AC3E}">
        <p14:creationId xmlns:p14="http://schemas.microsoft.com/office/powerpoint/2010/main" val="3160344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181600"/>
          </a:xfrm>
        </p:spPr>
        <p:txBody>
          <a:bodyPr/>
          <a:lstStyle>
            <a:lvl1pPr marL="384048" indent="-384048">
              <a:spcBef>
                <a:spcPts val="1200"/>
              </a:spcBef>
              <a:spcAft>
                <a:spcPts val="1200"/>
              </a:spcAft>
              <a:buSzPct val="120000"/>
              <a:buFont typeface="Wingdings" panose="05000000000000000000" pitchFamily="2" charset="2"/>
              <a:buChar char="§"/>
              <a:defRPr sz="2400">
                <a:latin typeface="Arial" panose="020B0604020202020204" pitchFamily="34" charset="0"/>
                <a:cs typeface="Arial" panose="020B0604020202020204" pitchFamily="34" charset="0"/>
              </a:defRPr>
            </a:lvl1pPr>
            <a:lvl2pPr marL="685800" indent="-285750">
              <a:spcBef>
                <a:spcPts val="0"/>
              </a:spcBef>
              <a:spcAft>
                <a:spcPts val="600"/>
              </a:spcAft>
              <a:buFont typeface="Courier New" panose="02070309020205020404" pitchFamily="49" charset="0"/>
              <a:buChar char="o"/>
              <a:defRPr sz="2000">
                <a:latin typeface="Arial" panose="020B0604020202020204" pitchFamily="34" charset="0"/>
                <a:cs typeface="Arial" panose="020B0604020202020204" pitchFamily="34" charset="0"/>
              </a:defRPr>
            </a:lvl2pPr>
            <a:lvl3pPr marL="914400">
              <a:spcBef>
                <a:spcPts val="300"/>
              </a:spcBef>
              <a:defRPr sz="1800">
                <a:latin typeface="Arial" panose="020B0604020202020204" pitchFamily="34" charset="0"/>
                <a:cs typeface="Arial" panose="020B0604020202020204" pitchFamily="34" charset="0"/>
              </a:defRPr>
            </a:lvl3pPr>
            <a:lvl4pPr marL="1188720">
              <a:spcBef>
                <a:spcPts val="300"/>
              </a:spcBef>
              <a:spcAft>
                <a:spcPts val="300"/>
              </a:spcAft>
              <a:defRPr sz="1600">
                <a:latin typeface="Arial" panose="020B0604020202020204" pitchFamily="34" charset="0"/>
                <a:cs typeface="Arial" panose="020B0604020202020204" pitchFamily="34" charset="0"/>
              </a:defRPr>
            </a:lvl4pPr>
            <a:lvl5pPr marL="1828800">
              <a:spcBef>
                <a:spcPts val="300"/>
              </a:spcBef>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6AF3A6CE-5EDE-40F8-B1DF-6AE9C3C9768D}"/>
              </a:ext>
            </a:extLst>
          </p:cNvPr>
          <p:cNvSpPr>
            <a:spLocks noGrp="1"/>
          </p:cNvSpPr>
          <p:nvPr>
            <p:ph type="title"/>
          </p:nvPr>
        </p:nvSpPr>
        <p:spPr>
          <a:xfrm>
            <a:off x="457200" y="27299"/>
            <a:ext cx="8229600" cy="609599"/>
          </a:xfrm>
          <a:prstGeom prst="rect">
            <a:avLst/>
          </a:prstGeom>
        </p:spPr>
        <p:txBody>
          <a:bodyPr vert="horz" lIns="91440" tIns="45720" rIns="91440" bIns="45720" rtlCol="0" anchor="ctr">
            <a:normAutofit/>
          </a:bodyPr>
          <a:lstStyle/>
          <a:p>
            <a:r>
              <a:rPr lang="en-US"/>
              <a:t>Click to edit Master title style</a:t>
            </a:r>
          </a:p>
        </p:txBody>
      </p:sp>
      <p:sp>
        <p:nvSpPr>
          <p:cNvPr id="8" name="Date Placeholder 3">
            <a:extLst>
              <a:ext uri="{FF2B5EF4-FFF2-40B4-BE49-F238E27FC236}">
                <a16:creationId xmlns:a16="http://schemas.microsoft.com/office/drawing/2014/main" id="{FC7C7203-DFBE-426B-B53A-522A85990152}"/>
              </a:ext>
            </a:extLst>
          </p:cNvPr>
          <p:cNvSpPr>
            <a:spLocks noGrp="1"/>
          </p:cNvSpPr>
          <p:nvPr>
            <p:ph type="dt" sz="half" idx="2"/>
          </p:nvPr>
        </p:nvSpPr>
        <p:spPr>
          <a:xfrm>
            <a:off x="457200" y="6520128"/>
            <a:ext cx="2133600"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fld id="{4D202ABA-0031-4D61-A041-186C665429FE}" type="datetime1">
              <a:rPr lang="en-US" smtClean="0"/>
              <a:t>11/21/2025</a:t>
            </a:fld>
            <a:endParaRPr lang="en-US"/>
          </a:p>
        </p:txBody>
      </p:sp>
      <p:sp>
        <p:nvSpPr>
          <p:cNvPr id="9" name="Footer Placeholder 4">
            <a:extLst>
              <a:ext uri="{FF2B5EF4-FFF2-40B4-BE49-F238E27FC236}">
                <a16:creationId xmlns:a16="http://schemas.microsoft.com/office/drawing/2014/main" id="{30D5C5C3-B81B-4D3A-B0A0-1BAFAE1C1928}"/>
              </a:ext>
            </a:extLst>
          </p:cNvPr>
          <p:cNvSpPr>
            <a:spLocks noGrp="1"/>
          </p:cNvSpPr>
          <p:nvPr>
            <p:ph type="ftr" sz="quarter" idx="3"/>
          </p:nvPr>
        </p:nvSpPr>
        <p:spPr>
          <a:xfrm>
            <a:off x="3124200" y="6520128"/>
            <a:ext cx="2895600" cy="365125"/>
          </a:xfrm>
          <a:prstGeom prst="rect">
            <a:avLst/>
          </a:prstGeom>
        </p:spPr>
        <p:txBody>
          <a:bodyPr vert="horz" lIns="91440" tIns="45720" rIns="91440" bIns="45720" rtlCol="0" anchor="ctr"/>
          <a:lstStyle>
            <a:lvl1pPr algn="ctr">
              <a:defRPr sz="1200">
                <a:solidFill>
                  <a:schemeClr val="bg1"/>
                </a:solidFill>
                <a:latin typeface="Arial" panose="020B0604020202020204" pitchFamily="34" charset="0"/>
                <a:cs typeface="Arial" panose="020B0604020202020204" pitchFamily="34" charset="0"/>
              </a:defRPr>
            </a:lvl1pPr>
          </a:lstStyle>
          <a:p>
            <a:r>
              <a:rPr lang="en-US" dirty="0"/>
              <a:t> </a:t>
            </a:r>
          </a:p>
        </p:txBody>
      </p:sp>
      <p:sp>
        <p:nvSpPr>
          <p:cNvPr id="10" name="Slide Number Placeholder 5">
            <a:extLst>
              <a:ext uri="{FF2B5EF4-FFF2-40B4-BE49-F238E27FC236}">
                <a16:creationId xmlns:a16="http://schemas.microsoft.com/office/drawing/2014/main" id="{72ED4DDF-D4D5-4036-A339-5B9B164A53D9}"/>
              </a:ext>
            </a:extLst>
          </p:cNvPr>
          <p:cNvSpPr>
            <a:spLocks noGrp="1"/>
          </p:cNvSpPr>
          <p:nvPr>
            <p:ph type="sldNum" sz="quarter" idx="4"/>
          </p:nvPr>
        </p:nvSpPr>
        <p:spPr>
          <a:xfrm>
            <a:off x="6553200" y="6520128"/>
            <a:ext cx="21336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F4E32468-D4D3-45A6-A508-7622D5375F4E}" type="slidenum">
              <a:rPr lang="en-US" smtClean="0"/>
              <a:pPr/>
              <a:t>‹#›</a:t>
            </a:fld>
            <a:endParaRPr lang="en-US"/>
          </a:p>
        </p:txBody>
      </p:sp>
    </p:spTree>
    <p:extLst>
      <p:ext uri="{BB962C8B-B14F-4D97-AF65-F5344CB8AC3E}">
        <p14:creationId xmlns:p14="http://schemas.microsoft.com/office/powerpoint/2010/main" val="823614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762003"/>
            <a:ext cx="8229600" cy="6095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28800"/>
            <a:ext cx="8229600" cy="44958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6FA409-E11A-495A-A001-855AF0C56DDB}" type="datetime1">
              <a:rPr lang="en-US" smtClean="0"/>
              <a:t>11/21/2025</a:t>
            </a:fld>
            <a:endParaRPr lang="en-US"/>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F4E32468-D4D3-45A6-A508-7622D5375F4E}" type="slidenum">
              <a:rPr lang="en-US" smtClean="0"/>
              <a:t>‹#›</a:t>
            </a:fld>
            <a:endParaRPr lang="en-US"/>
          </a:p>
        </p:txBody>
      </p:sp>
    </p:spTree>
    <p:extLst>
      <p:ext uri="{BB962C8B-B14F-4D97-AF65-F5344CB8AC3E}">
        <p14:creationId xmlns:p14="http://schemas.microsoft.com/office/powerpoint/2010/main" val="1035908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A6372B-C7F7-454A-A4C3-A39283F948ED}" type="datetime1">
              <a:rPr lang="en-US" smtClean="0"/>
              <a:t>11/21/2025</a:t>
            </a:fld>
            <a:endParaRPr lang="en-US"/>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F4E32468-D4D3-45A6-A508-7622D5375F4E}" type="slidenum">
              <a:rPr lang="en-US" smtClean="0"/>
              <a:t>‹#›</a:t>
            </a:fld>
            <a:endParaRPr lang="en-US"/>
          </a:p>
        </p:txBody>
      </p:sp>
    </p:spTree>
    <p:extLst>
      <p:ext uri="{BB962C8B-B14F-4D97-AF65-F5344CB8AC3E}">
        <p14:creationId xmlns:p14="http://schemas.microsoft.com/office/powerpoint/2010/main" val="480932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30860"/>
            <a:ext cx="4038600" cy="509530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30860"/>
            <a:ext cx="4038600" cy="5095305"/>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A4B93D-8755-4A37-9F34-302EED5C8A26}" type="datetime1">
              <a:rPr lang="en-US" smtClean="0"/>
              <a:t>11/21/2025</a:t>
            </a:fld>
            <a:endParaRPr lang="en-US"/>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F4E32468-D4D3-45A6-A508-7622D5375F4E}" type="slidenum">
              <a:rPr lang="en-US" smtClean="0"/>
              <a:t>‹#›</a:t>
            </a:fld>
            <a:endParaRPr lang="en-US"/>
          </a:p>
        </p:txBody>
      </p:sp>
    </p:spTree>
    <p:extLst>
      <p:ext uri="{BB962C8B-B14F-4D97-AF65-F5344CB8AC3E}">
        <p14:creationId xmlns:p14="http://schemas.microsoft.com/office/powerpoint/2010/main" val="348926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6ACC4-E7CD-4981-BD20-5D1B4CB63074}" type="datetime1">
              <a:rPr lang="en-US" smtClean="0"/>
              <a:t>11/21/2025</a:t>
            </a:fld>
            <a:endParaRPr lang="en-US"/>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F4E32468-D4D3-45A6-A508-7622D5375F4E}" type="slidenum">
              <a:rPr lang="en-US" smtClean="0"/>
              <a:t>‹#›</a:t>
            </a:fld>
            <a:endParaRPr lang="en-US"/>
          </a:p>
        </p:txBody>
      </p:sp>
    </p:spTree>
    <p:extLst>
      <p:ext uri="{BB962C8B-B14F-4D97-AF65-F5344CB8AC3E}">
        <p14:creationId xmlns:p14="http://schemas.microsoft.com/office/powerpoint/2010/main" val="1973435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299"/>
            <a:ext cx="8229600" cy="60959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066800"/>
            <a:ext cx="8229600" cy="5257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20128"/>
            <a:ext cx="2133600"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fld id="{4D202ABA-0031-4D61-A041-186C665429FE}" type="datetime1">
              <a:rPr lang="en-US" smtClean="0"/>
              <a:t>11/21/2025</a:t>
            </a:fld>
            <a:endParaRPr lang="en-US"/>
          </a:p>
        </p:txBody>
      </p:sp>
      <p:sp>
        <p:nvSpPr>
          <p:cNvPr id="5" name="Footer Placeholder 4"/>
          <p:cNvSpPr>
            <a:spLocks noGrp="1"/>
          </p:cNvSpPr>
          <p:nvPr>
            <p:ph type="ftr" sz="quarter" idx="3"/>
          </p:nvPr>
        </p:nvSpPr>
        <p:spPr>
          <a:xfrm>
            <a:off x="3124200" y="6520128"/>
            <a:ext cx="2895600" cy="365125"/>
          </a:xfrm>
          <a:prstGeom prst="rect">
            <a:avLst/>
          </a:prstGeom>
        </p:spPr>
        <p:txBody>
          <a:bodyPr vert="horz" lIns="91440" tIns="45720" rIns="91440" bIns="45720" rtlCol="0" anchor="ctr"/>
          <a:lstStyle>
            <a:lvl1pPr algn="ctr">
              <a:defRPr sz="1200">
                <a:solidFill>
                  <a:schemeClr val="bg1"/>
                </a:solidFill>
                <a:latin typeface="Arial" panose="020B0604020202020204" pitchFamily="34" charset="0"/>
                <a:cs typeface="Arial" panose="020B0604020202020204" pitchFamily="34" charset="0"/>
              </a:defRPr>
            </a:lvl1pPr>
          </a:lstStyle>
          <a:p>
            <a:r>
              <a:rPr lang="en-US" dirty="0"/>
              <a:t> </a:t>
            </a:r>
          </a:p>
        </p:txBody>
      </p:sp>
      <p:sp>
        <p:nvSpPr>
          <p:cNvPr id="6" name="Slide Number Placeholder 5"/>
          <p:cNvSpPr>
            <a:spLocks noGrp="1"/>
          </p:cNvSpPr>
          <p:nvPr>
            <p:ph type="sldNum" sz="quarter" idx="4"/>
          </p:nvPr>
        </p:nvSpPr>
        <p:spPr>
          <a:xfrm>
            <a:off x="6553200" y="6520128"/>
            <a:ext cx="21336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F4E32468-D4D3-45A6-A508-7622D5375F4E}" type="slidenum">
              <a:rPr lang="en-US" smtClean="0"/>
              <a:pPr/>
              <a:t>‹#›</a:t>
            </a:fld>
            <a:endParaRPr lang="en-US"/>
          </a:p>
        </p:txBody>
      </p:sp>
    </p:spTree>
    <p:extLst>
      <p:ext uri="{BB962C8B-B14F-4D97-AF65-F5344CB8AC3E}">
        <p14:creationId xmlns:p14="http://schemas.microsoft.com/office/powerpoint/2010/main" val="1150032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2" r:id="rId5"/>
    <p:sldLayoutId id="2147483655" r:id="rId6"/>
  </p:sldLayoutIdLst>
  <p:hf hdr="0"/>
  <p:txStyles>
    <p:titleStyle>
      <a:lvl1pPr algn="l" defTabSz="914400" rtl="0" eaLnBrk="1" latinLnBrk="0" hangingPunct="1">
        <a:spcBef>
          <a:spcPct val="0"/>
        </a:spcBef>
        <a:buNone/>
        <a:defRPr sz="2800" b="1" kern="1200">
          <a:solidFill>
            <a:schemeClr val="bg1"/>
          </a:solidFill>
          <a:latin typeface="Arial" panose="020B0604020202020204" pitchFamily="34" charset="0"/>
          <a:ea typeface="+mj-ea"/>
          <a:cs typeface="Arial" panose="020B0604020202020204" pitchFamily="34" charset="0"/>
        </a:defRPr>
      </a:lvl1pPr>
    </p:titleStyle>
    <p:bodyStyle>
      <a:lvl1pPr marL="384048" indent="-384048" algn="l" defTabSz="914400" rtl="0" eaLnBrk="1" latinLnBrk="0" hangingPunct="1">
        <a:spcBef>
          <a:spcPts val="1200"/>
        </a:spcBef>
        <a:spcAft>
          <a:spcPts val="1200"/>
        </a:spcAft>
        <a:buSzPct val="12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685800" indent="-285750" algn="l" defTabSz="914400" rtl="0" eaLnBrk="1" latinLnBrk="0" hangingPunct="1">
        <a:spcBef>
          <a:spcPts val="0"/>
        </a:spcBef>
        <a:spcAft>
          <a:spcPts val="600"/>
        </a:spcAft>
        <a:buFont typeface="Courier New" panose="02070309020205020404" pitchFamily="49" charset="0"/>
        <a:buChar char="o"/>
        <a:defRPr sz="2000" kern="1200">
          <a:solidFill>
            <a:schemeClr val="tx1"/>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ts val="300"/>
        </a:spcBef>
        <a:spcAft>
          <a:spcPts val="300"/>
        </a:spcAft>
        <a:buSzPct val="120000"/>
        <a:buFont typeface="Arial"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188720" indent="-228600" algn="l" defTabSz="914400" rtl="0" eaLnBrk="1" latinLnBrk="0" hangingPunct="1">
        <a:spcBef>
          <a:spcPts val="300"/>
        </a:spcBef>
        <a:spcAft>
          <a:spcPts val="300"/>
        </a:spcAft>
        <a:buFont typeface="Arial"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1828800" indent="-228600" algn="l" defTabSz="914400" rtl="0" eaLnBrk="1" latinLnBrk="0" hangingPunct="1">
        <a:spcBef>
          <a:spcPts val="300"/>
        </a:spcBef>
        <a:spcAft>
          <a:spcPts val="300"/>
        </a:spcAft>
        <a:buFont typeface="Arial"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entityframeworktutorial.net/efcore/install-entity-framework-core.asp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learn.microsoft.com/en-us/dotnet/api/microsoft.entityframeworkcore.dbcontex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598FFC-6810-4DED-9397-5F519C9B4CA6}"/>
              </a:ext>
            </a:extLst>
          </p:cNvPr>
          <p:cNvSpPr>
            <a:spLocks noGrp="1"/>
          </p:cNvSpPr>
          <p:nvPr>
            <p:ph type="ctrTitle"/>
          </p:nvPr>
        </p:nvSpPr>
        <p:spPr/>
        <p:txBody>
          <a:bodyPr/>
          <a:lstStyle/>
          <a:p>
            <a:r>
              <a:rPr lang="en-US"/>
              <a:t>LẬP TRÌNH WEB VỚI MÔ HÌNH MVC</a:t>
            </a:r>
          </a:p>
        </p:txBody>
      </p:sp>
      <p:sp>
        <p:nvSpPr>
          <p:cNvPr id="4" name="Date Placeholder 3">
            <a:extLst>
              <a:ext uri="{FF2B5EF4-FFF2-40B4-BE49-F238E27FC236}">
                <a16:creationId xmlns:a16="http://schemas.microsoft.com/office/drawing/2014/main" id="{80B99833-22E5-4EB1-B8A1-55A47B7B2829}"/>
              </a:ext>
            </a:extLst>
          </p:cNvPr>
          <p:cNvSpPr>
            <a:spLocks noGrp="1"/>
          </p:cNvSpPr>
          <p:nvPr>
            <p:ph type="dt" sz="half" idx="10"/>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157B850B-5ADE-42BC-B873-397F5508482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60B56A4-7BB3-4CE1-9A49-51C869529E12}"/>
              </a:ext>
            </a:extLst>
          </p:cNvPr>
          <p:cNvSpPr>
            <a:spLocks noGrp="1"/>
          </p:cNvSpPr>
          <p:nvPr>
            <p:ph type="sldNum" sz="quarter" idx="12"/>
          </p:nvPr>
        </p:nvSpPr>
        <p:spPr/>
        <p:txBody>
          <a:bodyPr/>
          <a:lstStyle/>
          <a:p>
            <a:fld id="{F4E32468-D4D3-45A6-A508-7622D5375F4E}" type="slidenum">
              <a:rPr lang="en-US" smtClean="0"/>
              <a:pPr/>
              <a:t>1</a:t>
            </a:fld>
            <a:endParaRPr lang="en-US"/>
          </a:p>
        </p:txBody>
      </p:sp>
      <p:sp>
        <p:nvSpPr>
          <p:cNvPr id="8" name="Subtitle 7">
            <a:extLst>
              <a:ext uri="{FF2B5EF4-FFF2-40B4-BE49-F238E27FC236}">
                <a16:creationId xmlns:a16="http://schemas.microsoft.com/office/drawing/2014/main" id="{9E421E78-7928-40B7-8502-FE48A21C6505}"/>
              </a:ext>
            </a:extLst>
          </p:cNvPr>
          <p:cNvSpPr>
            <a:spLocks noGrp="1"/>
          </p:cNvSpPr>
          <p:nvPr>
            <p:ph type="subTitle" idx="1"/>
          </p:nvPr>
        </p:nvSpPr>
        <p:spPr/>
        <p:txBody>
          <a:bodyPr>
            <a:normAutofit/>
          </a:bodyPr>
          <a:lstStyle/>
          <a:p>
            <a:r>
              <a:rPr lang="en-US" dirty="0"/>
              <a:t>BÀI 12</a:t>
            </a:r>
          </a:p>
          <a:p>
            <a:r>
              <a:rPr lang="en-US" sz="3200" dirty="0"/>
              <a:t>Entity framework Core</a:t>
            </a:r>
          </a:p>
        </p:txBody>
      </p:sp>
    </p:spTree>
    <p:extLst>
      <p:ext uri="{BB962C8B-B14F-4D97-AF65-F5344CB8AC3E}">
        <p14:creationId xmlns:p14="http://schemas.microsoft.com/office/powerpoint/2010/main" val="2441195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5CB35E-A2FE-465A-AE59-FAD53270E585}"/>
              </a:ext>
            </a:extLst>
          </p:cNvPr>
          <p:cNvSpPr>
            <a:spLocks noGrp="1"/>
          </p:cNvSpPr>
          <p:nvPr>
            <p:ph idx="1"/>
          </p:nvPr>
        </p:nvSpPr>
        <p:spPr/>
        <p:txBody>
          <a:bodyPr>
            <a:normAutofit/>
          </a:bodyPr>
          <a:lstStyle/>
          <a:p>
            <a:pPr algn="just"/>
            <a:r>
              <a:rPr lang="en-US" dirty="0"/>
              <a:t>Entity Framework Core is the new version of Entity Framework after EF 6.x. It is open-source, lightweight, extensible and a cross-platform version of Entity Framework data access technology.</a:t>
            </a:r>
          </a:p>
          <a:p>
            <a:pPr algn="just"/>
            <a:r>
              <a:rPr lang="en-US" dirty="0"/>
              <a:t>Entity Framework is an Object/Relational Mapping (O/RM) framework. It is an enhancement to ADO.NET that gives developers an automated mechanism for accessing &amp; storing the data in the database.</a:t>
            </a:r>
          </a:p>
          <a:p>
            <a:pPr algn="just"/>
            <a:r>
              <a:rPr lang="en-US" dirty="0"/>
              <a:t>EF Core is intended to be used with .NET Core applications. However, it can also be used with standard .NET 4.5+ framework based applications.</a:t>
            </a:r>
          </a:p>
        </p:txBody>
      </p:sp>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1. What is Entity framework Core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2</a:t>
            </a:fld>
            <a:endParaRPr lang="en-US"/>
          </a:p>
        </p:txBody>
      </p:sp>
    </p:spTree>
    <p:extLst>
      <p:ext uri="{BB962C8B-B14F-4D97-AF65-F5344CB8AC3E}">
        <p14:creationId xmlns:p14="http://schemas.microsoft.com/office/powerpoint/2010/main" val="2029634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1. What is Entity framework Core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a:t>
            </a:fld>
            <a:endParaRPr lang="en-US"/>
          </a:p>
        </p:txBody>
      </p:sp>
      <p:pic>
        <p:nvPicPr>
          <p:cNvPr id="7" name="Picture 2">
            <a:extLst>
              <a:ext uri="{FF2B5EF4-FFF2-40B4-BE49-F238E27FC236}">
                <a16:creationId xmlns:a16="http://schemas.microsoft.com/office/drawing/2014/main" id="{AA136D65-C4A9-266E-5CC0-E257517C8C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6300" y="2062162"/>
            <a:ext cx="739140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717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C2D0B-A571-0521-DDFE-262ADF5C5D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DC9C65-01F5-11D0-6392-725BADA56C97}"/>
              </a:ext>
            </a:extLst>
          </p:cNvPr>
          <p:cNvSpPr>
            <a:spLocks noGrp="1"/>
          </p:cNvSpPr>
          <p:nvPr>
            <p:ph type="title"/>
          </p:nvPr>
        </p:nvSpPr>
        <p:spPr/>
        <p:txBody>
          <a:bodyPr>
            <a:normAutofit/>
          </a:bodyPr>
          <a:lstStyle/>
          <a:p>
            <a:r>
              <a:rPr lang="en-US"/>
              <a:t>1. What is Entity framework Core</a:t>
            </a:r>
            <a:endParaRPr lang="en-US" dirty="0"/>
          </a:p>
        </p:txBody>
      </p:sp>
      <p:sp>
        <p:nvSpPr>
          <p:cNvPr id="4" name="Date Placeholder 3">
            <a:extLst>
              <a:ext uri="{FF2B5EF4-FFF2-40B4-BE49-F238E27FC236}">
                <a16:creationId xmlns:a16="http://schemas.microsoft.com/office/drawing/2014/main" id="{CF5447AF-4850-C766-B925-3A8BCEC651F5}"/>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0936CECE-3374-3037-7ACF-5AFD2E719BAC}"/>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BAF3DAE1-3527-7B1A-396F-EDA84F6464A1}"/>
              </a:ext>
            </a:extLst>
          </p:cNvPr>
          <p:cNvSpPr>
            <a:spLocks noGrp="1"/>
          </p:cNvSpPr>
          <p:nvPr>
            <p:ph type="sldNum" sz="quarter" idx="4"/>
          </p:nvPr>
        </p:nvSpPr>
        <p:spPr/>
        <p:txBody>
          <a:bodyPr/>
          <a:lstStyle/>
          <a:p>
            <a:fld id="{F4E32468-D4D3-45A6-A508-7622D5375F4E}" type="slidenum">
              <a:rPr lang="en-US" smtClean="0"/>
              <a:pPr/>
              <a:t>4</a:t>
            </a:fld>
            <a:endParaRPr lang="en-US"/>
          </a:p>
        </p:txBody>
      </p:sp>
      <p:sp>
        <p:nvSpPr>
          <p:cNvPr id="2" name="Content Placeholder 1">
            <a:extLst>
              <a:ext uri="{FF2B5EF4-FFF2-40B4-BE49-F238E27FC236}">
                <a16:creationId xmlns:a16="http://schemas.microsoft.com/office/drawing/2014/main" id="{E4F1CF9B-8054-197D-F8E3-F6B6ECA2E4C0}"/>
              </a:ext>
            </a:extLst>
          </p:cNvPr>
          <p:cNvSpPr>
            <a:spLocks noGrp="1"/>
          </p:cNvSpPr>
          <p:nvPr>
            <p:ph idx="1"/>
          </p:nvPr>
        </p:nvSpPr>
        <p:spPr/>
        <p:txBody>
          <a:bodyPr>
            <a:normAutofit/>
          </a:bodyPr>
          <a:lstStyle/>
          <a:p>
            <a:r>
              <a:rPr lang="en-US" sz="2000" dirty="0"/>
              <a:t>EF Core supports two development approaches 1) </a:t>
            </a:r>
            <a:r>
              <a:rPr lang="en-US" sz="2000" b="1" dirty="0"/>
              <a:t>Code-First</a:t>
            </a:r>
            <a:r>
              <a:rPr lang="en-US" sz="2000" dirty="0"/>
              <a:t> 2) </a:t>
            </a:r>
            <a:r>
              <a:rPr lang="en-US" sz="2000" b="1" dirty="0"/>
              <a:t>Database-First</a:t>
            </a:r>
            <a:r>
              <a:rPr lang="en-US" sz="2000" dirty="0"/>
              <a:t>. EF Core mainly targets the code-first approach and provides little support for the database-first approach because the visual designer or wizard for DB model is not supported as of EF Core. </a:t>
            </a:r>
            <a:endParaRPr lang="en-US" sz="2000" b="1" dirty="0"/>
          </a:p>
        </p:txBody>
      </p:sp>
      <p:pic>
        <p:nvPicPr>
          <p:cNvPr id="2052" name="Picture 4">
            <a:extLst>
              <a:ext uri="{FF2B5EF4-FFF2-40B4-BE49-F238E27FC236}">
                <a16:creationId xmlns:a16="http://schemas.microsoft.com/office/drawing/2014/main" id="{FAD784B8-773C-F857-4FF4-FDCA31A0E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255530"/>
            <a:ext cx="4705350" cy="252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56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2. Install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a:t>
            </a:fld>
            <a:endParaRPr lang="en-US"/>
          </a:p>
        </p:txBody>
      </p:sp>
      <p:sp>
        <p:nvSpPr>
          <p:cNvPr id="7" name="Rectangle 1">
            <a:extLst>
              <a:ext uri="{FF2B5EF4-FFF2-40B4-BE49-F238E27FC236}">
                <a16:creationId xmlns:a16="http://schemas.microsoft.com/office/drawing/2014/main" id="{6A564D87-CBF6-49AC-8DB1-729D7A152F4C}"/>
              </a:ext>
            </a:extLst>
          </p:cNvPr>
          <p:cNvSpPr>
            <a:spLocks noGrp="1" noChangeArrowheads="1"/>
          </p:cNvSpPr>
          <p:nvPr>
            <p:ph idx="1"/>
          </p:nvPr>
        </p:nvSpPr>
        <p:spPr bwMode="auto">
          <a:xfrm>
            <a:off x="342900" y="1348517"/>
            <a:ext cx="8458200" cy="29700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spcBef>
                <a:spcPts val="600"/>
              </a:spcBef>
              <a:spcAft>
                <a:spcPts val="0"/>
              </a:spcAft>
            </a:pPr>
            <a:r>
              <a:rPr lang="en-US" sz="2000" dirty="0"/>
              <a:t>You can install the EF Core NuGet package in your project using the following methods:</a:t>
            </a:r>
          </a:p>
          <a:p>
            <a:pPr>
              <a:spcBef>
                <a:spcPts val="600"/>
              </a:spcBef>
              <a:spcAft>
                <a:spcPts val="0"/>
              </a:spcAft>
            </a:pPr>
            <a:r>
              <a:rPr lang="en-US" sz="2000" dirty="0"/>
              <a:t>Using NuGet Package Manager</a:t>
            </a:r>
          </a:p>
          <a:p>
            <a:pPr>
              <a:spcBef>
                <a:spcPts val="600"/>
              </a:spcBef>
              <a:spcAft>
                <a:spcPts val="0"/>
              </a:spcAft>
            </a:pPr>
            <a:r>
              <a:rPr lang="en-US" sz="2000" dirty="0"/>
              <a:t>Using Package Manager Console</a:t>
            </a:r>
          </a:p>
          <a:p>
            <a:pPr>
              <a:spcBef>
                <a:spcPts val="600"/>
              </a:spcBef>
              <a:spcAft>
                <a:spcPts val="0"/>
              </a:spcAft>
            </a:pPr>
            <a:r>
              <a:rPr lang="en-US" sz="2000" dirty="0"/>
              <a:t>Using </a:t>
            </a:r>
            <a:r>
              <a:rPr lang="en-US" sz="2000" dirty="0" err="1"/>
              <a:t>DotNet</a:t>
            </a:r>
            <a:r>
              <a:rPr lang="en-US" sz="2000" dirty="0"/>
              <a:t> CLI</a:t>
            </a:r>
          </a:p>
          <a:p>
            <a:pPr>
              <a:spcBef>
                <a:spcPts val="600"/>
              </a:spcBef>
              <a:spcAft>
                <a:spcPts val="0"/>
              </a:spcAft>
            </a:pPr>
            <a:r>
              <a:rPr lang="en-US" sz="2000" dirty="0"/>
              <a:t>Using PowerShell</a:t>
            </a:r>
          </a:p>
          <a:p>
            <a:pPr>
              <a:spcBef>
                <a:spcPts val="600"/>
              </a:spcBef>
              <a:spcAft>
                <a:spcPts val="0"/>
              </a:spcAft>
            </a:pPr>
            <a:r>
              <a:rPr lang="en-US" sz="2000" dirty="0"/>
              <a:t>Adding package reference directly in .</a:t>
            </a:r>
            <a:r>
              <a:rPr lang="en-US" sz="2000" dirty="0" err="1"/>
              <a:t>csproj</a:t>
            </a:r>
            <a:endParaRPr lang="en-US" sz="2000" dirty="0"/>
          </a:p>
          <a:p>
            <a:pPr marL="0" indent="0">
              <a:spcBef>
                <a:spcPts val="600"/>
              </a:spcBef>
              <a:spcAft>
                <a:spcPts val="0"/>
              </a:spcAft>
              <a:buNone/>
            </a:pPr>
            <a:r>
              <a:rPr lang="en-US" sz="2000" dirty="0">
                <a:hlinkClick r:id="rId2"/>
              </a:rPr>
              <a:t>Reference</a:t>
            </a:r>
            <a:endParaRPr lang="en-US" sz="2000" dirty="0"/>
          </a:p>
        </p:txBody>
      </p:sp>
    </p:spTree>
    <p:extLst>
      <p:ext uri="{BB962C8B-B14F-4D97-AF65-F5344CB8AC3E}">
        <p14:creationId xmlns:p14="http://schemas.microsoft.com/office/powerpoint/2010/main" val="332296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2. </a:t>
            </a:r>
            <a:r>
              <a:rPr lang="en-US" dirty="0" err="1"/>
              <a:t>FrameworkEntity</a:t>
            </a:r>
            <a:r>
              <a:rPr lang="en-US" dirty="0"/>
              <a:t> Framework </a:t>
            </a:r>
            <a:r>
              <a:rPr lang="en-US" dirty="0" err="1"/>
              <a:t>Achitecture</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a:t>
            </a:fld>
            <a:endParaRPr lang="en-US"/>
          </a:p>
        </p:txBody>
      </p:sp>
      <p:sp>
        <p:nvSpPr>
          <p:cNvPr id="7" name="Rectangle 1">
            <a:extLst>
              <a:ext uri="{FF2B5EF4-FFF2-40B4-BE49-F238E27FC236}">
                <a16:creationId xmlns:a16="http://schemas.microsoft.com/office/drawing/2014/main" id="{6A564D87-CBF6-49AC-8DB1-729D7A152F4C}"/>
              </a:ext>
            </a:extLst>
          </p:cNvPr>
          <p:cNvSpPr>
            <a:spLocks noGrp="1" noChangeArrowheads="1"/>
          </p:cNvSpPr>
          <p:nvPr>
            <p:ph idx="1"/>
          </p:nvPr>
        </p:nvSpPr>
        <p:spPr bwMode="auto">
          <a:xfrm>
            <a:off x="304800" y="2914200"/>
            <a:ext cx="8382000" cy="2616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spcBef>
                <a:spcPts val="0"/>
              </a:spcBef>
              <a:spcAft>
                <a:spcPts val="0"/>
              </a:spcAft>
            </a:pPr>
            <a:endParaRPr lang="en-US" sz="1400" dirty="0"/>
          </a:p>
        </p:txBody>
      </p:sp>
      <p:pic>
        <p:nvPicPr>
          <p:cNvPr id="3074" name="Picture 2" descr="Entity Framework Architecture">
            <a:extLst>
              <a:ext uri="{FF2B5EF4-FFF2-40B4-BE49-F238E27FC236}">
                <a16:creationId xmlns:a16="http://schemas.microsoft.com/office/drawing/2014/main" id="{B06D86E0-9C05-74C0-04CD-AB0BB84357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15191"/>
            <a:ext cx="7391400" cy="447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381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C9802-4CD0-0AF0-09F6-EF58246B62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2ABE2A-F592-52CF-9822-C18E32F20F13}"/>
              </a:ext>
            </a:extLst>
          </p:cNvPr>
          <p:cNvSpPr>
            <a:spLocks noGrp="1"/>
          </p:cNvSpPr>
          <p:nvPr>
            <p:ph type="title"/>
          </p:nvPr>
        </p:nvSpPr>
        <p:spPr/>
        <p:txBody>
          <a:bodyPr>
            <a:normAutofit/>
          </a:bodyPr>
          <a:lstStyle/>
          <a:p>
            <a:r>
              <a:rPr lang="en-US" dirty="0"/>
              <a:t>2. </a:t>
            </a:r>
            <a:r>
              <a:rPr lang="en-US" dirty="0" err="1"/>
              <a:t>FrameworkEntity</a:t>
            </a:r>
            <a:r>
              <a:rPr lang="en-US" dirty="0"/>
              <a:t> Framework </a:t>
            </a:r>
            <a:r>
              <a:rPr lang="en-US" dirty="0" err="1"/>
              <a:t>Achitecture</a:t>
            </a:r>
            <a:endParaRPr lang="en-US" dirty="0"/>
          </a:p>
        </p:txBody>
      </p:sp>
      <p:sp>
        <p:nvSpPr>
          <p:cNvPr id="4" name="Date Placeholder 3">
            <a:extLst>
              <a:ext uri="{FF2B5EF4-FFF2-40B4-BE49-F238E27FC236}">
                <a16:creationId xmlns:a16="http://schemas.microsoft.com/office/drawing/2014/main" id="{CD28038B-AEA0-00C7-5181-EE90039E890E}"/>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7D08051A-AE20-3D91-330B-7562E488F76D}"/>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30022C05-8B72-884E-376B-CF5AB9318F5E}"/>
              </a:ext>
            </a:extLst>
          </p:cNvPr>
          <p:cNvSpPr>
            <a:spLocks noGrp="1"/>
          </p:cNvSpPr>
          <p:nvPr>
            <p:ph type="sldNum" sz="quarter" idx="4"/>
          </p:nvPr>
        </p:nvSpPr>
        <p:spPr/>
        <p:txBody>
          <a:bodyPr/>
          <a:lstStyle/>
          <a:p>
            <a:fld id="{F4E32468-D4D3-45A6-A508-7622D5375F4E}" type="slidenum">
              <a:rPr lang="en-US" smtClean="0"/>
              <a:pPr/>
              <a:t>7</a:t>
            </a:fld>
            <a:endParaRPr lang="en-US"/>
          </a:p>
        </p:txBody>
      </p:sp>
      <p:sp>
        <p:nvSpPr>
          <p:cNvPr id="7" name="Rectangle 1">
            <a:extLst>
              <a:ext uri="{FF2B5EF4-FFF2-40B4-BE49-F238E27FC236}">
                <a16:creationId xmlns:a16="http://schemas.microsoft.com/office/drawing/2014/main" id="{5D73FDD4-54BF-4DAC-683B-0E0FA0C1C7DD}"/>
              </a:ext>
            </a:extLst>
          </p:cNvPr>
          <p:cNvSpPr>
            <a:spLocks noGrp="1" noChangeArrowheads="1"/>
          </p:cNvSpPr>
          <p:nvPr>
            <p:ph idx="1"/>
          </p:nvPr>
        </p:nvSpPr>
        <p:spPr bwMode="auto">
          <a:xfrm>
            <a:off x="228600" y="977875"/>
            <a:ext cx="8382000" cy="51860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a:spcBef>
                <a:spcPts val="0"/>
              </a:spcBef>
              <a:spcAft>
                <a:spcPts val="600"/>
              </a:spcAft>
            </a:pPr>
            <a:r>
              <a:rPr lang="en-US" sz="1400" b="1" dirty="0"/>
              <a:t>EDM (Entity Data Model): </a:t>
            </a:r>
            <a:r>
              <a:rPr lang="en-US" sz="1400" dirty="0"/>
              <a:t>EDM consists of three main parts - Conceptual model, Mapping and Storage model.</a:t>
            </a:r>
          </a:p>
          <a:p>
            <a:pPr algn="just">
              <a:spcBef>
                <a:spcPts val="0"/>
              </a:spcBef>
              <a:spcAft>
                <a:spcPts val="600"/>
              </a:spcAft>
            </a:pPr>
            <a:r>
              <a:rPr lang="en-US" sz="1400" b="1" dirty="0"/>
              <a:t>Conceptual Model: </a:t>
            </a:r>
            <a:r>
              <a:rPr lang="en-US" sz="1400" dirty="0"/>
              <a:t>The conceptual model contains the model classes and their relationships. This will be independent from your database table design.</a:t>
            </a:r>
          </a:p>
          <a:p>
            <a:pPr algn="just">
              <a:spcBef>
                <a:spcPts val="0"/>
              </a:spcBef>
              <a:spcAft>
                <a:spcPts val="600"/>
              </a:spcAft>
            </a:pPr>
            <a:r>
              <a:rPr lang="en-US" sz="1400" b="1" dirty="0"/>
              <a:t>Storage Model:</a:t>
            </a:r>
            <a:r>
              <a:rPr lang="en-US" sz="1400" dirty="0"/>
              <a:t> The storage model is the database design model which includes tables, views, stored procedures, and their relationships and keys.</a:t>
            </a:r>
          </a:p>
          <a:p>
            <a:pPr algn="just">
              <a:spcBef>
                <a:spcPts val="0"/>
              </a:spcBef>
              <a:spcAft>
                <a:spcPts val="600"/>
              </a:spcAft>
            </a:pPr>
            <a:r>
              <a:rPr lang="en-US" sz="1400" b="1" dirty="0"/>
              <a:t>Mapping: </a:t>
            </a:r>
            <a:r>
              <a:rPr lang="en-US" sz="1400" dirty="0"/>
              <a:t>Mapping consists of information about how the conceptual model is mapped to the storage model.</a:t>
            </a:r>
          </a:p>
          <a:p>
            <a:pPr algn="just">
              <a:spcBef>
                <a:spcPts val="0"/>
              </a:spcBef>
              <a:spcAft>
                <a:spcPts val="600"/>
              </a:spcAft>
            </a:pPr>
            <a:r>
              <a:rPr lang="en-US" sz="1400" b="1" dirty="0"/>
              <a:t>LINQ to Entities:</a:t>
            </a:r>
            <a:r>
              <a:rPr lang="en-US" sz="1400" dirty="0"/>
              <a:t> LINQ-to-Entities (L2E) is a query language used to write queries against the object model. It returns entities, which are defined in the conceptual model. You can use your LINQ skills here.</a:t>
            </a:r>
          </a:p>
          <a:p>
            <a:pPr algn="just">
              <a:spcBef>
                <a:spcPts val="0"/>
              </a:spcBef>
              <a:spcAft>
                <a:spcPts val="600"/>
              </a:spcAft>
            </a:pPr>
            <a:r>
              <a:rPr lang="en-US" sz="1400" b="1" dirty="0"/>
              <a:t>Entity SQL:</a:t>
            </a:r>
            <a:r>
              <a:rPr lang="en-US" sz="1400" dirty="0"/>
              <a:t> Entity SQL is another query language (for EF 6 only) just like LINQ to Entities. However, it is a little more difficult than L2E and the developer will have to learn it separately.</a:t>
            </a:r>
          </a:p>
          <a:p>
            <a:pPr algn="just">
              <a:spcBef>
                <a:spcPts val="0"/>
              </a:spcBef>
              <a:spcAft>
                <a:spcPts val="600"/>
              </a:spcAft>
            </a:pPr>
            <a:r>
              <a:rPr lang="en-US" sz="1400" b="1" dirty="0"/>
              <a:t>Object Service:</a:t>
            </a:r>
            <a:r>
              <a:rPr lang="en-US" sz="1400" dirty="0"/>
              <a:t> Object service is the main entry point for accessing data from the database and returning it. Object service is responsible for materialization, which is the process of converting data returned from an entity client data provider (next layer) to an entity object structure.</a:t>
            </a:r>
          </a:p>
          <a:p>
            <a:pPr algn="just">
              <a:spcBef>
                <a:spcPts val="0"/>
              </a:spcBef>
              <a:spcAft>
                <a:spcPts val="600"/>
              </a:spcAft>
            </a:pPr>
            <a:r>
              <a:rPr lang="en-US" sz="1400" b="1" dirty="0"/>
              <a:t>Entity Client Data Provider:</a:t>
            </a:r>
            <a:r>
              <a:rPr lang="en-US" sz="1400" dirty="0"/>
              <a:t> The main responsibility of this layer is to convert LINQ-to-Entities or Entity SQL queries into a SQL query which is understood by the underlying database. It communicates with the </a:t>
            </a:r>
            <a:r>
              <a:rPr lang="en-US" sz="1400" dirty="0" err="1"/>
              <a:t>ADO.Net</a:t>
            </a:r>
            <a:r>
              <a:rPr lang="en-US" sz="1400" dirty="0"/>
              <a:t> data provider which in turn sends or retrieves data from the database.</a:t>
            </a:r>
          </a:p>
          <a:p>
            <a:pPr algn="just">
              <a:spcBef>
                <a:spcPts val="0"/>
              </a:spcBef>
              <a:spcAft>
                <a:spcPts val="600"/>
              </a:spcAft>
            </a:pPr>
            <a:r>
              <a:rPr lang="en-US" sz="1400" b="1" dirty="0" err="1"/>
              <a:t>ADO.Net</a:t>
            </a:r>
            <a:r>
              <a:rPr lang="en-US" sz="1400" b="1" dirty="0"/>
              <a:t> Data Provider:</a:t>
            </a:r>
            <a:r>
              <a:rPr lang="en-US" sz="1400" dirty="0"/>
              <a:t> This layer communicates with the database using standard </a:t>
            </a:r>
            <a:r>
              <a:rPr lang="en-US" sz="1400" dirty="0" err="1"/>
              <a:t>ADO.Net</a:t>
            </a:r>
            <a:r>
              <a:rPr lang="en-US" sz="1400" dirty="0"/>
              <a:t>.</a:t>
            </a:r>
          </a:p>
        </p:txBody>
      </p:sp>
    </p:spTree>
    <p:extLst>
      <p:ext uri="{BB962C8B-B14F-4D97-AF65-F5344CB8AC3E}">
        <p14:creationId xmlns:p14="http://schemas.microsoft.com/office/powerpoint/2010/main" val="386966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3. How Entity Framework Works?</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8</a:t>
            </a:fld>
            <a:endParaRPr lang="en-US"/>
          </a:p>
        </p:txBody>
      </p:sp>
      <p:sp>
        <p:nvSpPr>
          <p:cNvPr id="2" name="Content Placeholder 1">
            <a:extLst>
              <a:ext uri="{FF2B5EF4-FFF2-40B4-BE49-F238E27FC236}">
                <a16:creationId xmlns:a16="http://schemas.microsoft.com/office/drawing/2014/main" id="{58342375-98A0-45E5-A989-0933A171025C}"/>
              </a:ext>
            </a:extLst>
          </p:cNvPr>
          <p:cNvSpPr>
            <a:spLocks noGrp="1"/>
          </p:cNvSpPr>
          <p:nvPr>
            <p:ph idx="1"/>
          </p:nvPr>
        </p:nvSpPr>
        <p:spPr/>
        <p:txBody>
          <a:bodyPr/>
          <a:lstStyle/>
          <a:p>
            <a:pPr algn="just"/>
            <a:r>
              <a:rPr lang="en-US" b="0" i="0" dirty="0">
                <a:solidFill>
                  <a:srgbClr val="181717"/>
                </a:solidFill>
                <a:effectLst/>
                <a:latin typeface="Times New Roman" panose="02020603050405020304" pitchFamily="18" charset="0"/>
                <a:cs typeface="Times New Roman" panose="02020603050405020304" pitchFamily="18" charset="0"/>
              </a:rPr>
              <a:t>Entity Framework API (EF6 &amp; EF Core) includes the ability to map domain (entity) classes to the database schema, translate &amp; execute LINQ queries to SQL, track changes occurred on entities during their lifetime, and save changes to the database.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9824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3A50-3F0C-C793-4A2A-E3A27B85E7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07E8B7-968A-10EF-1397-D4904C313C9C}"/>
              </a:ext>
            </a:extLst>
          </p:cNvPr>
          <p:cNvSpPr>
            <a:spLocks noGrp="1"/>
          </p:cNvSpPr>
          <p:nvPr>
            <p:ph type="title"/>
          </p:nvPr>
        </p:nvSpPr>
        <p:spPr/>
        <p:txBody>
          <a:bodyPr>
            <a:normAutofit/>
          </a:bodyPr>
          <a:lstStyle/>
          <a:p>
            <a:r>
              <a:rPr lang="en-US" dirty="0"/>
              <a:t>4. </a:t>
            </a:r>
            <a:r>
              <a:rPr lang="en-US" b="0" dirty="0"/>
              <a:t>How Entity Framework Works?</a:t>
            </a:r>
            <a:endParaRPr lang="en-US" dirty="0"/>
          </a:p>
        </p:txBody>
      </p:sp>
      <p:sp>
        <p:nvSpPr>
          <p:cNvPr id="4" name="Date Placeholder 3">
            <a:extLst>
              <a:ext uri="{FF2B5EF4-FFF2-40B4-BE49-F238E27FC236}">
                <a16:creationId xmlns:a16="http://schemas.microsoft.com/office/drawing/2014/main" id="{5C0F2C2B-3432-8E06-0DF8-E6386891B3CF}"/>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38D8403F-2F1A-B8E8-9294-26ABF7FA7F6D}"/>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6CF13699-F1BF-1D03-7EA8-6504A23A7048}"/>
              </a:ext>
            </a:extLst>
          </p:cNvPr>
          <p:cNvSpPr>
            <a:spLocks noGrp="1"/>
          </p:cNvSpPr>
          <p:nvPr>
            <p:ph type="sldNum" sz="quarter" idx="4"/>
          </p:nvPr>
        </p:nvSpPr>
        <p:spPr/>
        <p:txBody>
          <a:bodyPr/>
          <a:lstStyle/>
          <a:p>
            <a:fld id="{F4E32468-D4D3-45A6-A508-7622D5375F4E}" type="slidenum">
              <a:rPr lang="en-US" smtClean="0"/>
              <a:pPr/>
              <a:t>9</a:t>
            </a:fld>
            <a:endParaRPr lang="en-US"/>
          </a:p>
        </p:txBody>
      </p:sp>
      <p:sp>
        <p:nvSpPr>
          <p:cNvPr id="7" name="Rectangle 1">
            <a:extLst>
              <a:ext uri="{FF2B5EF4-FFF2-40B4-BE49-F238E27FC236}">
                <a16:creationId xmlns:a16="http://schemas.microsoft.com/office/drawing/2014/main" id="{15B61E03-4E37-676D-7D6D-70E710C85ADC}"/>
              </a:ext>
            </a:extLst>
          </p:cNvPr>
          <p:cNvSpPr>
            <a:spLocks noGrp="1" noChangeArrowheads="1"/>
          </p:cNvSpPr>
          <p:nvPr>
            <p:ph idx="1"/>
          </p:nvPr>
        </p:nvSpPr>
        <p:spPr bwMode="auto">
          <a:xfrm>
            <a:off x="304800" y="1374576"/>
            <a:ext cx="8382000" cy="12772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a:r>
              <a:rPr lang="en-US" sz="2000" dirty="0"/>
              <a:t>Entity Framework API (EF6 &amp; EF Core) includes the ability to map domain (entity) classes to the database schema, translate &amp; execute LINQ queries to SQL, track changes that occurred on entities during their lifetime, and save changes to the database.</a:t>
            </a:r>
          </a:p>
        </p:txBody>
      </p:sp>
      <p:pic>
        <p:nvPicPr>
          <p:cNvPr id="2" name="Picture 1">
            <a:extLst>
              <a:ext uri="{FF2B5EF4-FFF2-40B4-BE49-F238E27FC236}">
                <a16:creationId xmlns:a16="http://schemas.microsoft.com/office/drawing/2014/main" id="{580C641E-8CF7-4ECB-9548-C44C23695362}"/>
              </a:ext>
            </a:extLst>
          </p:cNvPr>
          <p:cNvPicPr>
            <a:picLocks noChangeAspect="1"/>
          </p:cNvPicPr>
          <p:nvPr/>
        </p:nvPicPr>
        <p:blipFill>
          <a:blip r:embed="rId2"/>
          <a:stretch>
            <a:fillRect/>
          </a:stretch>
        </p:blipFill>
        <p:spPr>
          <a:xfrm>
            <a:off x="152400" y="3048000"/>
            <a:ext cx="4199978" cy="1761977"/>
          </a:xfrm>
          <a:prstGeom prst="rect">
            <a:avLst/>
          </a:prstGeom>
        </p:spPr>
      </p:pic>
      <p:pic>
        <p:nvPicPr>
          <p:cNvPr id="8" name="Picture 7">
            <a:extLst>
              <a:ext uri="{FF2B5EF4-FFF2-40B4-BE49-F238E27FC236}">
                <a16:creationId xmlns:a16="http://schemas.microsoft.com/office/drawing/2014/main" id="{7E93068F-7055-EFE6-D128-80600AE703B8}"/>
              </a:ext>
            </a:extLst>
          </p:cNvPr>
          <p:cNvPicPr>
            <a:picLocks noChangeAspect="1"/>
          </p:cNvPicPr>
          <p:nvPr/>
        </p:nvPicPr>
        <p:blipFill>
          <a:blip r:embed="rId3"/>
          <a:stretch>
            <a:fillRect/>
          </a:stretch>
        </p:blipFill>
        <p:spPr>
          <a:xfrm>
            <a:off x="4661535" y="2743200"/>
            <a:ext cx="4467225" cy="3161192"/>
          </a:xfrm>
          <a:prstGeom prst="rect">
            <a:avLst/>
          </a:prstGeom>
        </p:spPr>
      </p:pic>
    </p:spTree>
    <p:extLst>
      <p:ext uri="{BB962C8B-B14F-4D97-AF65-F5344CB8AC3E}">
        <p14:creationId xmlns:p14="http://schemas.microsoft.com/office/powerpoint/2010/main" val="521630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3. How Entity Framework Works?</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10</a:t>
            </a:fld>
            <a:endParaRPr lang="en-US"/>
          </a:p>
        </p:txBody>
      </p:sp>
      <p:pic>
        <p:nvPicPr>
          <p:cNvPr id="3074" name="Picture 2">
            <a:extLst>
              <a:ext uri="{FF2B5EF4-FFF2-40B4-BE49-F238E27FC236}">
                <a16:creationId xmlns:a16="http://schemas.microsoft.com/office/drawing/2014/main" id="{C50B13E0-E8B5-42A0-9B42-BC4531044C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8680683" cy="364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949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5CB35E-A2FE-465A-AE59-FAD53270E585}"/>
              </a:ext>
            </a:extLst>
          </p:cNvPr>
          <p:cNvSpPr>
            <a:spLocks noGrp="1"/>
          </p:cNvSpPr>
          <p:nvPr>
            <p:ph idx="1"/>
          </p:nvPr>
        </p:nvSpPr>
        <p:spPr>
          <a:xfrm>
            <a:off x="457200" y="1066800"/>
            <a:ext cx="8458200" cy="5181600"/>
          </a:xfrm>
        </p:spPr>
        <p:txBody>
          <a:bodyPr>
            <a:normAutofit/>
          </a:bodyPr>
          <a:lstStyle/>
          <a:p>
            <a:pPr algn="just">
              <a:lnSpc>
                <a:spcPct val="120000"/>
              </a:lnSpc>
              <a:buFont typeface="Wingdings" panose="05000000000000000000" pitchFamily="2" charset="2"/>
              <a:buChar char="ü"/>
              <a:defRPr/>
            </a:pPr>
            <a:r>
              <a:rPr lang="en-US" b="0" i="0" dirty="0">
                <a:solidFill>
                  <a:srgbClr val="181717"/>
                </a:solidFill>
                <a:effectLst/>
                <a:latin typeface="Times New Roman" panose="02020603050405020304" pitchFamily="18" charset="0"/>
                <a:cs typeface="Times New Roman" panose="02020603050405020304" pitchFamily="18" charset="0"/>
              </a:rPr>
              <a:t>The very first task of EF API is to build an Entity Data Model (EDM). EDM is an in-memory representation of the entire metadata: conceptual model, storage model, and mapping between them.</a:t>
            </a:r>
            <a:endParaRPr lang="en-US" sz="2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4. Entity Data Model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11</a:t>
            </a:fld>
            <a:endParaRPr lang="en-US"/>
          </a:p>
        </p:txBody>
      </p:sp>
      <p:pic>
        <p:nvPicPr>
          <p:cNvPr id="6146" name="Picture 2">
            <a:extLst>
              <a:ext uri="{FF2B5EF4-FFF2-40B4-BE49-F238E27FC236}">
                <a16:creationId xmlns:a16="http://schemas.microsoft.com/office/drawing/2014/main" id="{2D082F27-30D8-4FE5-AF95-88B1F9F84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895600"/>
            <a:ext cx="4572000" cy="3235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299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5CB35E-A2FE-465A-AE59-FAD53270E585}"/>
              </a:ext>
            </a:extLst>
          </p:cNvPr>
          <p:cNvSpPr>
            <a:spLocks noGrp="1"/>
          </p:cNvSpPr>
          <p:nvPr>
            <p:ph idx="1"/>
          </p:nvPr>
        </p:nvSpPr>
        <p:spPr>
          <a:xfrm>
            <a:off x="457200" y="1066800"/>
            <a:ext cx="8458200" cy="5181600"/>
          </a:xfrm>
        </p:spPr>
        <p:txBody>
          <a:bodyPr>
            <a:normAutofit/>
          </a:bodyPr>
          <a:lstStyle/>
          <a:p>
            <a:pPr algn="just">
              <a:lnSpc>
                <a:spcPct val="120000"/>
              </a:lnSpc>
              <a:buFont typeface="Wingdings" panose="05000000000000000000" pitchFamily="2" charset="2"/>
              <a:buChar char="ü"/>
              <a:defRPr/>
            </a:pPr>
            <a:r>
              <a:rPr lang="en-US" b="0" i="0" dirty="0">
                <a:solidFill>
                  <a:srgbClr val="181717"/>
                </a:solidFill>
                <a:effectLst/>
                <a:latin typeface="Times New Roman" panose="02020603050405020304" pitchFamily="18" charset="0"/>
                <a:cs typeface="Times New Roman" panose="02020603050405020304" pitchFamily="18" charset="0"/>
              </a:rPr>
              <a:t>EF API translates LINQ-to-Entities queries to SQL queries for relational databases using EDM and also converts results back to entity objects.</a:t>
            </a:r>
            <a:endParaRPr lang="en-US" sz="2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5. Query</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12</a:t>
            </a:fld>
            <a:endParaRPr lang="en-US"/>
          </a:p>
        </p:txBody>
      </p:sp>
      <p:pic>
        <p:nvPicPr>
          <p:cNvPr id="7170" name="Picture 2">
            <a:extLst>
              <a:ext uri="{FF2B5EF4-FFF2-40B4-BE49-F238E27FC236}">
                <a16:creationId xmlns:a16="http://schemas.microsoft.com/office/drawing/2014/main" id="{61FB55F3-4DE5-4CFC-A8DB-0700C729D1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419" y="2895600"/>
            <a:ext cx="7777162" cy="1703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746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5CB35E-A2FE-465A-AE59-FAD53270E585}"/>
              </a:ext>
            </a:extLst>
          </p:cNvPr>
          <p:cNvSpPr>
            <a:spLocks noGrp="1"/>
          </p:cNvSpPr>
          <p:nvPr>
            <p:ph idx="1"/>
          </p:nvPr>
        </p:nvSpPr>
        <p:spPr>
          <a:xfrm>
            <a:off x="457200" y="1066800"/>
            <a:ext cx="8458200" cy="5181600"/>
          </a:xfrm>
        </p:spPr>
        <p:txBody>
          <a:bodyPr>
            <a:normAutofit/>
          </a:bodyPr>
          <a:lstStyle/>
          <a:p>
            <a:pPr algn="just">
              <a:lnSpc>
                <a:spcPct val="120000"/>
              </a:lnSpc>
              <a:buFont typeface="Wingdings" panose="05000000000000000000" pitchFamily="2" charset="2"/>
              <a:buChar char="ü"/>
              <a:defRPr/>
            </a:pP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EF API infers INSERT, UPDATE, and DELETE commands based on the state of entities when the </a:t>
            </a:r>
            <a:r>
              <a:rPr kumimoji="0" lang="en-US" altLang="en-US" sz="22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SaveChanges</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method is called. The </a:t>
            </a:r>
            <a:r>
              <a:rPr kumimoji="0" lang="en-US" altLang="en-US" sz="2200" b="0" i="0" u="none" strike="noStrike" cap="none" normalizeH="0" baseline="0" dirty="0" err="1">
                <a:ln>
                  <a:noFill/>
                </a:ln>
                <a:solidFill>
                  <a:srgbClr val="181717"/>
                </a:solidFill>
                <a:effectLst/>
                <a:latin typeface="Times New Roman" panose="02020603050405020304" pitchFamily="18" charset="0"/>
                <a:cs typeface="Times New Roman" panose="02020603050405020304" pitchFamily="18" charset="0"/>
              </a:rPr>
              <a:t>ChangeTrack</a:t>
            </a: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keeps track of the states of each entity as and when an action is performed.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lgn="just">
              <a:lnSpc>
                <a:spcPct val="120000"/>
              </a:lnSpc>
              <a:buFont typeface="Wingdings" panose="05000000000000000000" pitchFamily="2" charset="2"/>
              <a:buChar char="ü"/>
              <a:defRPr/>
            </a:pPr>
            <a:endParaRPr lang="en-US" sz="2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6. Saving</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13</a:t>
            </a:fld>
            <a:endParaRPr lang="en-US"/>
          </a:p>
        </p:txBody>
      </p:sp>
      <p:sp>
        <p:nvSpPr>
          <p:cNvPr id="10" name="Rectangle 4">
            <a:extLst>
              <a:ext uri="{FF2B5EF4-FFF2-40B4-BE49-F238E27FC236}">
                <a16:creationId xmlns:a16="http://schemas.microsoft.com/office/drawing/2014/main" id="{71FE86ED-E446-4A1A-8091-1F01AC110732}"/>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8" name="Picture 6">
            <a:extLst>
              <a:ext uri="{FF2B5EF4-FFF2-40B4-BE49-F238E27FC236}">
                <a16:creationId xmlns:a16="http://schemas.microsoft.com/office/drawing/2014/main" id="{97AE7F70-4CEA-44FB-9F1F-2CBE12F8D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435" y="2971800"/>
            <a:ext cx="8390965"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334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7.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14</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lstStyle/>
          <a:p>
            <a:pPr algn="just"/>
            <a:r>
              <a:rPr lang="en-US" sz="2400" b="0" i="0" dirty="0">
                <a:solidFill>
                  <a:srgbClr val="181717"/>
                </a:solidFill>
                <a:effectLst/>
                <a:latin typeface="Times New Roman" panose="02020603050405020304" pitchFamily="18" charset="0"/>
                <a:cs typeface="Times New Roman" panose="02020603050405020304" pitchFamily="18" charset="0"/>
              </a:rPr>
              <a:t>Entity Framework is an Object/Relational Mapping (O/RM) framework. It is an enhancement to ADO.NET that gives developers an automated mechanism for accessing &amp; storing the data in the database.</a:t>
            </a:r>
            <a:endParaRPr lang="en-US" dirty="0">
              <a:latin typeface="Times New Roman" panose="02020603050405020304" pitchFamily="18" charset="0"/>
              <a:cs typeface="Times New Roman" panose="02020603050405020304" pitchFamily="18" charset="0"/>
            </a:endParaRPr>
          </a:p>
        </p:txBody>
      </p:sp>
      <p:pic>
        <p:nvPicPr>
          <p:cNvPr id="10242" name="Picture 2">
            <a:extLst>
              <a:ext uri="{FF2B5EF4-FFF2-40B4-BE49-F238E27FC236}">
                <a16:creationId xmlns:a16="http://schemas.microsoft.com/office/drawing/2014/main" id="{BEEAB182-D8D8-4F0A-B645-A5358BEA0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733019"/>
            <a:ext cx="6553200" cy="3515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368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Install Entity Framework Core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15</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r>
              <a:rPr lang="en-US" dirty="0"/>
              <a:t>Install </a:t>
            </a:r>
            <a:r>
              <a:rPr lang="en-US" dirty="0" err="1"/>
              <a:t>Microsoft.EntityFrameworkCore</a:t>
            </a:r>
            <a:endParaRPr lang="en-US" dirty="0"/>
          </a:p>
          <a:p>
            <a:r>
              <a:rPr lang="en-US" dirty="0"/>
              <a:t>The database provider package dependency packages it needs</a:t>
            </a:r>
          </a:p>
          <a:p>
            <a:endParaRPr lang="en-US" dirty="0"/>
          </a:p>
          <a:p>
            <a:endParaRPr lang="en-US" dirty="0"/>
          </a:p>
        </p:txBody>
      </p:sp>
      <p:pic>
        <p:nvPicPr>
          <p:cNvPr id="8" name="Picture 7">
            <a:extLst>
              <a:ext uri="{FF2B5EF4-FFF2-40B4-BE49-F238E27FC236}">
                <a16:creationId xmlns:a16="http://schemas.microsoft.com/office/drawing/2014/main" id="{A7BFB802-D277-B557-7763-A6EAB6962399}"/>
              </a:ext>
            </a:extLst>
          </p:cNvPr>
          <p:cNvPicPr>
            <a:picLocks noChangeAspect="1"/>
          </p:cNvPicPr>
          <p:nvPr/>
        </p:nvPicPr>
        <p:blipFill>
          <a:blip r:embed="rId2"/>
          <a:stretch>
            <a:fillRect/>
          </a:stretch>
        </p:blipFill>
        <p:spPr>
          <a:xfrm>
            <a:off x="491836" y="2514600"/>
            <a:ext cx="8507012" cy="2486372"/>
          </a:xfrm>
          <a:prstGeom prst="rect">
            <a:avLst/>
          </a:prstGeom>
        </p:spPr>
      </p:pic>
    </p:spTree>
    <p:extLst>
      <p:ext uri="{BB962C8B-B14F-4D97-AF65-F5344CB8AC3E}">
        <p14:creationId xmlns:p14="http://schemas.microsoft.com/office/powerpoint/2010/main" val="2530301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0C260-F01C-4625-A505-4D23EBAF40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CE4545-3479-91F1-2192-8531EACF376B}"/>
              </a:ext>
            </a:extLst>
          </p:cNvPr>
          <p:cNvSpPr>
            <a:spLocks noGrp="1"/>
          </p:cNvSpPr>
          <p:nvPr>
            <p:ph type="title"/>
          </p:nvPr>
        </p:nvSpPr>
        <p:spPr/>
        <p:txBody>
          <a:bodyPr>
            <a:normAutofit/>
          </a:bodyPr>
          <a:lstStyle/>
          <a:p>
            <a:r>
              <a:rPr lang="en-US" dirty="0"/>
              <a:t>8. Entity Class</a:t>
            </a:r>
          </a:p>
        </p:txBody>
      </p:sp>
      <p:sp>
        <p:nvSpPr>
          <p:cNvPr id="4" name="Date Placeholder 3">
            <a:extLst>
              <a:ext uri="{FF2B5EF4-FFF2-40B4-BE49-F238E27FC236}">
                <a16:creationId xmlns:a16="http://schemas.microsoft.com/office/drawing/2014/main" id="{90B8275A-7FA7-2241-0F85-09F2DAFFE933}"/>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9285E830-1B3D-EB2F-76D7-07B0617AB068}"/>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809FFFED-0998-E24D-3560-0E3860E73DF0}"/>
              </a:ext>
            </a:extLst>
          </p:cNvPr>
          <p:cNvSpPr>
            <a:spLocks noGrp="1"/>
          </p:cNvSpPr>
          <p:nvPr>
            <p:ph type="sldNum" sz="quarter" idx="4"/>
          </p:nvPr>
        </p:nvSpPr>
        <p:spPr/>
        <p:txBody>
          <a:bodyPr/>
          <a:lstStyle/>
          <a:p>
            <a:fld id="{F4E32468-D4D3-45A6-A508-7622D5375F4E}" type="slidenum">
              <a:rPr lang="en-US" smtClean="0"/>
              <a:pPr/>
              <a:t>16</a:t>
            </a:fld>
            <a:endParaRPr lang="en-US"/>
          </a:p>
        </p:txBody>
      </p:sp>
      <p:sp>
        <p:nvSpPr>
          <p:cNvPr id="2" name="Content Placeholder 1">
            <a:extLst>
              <a:ext uri="{FF2B5EF4-FFF2-40B4-BE49-F238E27FC236}">
                <a16:creationId xmlns:a16="http://schemas.microsoft.com/office/drawing/2014/main" id="{EAE7D77D-8AB7-551F-A285-D9D00261F293}"/>
              </a:ext>
            </a:extLst>
          </p:cNvPr>
          <p:cNvSpPr>
            <a:spLocks noGrp="1"/>
          </p:cNvSpPr>
          <p:nvPr>
            <p:ph idx="1"/>
          </p:nvPr>
        </p:nvSpPr>
        <p:spPr/>
        <p:txBody>
          <a:bodyPr>
            <a:normAutofit/>
          </a:bodyPr>
          <a:lstStyle/>
          <a:p>
            <a:pPr lvl="0" algn="just" eaLnBrk="0" fontAlgn="base" hangingPunct="0">
              <a:spcBef>
                <a:spcPct val="0"/>
              </a:spcBef>
              <a:spcAft>
                <a:spcPct val="0"/>
              </a:spcAft>
              <a:buSzTx/>
            </a:pPr>
            <a:r>
              <a:rPr lang="en-US" altLang="en-US" sz="2000" dirty="0">
                <a:solidFill>
                  <a:srgbClr val="181717"/>
                </a:solidFill>
                <a:latin typeface="Verdana" panose="020B0604030504040204" pitchFamily="34" charset="0"/>
              </a:rPr>
              <a:t>An entity in Entity Framework is a class that maps to a database table. This class must be included as a </a:t>
            </a:r>
            <a:r>
              <a:rPr lang="en-US" altLang="en-US" sz="2000" dirty="0" err="1">
                <a:solidFill>
                  <a:srgbClr val="000000"/>
                </a:solidFill>
                <a:latin typeface="SFMono-Regular"/>
              </a:rPr>
              <a:t>DbSet</a:t>
            </a:r>
            <a:r>
              <a:rPr lang="en-US" altLang="en-US" sz="2000" dirty="0">
                <a:solidFill>
                  <a:srgbClr val="000000"/>
                </a:solidFill>
                <a:latin typeface="SFMono-Regular"/>
              </a:rPr>
              <a:t>&lt;</a:t>
            </a:r>
            <a:r>
              <a:rPr lang="en-US" altLang="en-US" sz="2000" dirty="0" err="1">
                <a:solidFill>
                  <a:srgbClr val="000000"/>
                </a:solidFill>
                <a:latin typeface="SFMono-Regular"/>
              </a:rPr>
              <a:t>TEntity</a:t>
            </a:r>
            <a:r>
              <a:rPr lang="en-US" altLang="en-US" sz="2000" dirty="0">
                <a:solidFill>
                  <a:srgbClr val="000000"/>
                </a:solidFill>
                <a:latin typeface="SFMono-Regular"/>
              </a:rPr>
              <a:t>&gt;</a:t>
            </a:r>
            <a:r>
              <a:rPr lang="en-US" altLang="en-US" sz="2000" dirty="0">
                <a:solidFill>
                  <a:srgbClr val="181717"/>
                </a:solidFill>
                <a:latin typeface="Verdana" panose="020B0604030504040204" pitchFamily="34" charset="0"/>
              </a:rPr>
              <a:t> type property in the </a:t>
            </a:r>
            <a:r>
              <a:rPr lang="en-US" altLang="en-US" sz="2000" dirty="0" err="1">
                <a:solidFill>
                  <a:srgbClr val="000000"/>
                </a:solidFill>
                <a:latin typeface="SFMono-Regular"/>
              </a:rPr>
              <a:t>DbContext</a:t>
            </a:r>
            <a:r>
              <a:rPr lang="en-US" altLang="en-US" sz="2000" dirty="0">
                <a:solidFill>
                  <a:srgbClr val="181717"/>
                </a:solidFill>
                <a:latin typeface="Verdana" panose="020B0604030504040204" pitchFamily="34" charset="0"/>
              </a:rPr>
              <a:t> class. EF API maps each entity to a table and each property of an entity to a column in the database.</a:t>
            </a:r>
            <a:r>
              <a:rPr lang="en-US" altLang="en-US" sz="700" dirty="0"/>
              <a:t> </a:t>
            </a:r>
            <a:endParaRPr lang="en-US" altLang="en-US" sz="3200" dirty="0"/>
          </a:p>
        </p:txBody>
      </p:sp>
      <p:sp>
        <p:nvSpPr>
          <p:cNvPr id="7" name="Rectangle 1">
            <a:extLst>
              <a:ext uri="{FF2B5EF4-FFF2-40B4-BE49-F238E27FC236}">
                <a16:creationId xmlns:a16="http://schemas.microsoft.com/office/drawing/2014/main" id="{8C1F6A1C-E50F-566F-6DD9-2A7133FCAC1C}"/>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332F3726-B443-B2BD-E33E-8BE5D2C0833E}"/>
              </a:ext>
            </a:extLst>
          </p:cNvPr>
          <p:cNvPicPr>
            <a:picLocks noChangeAspect="1"/>
          </p:cNvPicPr>
          <p:nvPr/>
        </p:nvPicPr>
        <p:blipFill>
          <a:blip r:embed="rId2"/>
          <a:stretch>
            <a:fillRect/>
          </a:stretch>
        </p:blipFill>
        <p:spPr>
          <a:xfrm>
            <a:off x="2133600" y="2814386"/>
            <a:ext cx="5220429" cy="3705742"/>
          </a:xfrm>
          <a:prstGeom prst="rect">
            <a:avLst/>
          </a:prstGeom>
        </p:spPr>
      </p:pic>
    </p:spTree>
    <p:extLst>
      <p:ext uri="{BB962C8B-B14F-4D97-AF65-F5344CB8AC3E}">
        <p14:creationId xmlns:p14="http://schemas.microsoft.com/office/powerpoint/2010/main" val="3823768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546A-3303-4300-E225-BFA236CA9F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4C4727-8009-3388-23A3-45D1B95096B0}"/>
              </a:ext>
            </a:extLst>
          </p:cNvPr>
          <p:cNvSpPr>
            <a:spLocks noGrp="1"/>
          </p:cNvSpPr>
          <p:nvPr>
            <p:ph type="title"/>
          </p:nvPr>
        </p:nvSpPr>
        <p:spPr/>
        <p:txBody>
          <a:bodyPr>
            <a:normAutofit/>
          </a:bodyPr>
          <a:lstStyle/>
          <a:p>
            <a:r>
              <a:rPr lang="en-US" dirty="0"/>
              <a:t>9. Context Class</a:t>
            </a:r>
          </a:p>
        </p:txBody>
      </p:sp>
      <p:sp>
        <p:nvSpPr>
          <p:cNvPr id="4" name="Date Placeholder 3">
            <a:extLst>
              <a:ext uri="{FF2B5EF4-FFF2-40B4-BE49-F238E27FC236}">
                <a16:creationId xmlns:a16="http://schemas.microsoft.com/office/drawing/2014/main" id="{D4AE44B0-D670-13C7-B90A-58FF43DFD346}"/>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14445457-3CF3-4BB1-4926-32E37C1C0CD0}"/>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412AC4A0-0236-5C90-1B83-932C4A7F0CFA}"/>
              </a:ext>
            </a:extLst>
          </p:cNvPr>
          <p:cNvSpPr>
            <a:spLocks noGrp="1"/>
          </p:cNvSpPr>
          <p:nvPr>
            <p:ph type="sldNum" sz="quarter" idx="4"/>
          </p:nvPr>
        </p:nvSpPr>
        <p:spPr/>
        <p:txBody>
          <a:bodyPr/>
          <a:lstStyle/>
          <a:p>
            <a:fld id="{F4E32468-D4D3-45A6-A508-7622D5375F4E}" type="slidenum">
              <a:rPr lang="en-US" smtClean="0"/>
              <a:pPr/>
              <a:t>17</a:t>
            </a:fld>
            <a:endParaRPr lang="en-US"/>
          </a:p>
        </p:txBody>
      </p:sp>
      <p:sp>
        <p:nvSpPr>
          <p:cNvPr id="2" name="Content Placeholder 1">
            <a:extLst>
              <a:ext uri="{FF2B5EF4-FFF2-40B4-BE49-F238E27FC236}">
                <a16:creationId xmlns:a16="http://schemas.microsoft.com/office/drawing/2014/main" id="{FD6A39A3-7A71-5E49-1405-9F125FEB450F}"/>
              </a:ext>
            </a:extLst>
          </p:cNvPr>
          <p:cNvSpPr>
            <a:spLocks noGrp="1"/>
          </p:cNvSpPr>
          <p:nvPr>
            <p:ph idx="1"/>
          </p:nvPr>
        </p:nvSpPr>
        <p:spPr/>
        <p:txBody>
          <a:bodyPr>
            <a:normAutofit/>
          </a:bodyPr>
          <a:lstStyle/>
          <a:p>
            <a:pPr lvl="0" algn="just" eaLnBrk="0" fontAlgn="base" hangingPunct="0">
              <a:spcBef>
                <a:spcPct val="0"/>
              </a:spcBef>
              <a:spcAft>
                <a:spcPct val="0"/>
              </a:spcAft>
              <a:buSzTx/>
            </a:pPr>
            <a:r>
              <a:rPr lang="en-US" sz="2000" dirty="0"/>
              <a:t>The context class is a very important class while working with EF 6 or EF Core. It represents a session with the underlying database using which you can perform CRUD (Create, Read, Update, Delete) operations.</a:t>
            </a:r>
            <a:endParaRPr lang="en-US" altLang="en-US" sz="2000" dirty="0"/>
          </a:p>
        </p:txBody>
      </p:sp>
      <p:sp>
        <p:nvSpPr>
          <p:cNvPr id="7" name="Rectangle 1">
            <a:extLst>
              <a:ext uri="{FF2B5EF4-FFF2-40B4-BE49-F238E27FC236}">
                <a16:creationId xmlns:a16="http://schemas.microsoft.com/office/drawing/2014/main" id="{C89CE4F8-787C-FCB1-9CCA-425CE90CC0C0}"/>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9458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457BC-3745-FA7E-ECB0-E8A0ECD96C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4EE136-6760-0AFC-C6BC-E9C92A95E46B}"/>
              </a:ext>
            </a:extLst>
          </p:cNvPr>
          <p:cNvSpPr>
            <a:spLocks noGrp="1"/>
          </p:cNvSpPr>
          <p:nvPr>
            <p:ph type="title"/>
          </p:nvPr>
        </p:nvSpPr>
        <p:spPr/>
        <p:txBody>
          <a:bodyPr>
            <a:normAutofit/>
          </a:bodyPr>
          <a:lstStyle/>
          <a:p>
            <a:r>
              <a:rPr lang="en-US" dirty="0"/>
              <a:t>9. Context Class</a:t>
            </a:r>
          </a:p>
        </p:txBody>
      </p:sp>
      <p:sp>
        <p:nvSpPr>
          <p:cNvPr id="4" name="Date Placeholder 3">
            <a:extLst>
              <a:ext uri="{FF2B5EF4-FFF2-40B4-BE49-F238E27FC236}">
                <a16:creationId xmlns:a16="http://schemas.microsoft.com/office/drawing/2014/main" id="{C38B776C-E00B-BE29-34B5-E708AF7FF72F}"/>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DF6973F5-A7DC-9223-0BD7-4B0BB7DBFE5B}"/>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A0737142-F7CB-B841-D331-145A4902277E}"/>
              </a:ext>
            </a:extLst>
          </p:cNvPr>
          <p:cNvSpPr>
            <a:spLocks noGrp="1"/>
          </p:cNvSpPr>
          <p:nvPr>
            <p:ph type="sldNum" sz="quarter" idx="4"/>
          </p:nvPr>
        </p:nvSpPr>
        <p:spPr/>
        <p:txBody>
          <a:bodyPr/>
          <a:lstStyle/>
          <a:p>
            <a:fld id="{F4E32468-D4D3-45A6-A508-7622D5375F4E}" type="slidenum">
              <a:rPr lang="en-US" smtClean="0"/>
              <a:pPr/>
              <a:t>18</a:t>
            </a:fld>
            <a:endParaRPr lang="en-US"/>
          </a:p>
        </p:txBody>
      </p:sp>
      <p:sp>
        <p:nvSpPr>
          <p:cNvPr id="2" name="Content Placeholder 1">
            <a:extLst>
              <a:ext uri="{FF2B5EF4-FFF2-40B4-BE49-F238E27FC236}">
                <a16:creationId xmlns:a16="http://schemas.microsoft.com/office/drawing/2014/main" id="{FAA6AF54-D540-6927-4F11-6B92F2B86F55}"/>
              </a:ext>
            </a:extLst>
          </p:cNvPr>
          <p:cNvSpPr>
            <a:spLocks noGrp="1"/>
          </p:cNvSpPr>
          <p:nvPr>
            <p:ph idx="1"/>
          </p:nvPr>
        </p:nvSpPr>
        <p:spPr/>
        <p:txBody>
          <a:bodyPr>
            <a:normAutofit/>
          </a:bodyPr>
          <a:lstStyle/>
          <a:p>
            <a:pPr lvl="0" algn="just" eaLnBrk="0" fontAlgn="base" hangingPunct="0">
              <a:spcBef>
                <a:spcPct val="0"/>
              </a:spcBef>
              <a:spcAft>
                <a:spcPct val="0"/>
              </a:spcAft>
              <a:buSzTx/>
            </a:pPr>
            <a:r>
              <a:rPr lang="en-US" sz="2000" dirty="0"/>
              <a:t>The context class is a very important class while working with EF 6 or EF Core. It represents a session with the underlying database using which you can perform CRUD (Create, Read, Update, Delete) operations.</a:t>
            </a:r>
            <a:endParaRPr lang="en-US" altLang="en-US" sz="2000" dirty="0"/>
          </a:p>
        </p:txBody>
      </p:sp>
      <p:sp>
        <p:nvSpPr>
          <p:cNvPr id="7" name="Rectangle 1">
            <a:extLst>
              <a:ext uri="{FF2B5EF4-FFF2-40B4-BE49-F238E27FC236}">
                <a16:creationId xmlns:a16="http://schemas.microsoft.com/office/drawing/2014/main" id="{30BADCF1-0A8A-6EF7-5DB4-FEA8AE2293DB}"/>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0F0CC2D8-101E-E45C-C50F-51BAF8A28E80}"/>
              </a:ext>
            </a:extLst>
          </p:cNvPr>
          <p:cNvPicPr>
            <a:picLocks noChangeAspect="1"/>
          </p:cNvPicPr>
          <p:nvPr/>
        </p:nvPicPr>
        <p:blipFill>
          <a:blip r:embed="rId2"/>
          <a:stretch>
            <a:fillRect/>
          </a:stretch>
        </p:blipFill>
        <p:spPr>
          <a:xfrm>
            <a:off x="685800" y="908626"/>
            <a:ext cx="8237243" cy="5308793"/>
          </a:xfrm>
          <a:prstGeom prst="rect">
            <a:avLst/>
          </a:prstGeom>
        </p:spPr>
      </p:pic>
    </p:spTree>
    <p:extLst>
      <p:ext uri="{BB962C8B-B14F-4D97-AF65-F5344CB8AC3E}">
        <p14:creationId xmlns:p14="http://schemas.microsoft.com/office/powerpoint/2010/main" val="2828489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6466-D808-6B01-3D5A-8BF32A25C9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68BCA3-702C-DF5E-790B-CE7DBF6CF103}"/>
              </a:ext>
            </a:extLst>
          </p:cNvPr>
          <p:cNvSpPr>
            <a:spLocks noGrp="1"/>
          </p:cNvSpPr>
          <p:nvPr>
            <p:ph type="title"/>
          </p:nvPr>
        </p:nvSpPr>
        <p:spPr/>
        <p:txBody>
          <a:bodyPr>
            <a:normAutofit/>
          </a:bodyPr>
          <a:lstStyle/>
          <a:p>
            <a:r>
              <a:rPr lang="en-US" dirty="0"/>
              <a:t>10. Code First Approach</a:t>
            </a:r>
          </a:p>
        </p:txBody>
      </p:sp>
      <p:sp>
        <p:nvSpPr>
          <p:cNvPr id="4" name="Date Placeholder 3">
            <a:extLst>
              <a:ext uri="{FF2B5EF4-FFF2-40B4-BE49-F238E27FC236}">
                <a16:creationId xmlns:a16="http://schemas.microsoft.com/office/drawing/2014/main" id="{64D953CE-6707-07B5-D30A-09EAB5A2EA7A}"/>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9C0357B1-76A0-162A-2E2A-286F04A10A21}"/>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4D82FBBF-BF8C-5CDB-11D9-C2CCDE80B471}"/>
              </a:ext>
            </a:extLst>
          </p:cNvPr>
          <p:cNvSpPr>
            <a:spLocks noGrp="1"/>
          </p:cNvSpPr>
          <p:nvPr>
            <p:ph type="sldNum" sz="quarter" idx="4"/>
          </p:nvPr>
        </p:nvSpPr>
        <p:spPr/>
        <p:txBody>
          <a:bodyPr/>
          <a:lstStyle/>
          <a:p>
            <a:fld id="{F4E32468-D4D3-45A6-A508-7622D5375F4E}" type="slidenum">
              <a:rPr lang="en-US" smtClean="0"/>
              <a:pPr/>
              <a:t>19</a:t>
            </a:fld>
            <a:endParaRPr lang="en-US"/>
          </a:p>
        </p:txBody>
      </p:sp>
      <p:sp>
        <p:nvSpPr>
          <p:cNvPr id="2" name="Content Placeholder 1">
            <a:extLst>
              <a:ext uri="{FF2B5EF4-FFF2-40B4-BE49-F238E27FC236}">
                <a16:creationId xmlns:a16="http://schemas.microsoft.com/office/drawing/2014/main" id="{FF378D3C-4A85-0519-0FB3-938FEAF89305}"/>
              </a:ext>
            </a:extLst>
          </p:cNvPr>
          <p:cNvSpPr>
            <a:spLocks noGrp="1"/>
          </p:cNvSpPr>
          <p:nvPr>
            <p:ph idx="1"/>
          </p:nvPr>
        </p:nvSpPr>
        <p:spPr/>
        <p:txBody>
          <a:bodyPr>
            <a:normAutofit/>
          </a:bodyPr>
          <a:lstStyle/>
          <a:p>
            <a:pPr marL="457200" indent="-457200">
              <a:buAutoNum type="arabicPeriod"/>
            </a:pPr>
            <a:r>
              <a:rPr lang="en-US" dirty="0"/>
              <a:t>Create entity Classes</a:t>
            </a:r>
          </a:p>
          <a:p>
            <a:pPr marL="457200" indent="-457200">
              <a:buAutoNum type="arabicPeriod"/>
            </a:pPr>
            <a:r>
              <a:rPr lang="en-US" dirty="0"/>
              <a:t>Create Context Class</a:t>
            </a:r>
          </a:p>
          <a:p>
            <a:pPr marL="457200" indent="-457200">
              <a:buFont typeface="Wingdings" panose="05000000000000000000" pitchFamily="2" charset="2"/>
              <a:buAutoNum type="arabicPeriod"/>
            </a:pPr>
            <a:r>
              <a:rPr lang="en-US" dirty="0"/>
              <a:t>Database Schema Creation in EF Core</a:t>
            </a:r>
          </a:p>
          <a:p>
            <a:pPr marL="0" indent="0">
              <a:buNone/>
            </a:pPr>
            <a:endParaRPr lang="en-US" dirty="0"/>
          </a:p>
          <a:p>
            <a:endParaRPr lang="en-US" dirty="0"/>
          </a:p>
        </p:txBody>
      </p:sp>
    </p:spTree>
    <p:extLst>
      <p:ext uri="{BB962C8B-B14F-4D97-AF65-F5344CB8AC3E}">
        <p14:creationId xmlns:p14="http://schemas.microsoft.com/office/powerpoint/2010/main" val="3498571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10.1. Create entity Classes</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20</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 For each entity in the data model, we create a code entity class corresponding.</a:t>
            </a:r>
          </a:p>
          <a:p>
            <a:pPr algn="just"/>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66D1D17-3F81-ABFF-F233-56B094B2248A}"/>
              </a:ext>
            </a:extLst>
          </p:cNvPr>
          <p:cNvPicPr>
            <a:picLocks noChangeAspect="1"/>
          </p:cNvPicPr>
          <p:nvPr/>
        </p:nvPicPr>
        <p:blipFill>
          <a:blip r:embed="rId2"/>
          <a:stretch>
            <a:fillRect/>
          </a:stretch>
        </p:blipFill>
        <p:spPr>
          <a:xfrm>
            <a:off x="762000" y="1981200"/>
            <a:ext cx="6553200" cy="4092705"/>
          </a:xfrm>
          <a:prstGeom prst="rect">
            <a:avLst/>
          </a:prstGeom>
        </p:spPr>
      </p:pic>
    </p:spTree>
    <p:extLst>
      <p:ext uri="{BB962C8B-B14F-4D97-AF65-F5344CB8AC3E}">
        <p14:creationId xmlns:p14="http://schemas.microsoft.com/office/powerpoint/2010/main" val="1208066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3EF3-A764-3C0D-6F5E-F424930AEA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0FF36D-AADD-DD4B-62FD-7C0FE5943CB6}"/>
              </a:ext>
            </a:extLst>
          </p:cNvPr>
          <p:cNvSpPr>
            <a:spLocks noGrp="1"/>
          </p:cNvSpPr>
          <p:nvPr>
            <p:ph type="title"/>
          </p:nvPr>
        </p:nvSpPr>
        <p:spPr/>
        <p:txBody>
          <a:bodyPr>
            <a:normAutofit/>
          </a:bodyPr>
          <a:lstStyle/>
          <a:p>
            <a:r>
              <a:rPr lang="en-US" dirty="0"/>
              <a:t>10.2. Create context class</a:t>
            </a:r>
          </a:p>
        </p:txBody>
      </p:sp>
      <p:sp>
        <p:nvSpPr>
          <p:cNvPr id="4" name="Date Placeholder 3">
            <a:extLst>
              <a:ext uri="{FF2B5EF4-FFF2-40B4-BE49-F238E27FC236}">
                <a16:creationId xmlns:a16="http://schemas.microsoft.com/office/drawing/2014/main" id="{78415A1C-1F1D-AF79-18E2-30ABA08DA347}"/>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1963B41A-F4CF-515A-481D-5A5744DA7A63}"/>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690918A2-333C-7CB4-898F-6BA7AF15E543}"/>
              </a:ext>
            </a:extLst>
          </p:cNvPr>
          <p:cNvSpPr>
            <a:spLocks noGrp="1"/>
          </p:cNvSpPr>
          <p:nvPr>
            <p:ph type="sldNum" sz="quarter" idx="4"/>
          </p:nvPr>
        </p:nvSpPr>
        <p:spPr/>
        <p:txBody>
          <a:bodyPr/>
          <a:lstStyle/>
          <a:p>
            <a:fld id="{F4E32468-D4D3-45A6-A508-7622D5375F4E}" type="slidenum">
              <a:rPr lang="en-US" smtClean="0"/>
              <a:pPr/>
              <a:t>21</a:t>
            </a:fld>
            <a:endParaRPr lang="en-US"/>
          </a:p>
        </p:txBody>
      </p:sp>
      <p:sp>
        <p:nvSpPr>
          <p:cNvPr id="2" name="Content Placeholder 1">
            <a:extLst>
              <a:ext uri="{FF2B5EF4-FFF2-40B4-BE49-F238E27FC236}">
                <a16:creationId xmlns:a16="http://schemas.microsoft.com/office/drawing/2014/main" id="{8BFA9014-5AFB-F49E-E74E-6C09EC6C2C00}"/>
              </a:ext>
            </a:extLst>
          </p:cNvPr>
          <p:cNvSpPr>
            <a:spLocks noGrp="1"/>
          </p:cNvSpPr>
          <p:nvPr>
            <p:ph idx="1"/>
          </p:nvPr>
        </p:nvSpPr>
        <p:spPr/>
        <p:txBody>
          <a:bodyPr>
            <a:normAutofit lnSpcReduction="10000"/>
          </a:bodyPr>
          <a:lstStyle/>
          <a:p>
            <a:pPr lvl="0" algn="just" eaLnBrk="0" fontAlgn="base" hangingPunct="0">
              <a:lnSpc>
                <a:spcPct val="120000"/>
              </a:lnSpc>
              <a:spcAft>
                <a:spcPct val="0"/>
              </a:spcAft>
              <a:buSzTx/>
            </a:pPr>
            <a:r>
              <a:rPr lang="en-US" sz="2000" dirty="0">
                <a:latin typeface="Times New Roman" panose="02020603050405020304" pitchFamily="18" charset="0"/>
                <a:cs typeface="Times New Roman" panose="02020603050405020304" pitchFamily="18" charset="0"/>
              </a:rPr>
              <a:t> </a:t>
            </a:r>
            <a:r>
              <a:rPr lang="en-US" altLang="en-US" sz="2000" dirty="0">
                <a:solidFill>
                  <a:srgbClr val="181717"/>
                </a:solidFill>
                <a:latin typeface="Verdana" panose="020B0604030504040204" pitchFamily="34" charset="0"/>
              </a:rPr>
              <a:t>The </a:t>
            </a:r>
            <a:r>
              <a:rPr lang="en-US" altLang="en-US" sz="2000" dirty="0" err="1">
                <a:solidFill>
                  <a:srgbClr val="407FB0"/>
                </a:solidFill>
                <a:latin typeface="Verdana" panose="020B0604030504040204" pitchFamily="34" charset="0"/>
                <a:hlinkClick r:id="rId2"/>
              </a:rPr>
              <a:t>DbContext</a:t>
            </a:r>
            <a:r>
              <a:rPr lang="en-US" altLang="en-US" sz="2000" dirty="0">
                <a:solidFill>
                  <a:srgbClr val="181717"/>
                </a:solidFill>
                <a:latin typeface="Verdana" panose="020B0604030504040204" pitchFamily="34" charset="0"/>
              </a:rPr>
              <a:t> class is an integral part of the Entity Framework. An instance of </a:t>
            </a:r>
            <a:r>
              <a:rPr lang="en-US" altLang="en-US" sz="2000" dirty="0" err="1">
                <a:solidFill>
                  <a:srgbClr val="000000"/>
                </a:solidFill>
                <a:latin typeface="SFMono-Regular"/>
              </a:rPr>
              <a:t>DbContext</a:t>
            </a:r>
            <a:r>
              <a:rPr lang="en-US" altLang="en-US" sz="2000" dirty="0">
                <a:solidFill>
                  <a:srgbClr val="181717"/>
                </a:solidFill>
                <a:latin typeface="Verdana" panose="020B0604030504040204" pitchFamily="34" charset="0"/>
              </a:rPr>
              <a:t> represents a session with the database which can be used to query and save instances of your entities to a database. </a:t>
            </a:r>
            <a:r>
              <a:rPr lang="en-US" altLang="en-US" sz="2000" dirty="0" err="1">
                <a:solidFill>
                  <a:srgbClr val="000000"/>
                </a:solidFill>
                <a:latin typeface="SFMono-Regular"/>
              </a:rPr>
              <a:t>DbContext</a:t>
            </a:r>
            <a:r>
              <a:rPr lang="en-US" altLang="en-US" sz="2000" dirty="0">
                <a:solidFill>
                  <a:srgbClr val="181717"/>
                </a:solidFill>
                <a:latin typeface="Verdana" panose="020B0604030504040204" pitchFamily="34" charset="0"/>
              </a:rPr>
              <a:t> is a combination of the Unit Of Work and Repository patterns.</a:t>
            </a:r>
          </a:p>
          <a:p>
            <a:pPr lvl="0" algn="just" eaLnBrk="0" fontAlgn="base" hangingPunct="0">
              <a:lnSpc>
                <a:spcPct val="120000"/>
              </a:lnSpc>
              <a:spcAft>
                <a:spcPct val="0"/>
              </a:spcAft>
              <a:buSzTx/>
            </a:pPr>
            <a:r>
              <a:rPr lang="en-US" altLang="en-US" sz="2000" dirty="0" err="1">
                <a:solidFill>
                  <a:srgbClr val="000000"/>
                </a:solidFill>
                <a:latin typeface="SFMono-Regular"/>
              </a:rPr>
              <a:t>DBContext</a:t>
            </a:r>
            <a:r>
              <a:rPr lang="en-US" altLang="en-US" sz="2000" dirty="0">
                <a:solidFill>
                  <a:srgbClr val="181717"/>
                </a:solidFill>
                <a:latin typeface="Verdana" panose="020B0604030504040204" pitchFamily="34" charset="0"/>
              </a:rPr>
              <a:t> in EF Core allows us to perform the following tasks:</a:t>
            </a:r>
          </a:p>
          <a:p>
            <a:pPr lvl="1">
              <a:lnSpc>
                <a:spcPct val="120000"/>
              </a:lnSpc>
              <a:spcAft>
                <a:spcPts val="0"/>
              </a:spcAft>
            </a:pPr>
            <a:r>
              <a:rPr lang="en-US" dirty="0"/>
              <a:t>Manage database connection</a:t>
            </a:r>
          </a:p>
          <a:p>
            <a:pPr lvl="1">
              <a:lnSpc>
                <a:spcPct val="120000"/>
              </a:lnSpc>
              <a:spcAft>
                <a:spcPts val="0"/>
              </a:spcAft>
            </a:pPr>
            <a:r>
              <a:rPr lang="en-US" dirty="0"/>
              <a:t>Configure model and relationships</a:t>
            </a:r>
          </a:p>
          <a:p>
            <a:pPr lvl="1">
              <a:lnSpc>
                <a:spcPct val="120000"/>
              </a:lnSpc>
              <a:spcAft>
                <a:spcPts val="0"/>
              </a:spcAft>
            </a:pPr>
            <a:r>
              <a:rPr lang="en-US" dirty="0"/>
              <a:t>Querying database</a:t>
            </a:r>
          </a:p>
          <a:p>
            <a:pPr lvl="1">
              <a:lnSpc>
                <a:spcPct val="120000"/>
              </a:lnSpc>
              <a:spcAft>
                <a:spcPts val="0"/>
              </a:spcAft>
            </a:pPr>
            <a:r>
              <a:rPr lang="en-US" dirty="0"/>
              <a:t>Saving data to the database</a:t>
            </a:r>
          </a:p>
          <a:p>
            <a:pPr lvl="1">
              <a:lnSpc>
                <a:spcPct val="120000"/>
              </a:lnSpc>
              <a:spcAft>
                <a:spcPts val="0"/>
              </a:spcAft>
            </a:pPr>
            <a:r>
              <a:rPr lang="en-US" dirty="0"/>
              <a:t>Configure change tracking</a:t>
            </a:r>
          </a:p>
          <a:p>
            <a:pPr lvl="1">
              <a:lnSpc>
                <a:spcPct val="120000"/>
              </a:lnSpc>
              <a:spcAft>
                <a:spcPts val="0"/>
              </a:spcAft>
            </a:pPr>
            <a:r>
              <a:rPr lang="en-US" dirty="0"/>
              <a:t>Caching</a:t>
            </a:r>
          </a:p>
          <a:p>
            <a:pPr lvl="1">
              <a:lnSpc>
                <a:spcPct val="120000"/>
              </a:lnSpc>
              <a:spcAft>
                <a:spcPts val="0"/>
              </a:spcAft>
            </a:pPr>
            <a:r>
              <a:rPr lang="en-US" dirty="0"/>
              <a:t>Transaction management</a:t>
            </a:r>
          </a:p>
          <a:p>
            <a:pPr lvl="0" algn="just" eaLnBrk="0" fontAlgn="base" hangingPunct="0">
              <a:lnSpc>
                <a:spcPct val="120000"/>
              </a:lnSpc>
              <a:spcAft>
                <a:spcPct val="0"/>
              </a:spcAft>
              <a:buSzTx/>
            </a:pPr>
            <a:endParaRPr lang="en-US" altLang="en-US" sz="2000" dirty="0"/>
          </a:p>
          <a:p>
            <a:pPr algn="just"/>
            <a:endParaRPr lang="en-US"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72630A77-4444-B161-2518-C811E20E3CA2}"/>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3202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87768-2C8D-3D77-708D-90F3AA2A3A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29BC21-F452-EAD7-AADB-B961EF5BD614}"/>
              </a:ext>
            </a:extLst>
          </p:cNvPr>
          <p:cNvSpPr>
            <a:spLocks noGrp="1"/>
          </p:cNvSpPr>
          <p:nvPr>
            <p:ph type="title"/>
          </p:nvPr>
        </p:nvSpPr>
        <p:spPr/>
        <p:txBody>
          <a:bodyPr>
            <a:normAutofit/>
          </a:bodyPr>
          <a:lstStyle/>
          <a:p>
            <a:r>
              <a:rPr lang="en-US" dirty="0"/>
              <a:t>10.2. Create context class</a:t>
            </a:r>
          </a:p>
        </p:txBody>
      </p:sp>
      <p:sp>
        <p:nvSpPr>
          <p:cNvPr id="4" name="Date Placeholder 3">
            <a:extLst>
              <a:ext uri="{FF2B5EF4-FFF2-40B4-BE49-F238E27FC236}">
                <a16:creationId xmlns:a16="http://schemas.microsoft.com/office/drawing/2014/main" id="{6A121199-E5C4-6654-632C-BF20735FE8F0}"/>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F509CF13-4D3B-4074-D031-4379A267F237}"/>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95DDEADC-94D5-B83A-2842-D62A89AE0F77}"/>
              </a:ext>
            </a:extLst>
          </p:cNvPr>
          <p:cNvSpPr>
            <a:spLocks noGrp="1"/>
          </p:cNvSpPr>
          <p:nvPr>
            <p:ph type="sldNum" sz="quarter" idx="4"/>
          </p:nvPr>
        </p:nvSpPr>
        <p:spPr/>
        <p:txBody>
          <a:bodyPr/>
          <a:lstStyle/>
          <a:p>
            <a:fld id="{F4E32468-D4D3-45A6-A508-7622D5375F4E}" type="slidenum">
              <a:rPr lang="en-US" smtClean="0"/>
              <a:pPr/>
              <a:t>22</a:t>
            </a:fld>
            <a:endParaRPr lang="en-US"/>
          </a:p>
        </p:txBody>
      </p:sp>
      <p:sp>
        <p:nvSpPr>
          <p:cNvPr id="2" name="Content Placeholder 1">
            <a:extLst>
              <a:ext uri="{FF2B5EF4-FFF2-40B4-BE49-F238E27FC236}">
                <a16:creationId xmlns:a16="http://schemas.microsoft.com/office/drawing/2014/main" id="{FEC875C8-D17C-7400-0F11-DDECF1B5EE8C}"/>
              </a:ext>
            </a:extLst>
          </p:cNvPr>
          <p:cNvSpPr>
            <a:spLocks noGrp="1"/>
          </p:cNvSpPr>
          <p:nvPr>
            <p:ph idx="1"/>
          </p:nvPr>
        </p:nvSpPr>
        <p:spPr>
          <a:xfrm>
            <a:off x="457200" y="1066800"/>
            <a:ext cx="8534400" cy="4343400"/>
          </a:xfrm>
        </p:spPr>
        <p:txBody>
          <a:bodyPr>
            <a:normAutofit/>
          </a:bodyPr>
          <a:lstStyle/>
          <a:p>
            <a:pPr algn="just" eaLnBrk="0" fontAlgn="base" hangingPunct="0">
              <a:lnSpc>
                <a:spcPct val="120000"/>
              </a:lnSpc>
              <a:spcAft>
                <a:spcPct val="0"/>
              </a:spcAft>
              <a:buSzTx/>
            </a:pPr>
            <a:r>
              <a:rPr lang="en-US" altLang="en-US" sz="1800" dirty="0">
                <a:solidFill>
                  <a:srgbClr val="181717"/>
                </a:solidFill>
                <a:latin typeface="Verdana" panose="020B0604030504040204" pitchFamily="34" charset="0"/>
              </a:rPr>
              <a:t>The above context class includes two </a:t>
            </a:r>
            <a:r>
              <a:rPr lang="en-US" altLang="en-US" sz="1800" dirty="0" err="1">
                <a:solidFill>
                  <a:srgbClr val="000000"/>
                </a:solidFill>
                <a:latin typeface="SFMono-Regular"/>
              </a:rPr>
              <a:t>DbSet</a:t>
            </a:r>
            <a:r>
              <a:rPr lang="en-US" altLang="en-US" sz="1800" dirty="0">
                <a:solidFill>
                  <a:srgbClr val="000000"/>
                </a:solidFill>
                <a:latin typeface="SFMono-Regular"/>
              </a:rPr>
              <a:t>&lt;</a:t>
            </a:r>
            <a:r>
              <a:rPr lang="en-US" altLang="en-US" sz="1800" dirty="0" err="1">
                <a:solidFill>
                  <a:srgbClr val="000000"/>
                </a:solidFill>
                <a:latin typeface="SFMono-Regular"/>
              </a:rPr>
              <a:t>TEntity</a:t>
            </a:r>
            <a:r>
              <a:rPr lang="en-US" altLang="en-US" sz="1800" dirty="0">
                <a:solidFill>
                  <a:srgbClr val="000000"/>
                </a:solidFill>
                <a:latin typeface="SFMono-Regular"/>
              </a:rPr>
              <a:t>&gt;</a:t>
            </a:r>
            <a:r>
              <a:rPr lang="en-US" altLang="en-US" sz="1800" dirty="0">
                <a:solidFill>
                  <a:srgbClr val="181717"/>
                </a:solidFill>
                <a:latin typeface="Verdana" panose="020B0604030504040204" pitchFamily="34" charset="0"/>
              </a:rPr>
              <a:t> properties, for </a:t>
            </a:r>
            <a:r>
              <a:rPr lang="en-US" altLang="en-US" sz="1800" dirty="0">
                <a:solidFill>
                  <a:srgbClr val="000000"/>
                </a:solidFill>
                <a:latin typeface="SFMono-Regular"/>
              </a:rPr>
              <a:t>Student</a:t>
            </a:r>
            <a:r>
              <a:rPr lang="en-US" altLang="en-US" sz="1800" dirty="0">
                <a:solidFill>
                  <a:srgbClr val="181717"/>
                </a:solidFill>
                <a:latin typeface="Verdana" panose="020B0604030504040204" pitchFamily="34" charset="0"/>
              </a:rPr>
              <a:t> and </a:t>
            </a:r>
            <a:r>
              <a:rPr lang="en-US" altLang="en-US" sz="1800" dirty="0">
                <a:solidFill>
                  <a:srgbClr val="000000"/>
                </a:solidFill>
                <a:latin typeface="SFMono-Regular"/>
              </a:rPr>
              <a:t>Grade</a:t>
            </a:r>
            <a:r>
              <a:rPr lang="en-US" altLang="en-US" sz="1800" dirty="0">
                <a:solidFill>
                  <a:srgbClr val="181717"/>
                </a:solidFill>
                <a:latin typeface="Verdana" panose="020B0604030504040204" pitchFamily="34" charset="0"/>
              </a:rPr>
              <a:t>, types which will be mapped to the </a:t>
            </a:r>
            <a:r>
              <a:rPr lang="en-US" altLang="en-US" sz="1800" dirty="0">
                <a:solidFill>
                  <a:srgbClr val="000000"/>
                </a:solidFill>
                <a:latin typeface="SFMono-Regular"/>
              </a:rPr>
              <a:t>Students</a:t>
            </a:r>
            <a:r>
              <a:rPr lang="en-US" altLang="en-US" sz="1800" dirty="0">
                <a:solidFill>
                  <a:srgbClr val="181717"/>
                </a:solidFill>
                <a:latin typeface="Verdana" panose="020B0604030504040204" pitchFamily="34" charset="0"/>
              </a:rPr>
              <a:t> and </a:t>
            </a:r>
            <a:r>
              <a:rPr lang="en-US" altLang="en-US" sz="1800" dirty="0">
                <a:solidFill>
                  <a:srgbClr val="000000"/>
                </a:solidFill>
                <a:latin typeface="SFMono-Regular"/>
              </a:rPr>
              <a:t>Grades</a:t>
            </a:r>
            <a:r>
              <a:rPr lang="en-US" altLang="en-US" sz="1800" dirty="0">
                <a:solidFill>
                  <a:srgbClr val="181717"/>
                </a:solidFill>
                <a:latin typeface="Verdana" panose="020B0604030504040204" pitchFamily="34" charset="0"/>
              </a:rPr>
              <a:t> tables in the underlying database. In the </a:t>
            </a:r>
            <a:r>
              <a:rPr lang="en-US" altLang="en-US" sz="1800" dirty="0" err="1">
                <a:solidFill>
                  <a:srgbClr val="000000"/>
                </a:solidFill>
                <a:latin typeface="SFMono-Regular"/>
              </a:rPr>
              <a:t>OnConfiguring</a:t>
            </a:r>
            <a:r>
              <a:rPr lang="en-US" altLang="en-US" sz="1800" dirty="0">
                <a:solidFill>
                  <a:srgbClr val="000000"/>
                </a:solidFill>
                <a:latin typeface="SFMono-Regular"/>
              </a:rPr>
              <a:t>()</a:t>
            </a:r>
            <a:r>
              <a:rPr lang="en-US" altLang="en-US" sz="1800" dirty="0">
                <a:solidFill>
                  <a:srgbClr val="181717"/>
                </a:solidFill>
                <a:latin typeface="Verdana" panose="020B0604030504040204" pitchFamily="34" charset="0"/>
              </a:rPr>
              <a:t> method, an instance of </a:t>
            </a:r>
            <a:r>
              <a:rPr lang="en-US" altLang="en-US" sz="1800" dirty="0" err="1">
                <a:solidFill>
                  <a:srgbClr val="000000"/>
                </a:solidFill>
                <a:latin typeface="SFMono-Regular"/>
              </a:rPr>
              <a:t>DbContextOptionsBuilder</a:t>
            </a:r>
            <a:r>
              <a:rPr lang="en-US" altLang="en-US" sz="1800" dirty="0">
                <a:solidFill>
                  <a:srgbClr val="181717"/>
                </a:solidFill>
                <a:latin typeface="Verdana" panose="020B0604030504040204" pitchFamily="34" charset="0"/>
              </a:rPr>
              <a:t> is used to specify a database connection string.</a:t>
            </a:r>
            <a:r>
              <a:rPr lang="en-US" altLang="en-US" sz="1800" dirty="0"/>
              <a:t> </a:t>
            </a:r>
          </a:p>
          <a:p>
            <a:pPr lvl="0" algn="just" eaLnBrk="0" fontAlgn="base" hangingPunct="0">
              <a:lnSpc>
                <a:spcPct val="120000"/>
              </a:lnSpc>
              <a:spcAft>
                <a:spcPct val="0"/>
              </a:spcAft>
              <a:buSzTx/>
            </a:pPr>
            <a:endParaRPr lang="en-US" altLang="en-US" sz="2000" dirty="0"/>
          </a:p>
          <a:p>
            <a:pPr algn="just"/>
            <a:endParaRPr lang="en-US" sz="2000"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937307B9-ACC2-65E1-3A36-B8047276985D}"/>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6" name="Picture 2" descr="ef project 1">
            <a:extLst>
              <a:ext uri="{FF2B5EF4-FFF2-40B4-BE49-F238E27FC236}">
                <a16:creationId xmlns:a16="http://schemas.microsoft.com/office/drawing/2014/main" id="{3D6ED0E5-0686-597A-AA97-C91F0634BA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4880" y="2815232"/>
            <a:ext cx="6225120" cy="388745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a:extLst>
              <a:ext uri="{FF2B5EF4-FFF2-40B4-BE49-F238E27FC236}">
                <a16:creationId xmlns:a16="http://schemas.microsoft.com/office/drawing/2014/main" id="{E00A6ADE-B16C-DE14-DE95-902193E6FBE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894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03FC-AC23-42A0-6D51-42BA6425FD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C6A4FF-23A3-E064-E18B-D568E85898A2}"/>
              </a:ext>
            </a:extLst>
          </p:cNvPr>
          <p:cNvSpPr>
            <a:spLocks noGrp="1"/>
          </p:cNvSpPr>
          <p:nvPr>
            <p:ph type="title"/>
          </p:nvPr>
        </p:nvSpPr>
        <p:spPr/>
        <p:txBody>
          <a:bodyPr>
            <a:normAutofit/>
          </a:bodyPr>
          <a:lstStyle/>
          <a:p>
            <a:r>
              <a:rPr lang="en-US" dirty="0"/>
              <a:t>10.3. </a:t>
            </a:r>
            <a:r>
              <a:rPr lang="en-US" b="0" dirty="0"/>
              <a:t>Database Schema Creation in EF Core</a:t>
            </a:r>
            <a:endParaRPr lang="en-US" dirty="0"/>
          </a:p>
        </p:txBody>
      </p:sp>
      <p:sp>
        <p:nvSpPr>
          <p:cNvPr id="4" name="Date Placeholder 3">
            <a:extLst>
              <a:ext uri="{FF2B5EF4-FFF2-40B4-BE49-F238E27FC236}">
                <a16:creationId xmlns:a16="http://schemas.microsoft.com/office/drawing/2014/main" id="{9F35E4F6-60B9-C4EE-FB9F-F6D59B5CAEFC}"/>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8C300FA3-7538-72FC-025D-4D9D91EEAC04}"/>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80975C0E-6709-4479-0558-E1AB05155412}"/>
              </a:ext>
            </a:extLst>
          </p:cNvPr>
          <p:cNvSpPr>
            <a:spLocks noGrp="1"/>
          </p:cNvSpPr>
          <p:nvPr>
            <p:ph type="sldNum" sz="quarter" idx="4"/>
          </p:nvPr>
        </p:nvSpPr>
        <p:spPr/>
        <p:txBody>
          <a:bodyPr/>
          <a:lstStyle/>
          <a:p>
            <a:fld id="{F4E32468-D4D3-45A6-A508-7622D5375F4E}" type="slidenum">
              <a:rPr lang="en-US" smtClean="0"/>
              <a:pPr/>
              <a:t>23</a:t>
            </a:fld>
            <a:endParaRPr lang="en-US"/>
          </a:p>
        </p:txBody>
      </p:sp>
      <p:sp>
        <p:nvSpPr>
          <p:cNvPr id="2" name="Content Placeholder 1">
            <a:extLst>
              <a:ext uri="{FF2B5EF4-FFF2-40B4-BE49-F238E27FC236}">
                <a16:creationId xmlns:a16="http://schemas.microsoft.com/office/drawing/2014/main" id="{1705EB9D-C493-6942-9F8F-65E9D9454DC2}"/>
              </a:ext>
            </a:extLst>
          </p:cNvPr>
          <p:cNvSpPr>
            <a:spLocks noGrp="1"/>
          </p:cNvSpPr>
          <p:nvPr>
            <p:ph idx="1"/>
          </p:nvPr>
        </p:nvSpPr>
        <p:spPr>
          <a:xfrm>
            <a:off x="457200" y="1066800"/>
            <a:ext cx="8534400" cy="4343400"/>
          </a:xfrm>
        </p:spPr>
        <p:txBody>
          <a:bodyPr>
            <a:normAutofit/>
          </a:bodyPr>
          <a:lstStyle/>
          <a:p>
            <a:pPr marL="0" lvl="0" indent="0" eaLnBrk="0" fontAlgn="base" hangingPunct="0">
              <a:spcBef>
                <a:spcPct val="0"/>
              </a:spcBef>
              <a:spcAft>
                <a:spcPts val="600"/>
              </a:spcAft>
              <a:buSzTx/>
              <a:buNone/>
            </a:pPr>
            <a:r>
              <a:rPr lang="en-US" altLang="en-US" sz="1800" dirty="0">
                <a:solidFill>
                  <a:srgbClr val="181717"/>
                </a:solidFill>
                <a:latin typeface="Verdana" panose="020B0604030504040204" pitchFamily="34" charset="0"/>
              </a:rPr>
              <a:t>There are two ways using which you can create a database and schema:</a:t>
            </a:r>
            <a:endParaRPr lang="en-US" altLang="en-US" sz="1800" dirty="0"/>
          </a:p>
          <a:p>
            <a:pPr marL="0" lvl="0" indent="0" eaLnBrk="0" fontAlgn="base" hangingPunct="0">
              <a:spcBef>
                <a:spcPct val="0"/>
              </a:spcBef>
              <a:spcAft>
                <a:spcPts val="600"/>
              </a:spcAft>
              <a:buSzTx/>
              <a:buFontTx/>
              <a:buAutoNum type="arabicPeriod"/>
            </a:pPr>
            <a:r>
              <a:rPr lang="en-US" altLang="en-US" sz="1800" dirty="0">
                <a:solidFill>
                  <a:srgbClr val="181717"/>
                </a:solidFill>
                <a:latin typeface="Verdana" panose="020B0604030504040204" pitchFamily="34" charset="0"/>
              </a:rPr>
              <a:t>Using the </a:t>
            </a:r>
            <a:r>
              <a:rPr lang="en-US" altLang="en-US" sz="1800" dirty="0" err="1">
                <a:solidFill>
                  <a:srgbClr val="000000"/>
                </a:solidFill>
                <a:latin typeface="SFMono-Regular"/>
              </a:rPr>
              <a:t>EnsureCreated</a:t>
            </a:r>
            <a:r>
              <a:rPr lang="en-US" altLang="en-US" sz="1800" dirty="0">
                <a:solidFill>
                  <a:srgbClr val="000000"/>
                </a:solidFill>
                <a:latin typeface="SFMono-Regular"/>
              </a:rPr>
              <a:t>()</a:t>
            </a:r>
            <a:r>
              <a:rPr lang="en-US" altLang="en-US" sz="1800" dirty="0">
                <a:solidFill>
                  <a:srgbClr val="181717"/>
                </a:solidFill>
                <a:latin typeface="Verdana" panose="020B0604030504040204" pitchFamily="34" charset="0"/>
              </a:rPr>
              <a:t> method</a:t>
            </a:r>
          </a:p>
          <a:p>
            <a:pPr marL="0" lvl="0" indent="0" eaLnBrk="0" fontAlgn="base" hangingPunct="0">
              <a:spcBef>
                <a:spcPct val="0"/>
              </a:spcBef>
              <a:spcAft>
                <a:spcPts val="600"/>
              </a:spcAft>
              <a:buSzTx/>
              <a:buFontTx/>
              <a:buAutoNum type="arabicPeriod" startAt="2"/>
            </a:pPr>
            <a:r>
              <a:rPr lang="en-US" altLang="en-US" sz="1800" dirty="0">
                <a:solidFill>
                  <a:srgbClr val="181717"/>
                </a:solidFill>
                <a:latin typeface="Verdana" panose="020B0604030504040204" pitchFamily="34" charset="0"/>
              </a:rPr>
              <a:t>Using Migration API</a:t>
            </a:r>
          </a:p>
        </p:txBody>
      </p:sp>
      <p:sp>
        <p:nvSpPr>
          <p:cNvPr id="8" name="Rectangle 1">
            <a:extLst>
              <a:ext uri="{FF2B5EF4-FFF2-40B4-BE49-F238E27FC236}">
                <a16:creationId xmlns:a16="http://schemas.microsoft.com/office/drawing/2014/main" id="{FD929B36-ADB6-9A9B-4CDF-023420B5C082}"/>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5CDBD438-480A-8D4C-FA94-C346A1F4342B}"/>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680A78B3-B70B-B220-FC75-451F91BA9C4A}"/>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6571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51FF-74C7-36A5-210F-55E0804F5C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3879C5-3F1B-8F04-6E68-3F80F70B9B35}"/>
              </a:ext>
            </a:extLst>
          </p:cNvPr>
          <p:cNvSpPr>
            <a:spLocks noGrp="1"/>
          </p:cNvSpPr>
          <p:nvPr>
            <p:ph type="title"/>
          </p:nvPr>
        </p:nvSpPr>
        <p:spPr/>
        <p:txBody>
          <a:bodyPr>
            <a:normAutofit/>
          </a:bodyPr>
          <a:lstStyle/>
          <a:p>
            <a:r>
              <a:rPr lang="en-US" dirty="0"/>
              <a:t>10.3.1 </a:t>
            </a:r>
            <a:r>
              <a:rPr lang="en-US" altLang="en-US" dirty="0"/>
              <a:t>Migration API</a:t>
            </a:r>
            <a:endParaRPr lang="en-US" dirty="0"/>
          </a:p>
        </p:txBody>
      </p:sp>
      <p:sp>
        <p:nvSpPr>
          <p:cNvPr id="4" name="Date Placeholder 3">
            <a:extLst>
              <a:ext uri="{FF2B5EF4-FFF2-40B4-BE49-F238E27FC236}">
                <a16:creationId xmlns:a16="http://schemas.microsoft.com/office/drawing/2014/main" id="{4A258725-3FCE-55A9-D918-D19563501F7A}"/>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DFDD78BB-4C4C-8BE4-730C-61412ABA0A81}"/>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C432DE1D-20DB-2EA6-FC89-CFC079C89901}"/>
              </a:ext>
            </a:extLst>
          </p:cNvPr>
          <p:cNvSpPr>
            <a:spLocks noGrp="1"/>
          </p:cNvSpPr>
          <p:nvPr>
            <p:ph type="sldNum" sz="quarter" idx="4"/>
          </p:nvPr>
        </p:nvSpPr>
        <p:spPr/>
        <p:txBody>
          <a:bodyPr/>
          <a:lstStyle/>
          <a:p>
            <a:fld id="{F4E32468-D4D3-45A6-A508-7622D5375F4E}" type="slidenum">
              <a:rPr lang="en-US" smtClean="0"/>
              <a:pPr/>
              <a:t>24</a:t>
            </a:fld>
            <a:endParaRPr lang="en-US"/>
          </a:p>
        </p:txBody>
      </p:sp>
      <p:sp>
        <p:nvSpPr>
          <p:cNvPr id="2" name="Content Placeholder 1">
            <a:extLst>
              <a:ext uri="{FF2B5EF4-FFF2-40B4-BE49-F238E27FC236}">
                <a16:creationId xmlns:a16="http://schemas.microsoft.com/office/drawing/2014/main" id="{C898F56F-428D-14B1-DC6C-BF8D0318625A}"/>
              </a:ext>
            </a:extLst>
          </p:cNvPr>
          <p:cNvSpPr>
            <a:spLocks noGrp="1"/>
          </p:cNvSpPr>
          <p:nvPr>
            <p:ph idx="1"/>
          </p:nvPr>
        </p:nvSpPr>
        <p:spPr>
          <a:xfrm>
            <a:off x="457200" y="1066800"/>
            <a:ext cx="8534400" cy="5229696"/>
          </a:xfrm>
        </p:spPr>
        <p:txBody>
          <a:bodyPr>
            <a:normAutofit/>
          </a:bodyPr>
          <a:lstStyle/>
          <a:p>
            <a:r>
              <a:rPr lang="en-US" sz="1600" dirty="0"/>
              <a:t>Migration is a way to keep the database schema in sync with the EF Core model by preserving data.</a:t>
            </a:r>
          </a:p>
          <a:p>
            <a:endParaRPr lang="en-US" sz="1600" dirty="0"/>
          </a:p>
          <a:p>
            <a:endParaRPr lang="en-US" sz="1600" dirty="0"/>
          </a:p>
          <a:p>
            <a:endParaRPr lang="en-US" sz="1600" dirty="0"/>
          </a:p>
          <a:p>
            <a:pPr algn="just"/>
            <a:r>
              <a:rPr lang="en-US" altLang="en-US" sz="1600" dirty="0">
                <a:solidFill>
                  <a:srgbClr val="181717"/>
                </a:solidFill>
                <a:latin typeface="Verdana" panose="020B0604030504040204" pitchFamily="34" charset="0"/>
              </a:rPr>
              <a:t>As per the above figure, EF Core API builds the EF Core model from the entity classes, Data Annotations attributes applied on entity classes and Fluent API configurations in the </a:t>
            </a:r>
            <a:r>
              <a:rPr lang="en-US" altLang="en-US" sz="1600" dirty="0" err="1">
                <a:solidFill>
                  <a:srgbClr val="000000"/>
                </a:solidFill>
                <a:latin typeface="SFMono-Regular"/>
              </a:rPr>
              <a:t>DbContext</a:t>
            </a:r>
            <a:r>
              <a:rPr lang="en-US" altLang="en-US" sz="1600" dirty="0">
                <a:solidFill>
                  <a:srgbClr val="181717"/>
                </a:solidFill>
                <a:latin typeface="Verdana" panose="020B0604030504040204" pitchFamily="34" charset="0"/>
              </a:rPr>
              <a:t> class. EF Core migrations API will create or update the database schema based on the EF Core model. Whenever you change the domain classes, you need to run migration commands to keep the database schema up to date</a:t>
            </a:r>
            <a:r>
              <a:rPr lang="en-US" altLang="en-US" sz="1100" dirty="0">
                <a:solidFill>
                  <a:srgbClr val="181717"/>
                </a:solidFill>
                <a:latin typeface="Verdana" panose="020B0604030504040204" pitchFamily="34" charset="0"/>
              </a:rPr>
              <a:t>.</a:t>
            </a:r>
          </a:p>
          <a:p>
            <a:r>
              <a:rPr lang="en-US" altLang="en-US" sz="1600" dirty="0">
                <a:solidFill>
                  <a:srgbClr val="181717"/>
                </a:solidFill>
                <a:latin typeface="Verdana" panose="020B0604030504040204" pitchFamily="34" charset="0"/>
              </a:rPr>
              <a:t>To use EF Core Migrations API, we need to install: </a:t>
            </a:r>
            <a:r>
              <a:rPr lang="en-US" altLang="en-US" sz="1600" dirty="0" err="1">
                <a:solidFill>
                  <a:srgbClr val="000000"/>
                </a:solidFill>
                <a:latin typeface="SFMono-Regular"/>
              </a:rPr>
              <a:t>Microsoft.EntityFrameworkCore.Tools</a:t>
            </a:r>
            <a:r>
              <a:rPr lang="en-US" altLang="en-US" sz="800" dirty="0"/>
              <a:t> </a:t>
            </a:r>
            <a:endParaRPr lang="en-US" altLang="en-US" dirty="0"/>
          </a:p>
          <a:p>
            <a:pPr algn="just"/>
            <a:endParaRPr lang="en-US" altLang="en-US" sz="1100" dirty="0">
              <a:solidFill>
                <a:srgbClr val="181717"/>
              </a:solidFill>
              <a:latin typeface="Verdana" panose="020B0604030504040204" pitchFamily="34" charset="0"/>
            </a:endParaRPr>
          </a:p>
          <a:p>
            <a:pPr algn="just"/>
            <a:endParaRPr lang="en-US" altLang="en-US" sz="1100" b="1" dirty="0">
              <a:solidFill>
                <a:srgbClr val="181717"/>
              </a:solidFill>
              <a:latin typeface="Verdana" panose="020B0604030504040204" pitchFamily="34" charset="0"/>
            </a:endParaRPr>
          </a:p>
        </p:txBody>
      </p:sp>
      <p:sp>
        <p:nvSpPr>
          <p:cNvPr id="8" name="Rectangle 1">
            <a:extLst>
              <a:ext uri="{FF2B5EF4-FFF2-40B4-BE49-F238E27FC236}">
                <a16:creationId xmlns:a16="http://schemas.microsoft.com/office/drawing/2014/main" id="{39267A52-CF6B-8ABB-85B1-9E7F1921BEA3}"/>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C6E916F9-D947-5518-A175-B5637B55B3DE}"/>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266FD56-601B-CA8E-2B2A-AB450DFB057C}"/>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4" name="Picture 2" descr="EF Core Migration">
            <a:extLst>
              <a:ext uri="{FF2B5EF4-FFF2-40B4-BE49-F238E27FC236}">
                <a16:creationId xmlns:a16="http://schemas.microsoft.com/office/drawing/2014/main" id="{8D88B841-F473-4120-18A1-D8BBFBA8A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057400"/>
            <a:ext cx="5734050" cy="84772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a:extLst>
              <a:ext uri="{FF2B5EF4-FFF2-40B4-BE49-F238E27FC236}">
                <a16:creationId xmlns:a16="http://schemas.microsoft.com/office/drawing/2014/main" id="{1C73C4D3-553A-F5EC-061C-71FB28993013}"/>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C30718E0-C65F-76B5-FE4D-CD7F0A8D9FA6}"/>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8159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95DF3-1F83-A569-7393-48BD44F87E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7040B6-6278-CF6D-A30D-24501D486773}"/>
              </a:ext>
            </a:extLst>
          </p:cNvPr>
          <p:cNvSpPr>
            <a:spLocks noGrp="1"/>
          </p:cNvSpPr>
          <p:nvPr>
            <p:ph type="title"/>
          </p:nvPr>
        </p:nvSpPr>
        <p:spPr/>
        <p:txBody>
          <a:bodyPr>
            <a:normAutofit/>
          </a:bodyPr>
          <a:lstStyle/>
          <a:p>
            <a:r>
              <a:rPr lang="en-US" dirty="0"/>
              <a:t>10.3.1 </a:t>
            </a:r>
            <a:r>
              <a:rPr lang="en-US" altLang="en-US" dirty="0"/>
              <a:t>Migration API</a:t>
            </a:r>
            <a:endParaRPr lang="en-US" dirty="0"/>
          </a:p>
        </p:txBody>
      </p:sp>
      <p:sp>
        <p:nvSpPr>
          <p:cNvPr id="4" name="Date Placeholder 3">
            <a:extLst>
              <a:ext uri="{FF2B5EF4-FFF2-40B4-BE49-F238E27FC236}">
                <a16:creationId xmlns:a16="http://schemas.microsoft.com/office/drawing/2014/main" id="{286B6F14-B716-61E0-813A-DFF3AE90F242}"/>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126B4722-CD0C-BB98-5497-E32852BEEE20}"/>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E4BE0D3A-AB14-393A-C5EC-8EA608E65379}"/>
              </a:ext>
            </a:extLst>
          </p:cNvPr>
          <p:cNvSpPr>
            <a:spLocks noGrp="1"/>
          </p:cNvSpPr>
          <p:nvPr>
            <p:ph type="sldNum" sz="quarter" idx="4"/>
          </p:nvPr>
        </p:nvSpPr>
        <p:spPr/>
        <p:txBody>
          <a:bodyPr/>
          <a:lstStyle/>
          <a:p>
            <a:fld id="{F4E32468-D4D3-45A6-A508-7622D5375F4E}" type="slidenum">
              <a:rPr lang="en-US" smtClean="0"/>
              <a:pPr/>
              <a:t>25</a:t>
            </a:fld>
            <a:endParaRPr lang="en-US"/>
          </a:p>
        </p:txBody>
      </p:sp>
      <p:sp>
        <p:nvSpPr>
          <p:cNvPr id="2" name="Content Placeholder 1">
            <a:extLst>
              <a:ext uri="{FF2B5EF4-FFF2-40B4-BE49-F238E27FC236}">
                <a16:creationId xmlns:a16="http://schemas.microsoft.com/office/drawing/2014/main" id="{B84F93E3-680A-4F91-FC63-B0D817F5C3A5}"/>
              </a:ext>
            </a:extLst>
          </p:cNvPr>
          <p:cNvSpPr>
            <a:spLocks noGrp="1"/>
          </p:cNvSpPr>
          <p:nvPr>
            <p:ph idx="1"/>
          </p:nvPr>
        </p:nvSpPr>
        <p:spPr>
          <a:xfrm>
            <a:off x="457200" y="1066800"/>
            <a:ext cx="8534400" cy="4343400"/>
          </a:xfrm>
        </p:spPr>
        <p:txBody>
          <a:bodyPr>
            <a:normAutofit/>
          </a:bodyPr>
          <a:lstStyle/>
          <a:p>
            <a:r>
              <a:rPr lang="en-US" sz="2000" dirty="0"/>
              <a:t>In Visual Studio, open NuGet Package Manager Console from Tools -&gt; NuGet Package Manager -&gt; Package Manager Console and enter the following command: </a:t>
            </a:r>
          </a:p>
          <a:p>
            <a:pPr marL="400050" lvl="1" indent="0">
              <a:buNone/>
            </a:pPr>
            <a:r>
              <a:rPr lang="en-US" dirty="0"/>
              <a:t>1. add-migration </a:t>
            </a:r>
            <a:r>
              <a:rPr lang="en-US" dirty="0" err="1"/>
              <a:t>InitialSchoolDB</a:t>
            </a:r>
            <a:r>
              <a:rPr lang="en-US" dirty="0"/>
              <a:t> //</a:t>
            </a:r>
            <a:r>
              <a:rPr lang="en-US" dirty="0" err="1"/>
              <a:t>Customered</a:t>
            </a:r>
            <a:r>
              <a:rPr lang="en-US" dirty="0"/>
              <a:t> Name</a:t>
            </a:r>
          </a:p>
          <a:p>
            <a:pPr marL="400050" lvl="1" indent="0">
              <a:buNone/>
            </a:pPr>
            <a:r>
              <a:rPr lang="en-US" dirty="0"/>
              <a:t>2. update-database</a:t>
            </a:r>
            <a:br>
              <a:rPr lang="en-US" sz="700" dirty="0"/>
            </a:br>
            <a:endParaRPr lang="en-US" altLang="en-US" sz="700" b="1" dirty="0">
              <a:solidFill>
                <a:srgbClr val="181717"/>
              </a:solidFill>
              <a:latin typeface="Verdana" panose="020B0604030504040204" pitchFamily="34" charset="0"/>
            </a:endParaRPr>
          </a:p>
        </p:txBody>
      </p:sp>
      <p:sp>
        <p:nvSpPr>
          <p:cNvPr id="8" name="Rectangle 1">
            <a:extLst>
              <a:ext uri="{FF2B5EF4-FFF2-40B4-BE49-F238E27FC236}">
                <a16:creationId xmlns:a16="http://schemas.microsoft.com/office/drawing/2014/main" id="{9D065F33-BEFF-073F-27E2-2674185AF9B3}"/>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303ED711-D86D-53CA-A21F-3EC668C8C05D}"/>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1835E0F9-8F27-3C2C-0280-EC135DB5A25F}"/>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5FE11DE1-0746-F28C-95A3-068AD4DC164B}"/>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7" name="Picture 5" descr="migration 2">
            <a:extLst>
              <a:ext uri="{FF2B5EF4-FFF2-40B4-BE49-F238E27FC236}">
                <a16:creationId xmlns:a16="http://schemas.microsoft.com/office/drawing/2014/main" id="{28D4E607-0422-A000-8208-A5F4A61C3E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2756293"/>
            <a:ext cx="5592032" cy="3492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9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83A36-C6A8-9A31-9532-4F9B5C7AC5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8A43BB-5EBA-0221-F268-B37E27C0511E}"/>
              </a:ext>
            </a:extLst>
          </p:cNvPr>
          <p:cNvSpPr>
            <a:spLocks noGrp="1"/>
          </p:cNvSpPr>
          <p:nvPr>
            <p:ph type="title"/>
          </p:nvPr>
        </p:nvSpPr>
        <p:spPr/>
        <p:txBody>
          <a:bodyPr>
            <a:normAutofit/>
          </a:bodyPr>
          <a:lstStyle/>
          <a:p>
            <a:r>
              <a:rPr lang="en-US" dirty="0"/>
              <a:t>10.3.1 </a:t>
            </a:r>
            <a:r>
              <a:rPr lang="en-US" altLang="en-US" dirty="0"/>
              <a:t>Migration API</a:t>
            </a:r>
            <a:endParaRPr lang="en-US" dirty="0"/>
          </a:p>
        </p:txBody>
      </p:sp>
      <p:sp>
        <p:nvSpPr>
          <p:cNvPr id="4" name="Date Placeholder 3">
            <a:extLst>
              <a:ext uri="{FF2B5EF4-FFF2-40B4-BE49-F238E27FC236}">
                <a16:creationId xmlns:a16="http://schemas.microsoft.com/office/drawing/2014/main" id="{2DD0A674-9411-3FAE-DDF2-24A6370C4B90}"/>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44A2B748-F5A4-DD94-F932-36C1858AD5A7}"/>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AD573CE6-70EF-86B8-519B-F5B9CB238E83}"/>
              </a:ext>
            </a:extLst>
          </p:cNvPr>
          <p:cNvSpPr>
            <a:spLocks noGrp="1"/>
          </p:cNvSpPr>
          <p:nvPr>
            <p:ph type="sldNum" sz="quarter" idx="4"/>
          </p:nvPr>
        </p:nvSpPr>
        <p:spPr/>
        <p:txBody>
          <a:bodyPr/>
          <a:lstStyle/>
          <a:p>
            <a:fld id="{F4E32468-D4D3-45A6-A508-7622D5375F4E}" type="slidenum">
              <a:rPr lang="en-US" smtClean="0"/>
              <a:pPr/>
              <a:t>26</a:t>
            </a:fld>
            <a:endParaRPr lang="en-US"/>
          </a:p>
        </p:txBody>
      </p:sp>
      <p:sp>
        <p:nvSpPr>
          <p:cNvPr id="2" name="Content Placeholder 1">
            <a:extLst>
              <a:ext uri="{FF2B5EF4-FFF2-40B4-BE49-F238E27FC236}">
                <a16:creationId xmlns:a16="http://schemas.microsoft.com/office/drawing/2014/main" id="{0F40AE8B-D6F3-64D4-0EF0-EA63BEFF7F02}"/>
              </a:ext>
            </a:extLst>
          </p:cNvPr>
          <p:cNvSpPr>
            <a:spLocks noGrp="1"/>
          </p:cNvSpPr>
          <p:nvPr>
            <p:ph idx="1"/>
          </p:nvPr>
        </p:nvSpPr>
        <p:spPr>
          <a:xfrm>
            <a:off x="457200" y="1066800"/>
            <a:ext cx="8534400" cy="4343400"/>
          </a:xfrm>
        </p:spPr>
        <p:txBody>
          <a:bodyPr>
            <a:normAutofit/>
          </a:bodyPr>
          <a:lstStyle/>
          <a:p>
            <a:r>
              <a:rPr lang="en-US" dirty="0"/>
              <a:t>Apply Migrations for Modified Entities/Configurations: </a:t>
            </a:r>
            <a:r>
              <a:rPr lang="en-US" altLang="en-US" sz="2000" dirty="0">
                <a:solidFill>
                  <a:srgbClr val="181717"/>
                </a:solidFill>
                <a:latin typeface="Verdana" panose="020B0604030504040204" pitchFamily="34" charset="0"/>
              </a:rPr>
              <a:t>Suppose we add a new entity or modify an existing entity or change any configuration, then we again need to execute the </a:t>
            </a:r>
            <a:r>
              <a:rPr lang="en-US" altLang="en-US" sz="2000" dirty="0">
                <a:solidFill>
                  <a:srgbClr val="000000"/>
                </a:solidFill>
                <a:latin typeface="SFMono-Regular"/>
              </a:rPr>
              <a:t>add-migration</a:t>
            </a:r>
            <a:r>
              <a:rPr lang="en-US" altLang="en-US" sz="2000" dirty="0">
                <a:solidFill>
                  <a:srgbClr val="181717"/>
                </a:solidFill>
                <a:latin typeface="Verdana" panose="020B0604030504040204" pitchFamily="34" charset="0"/>
              </a:rPr>
              <a:t> and </a:t>
            </a:r>
            <a:r>
              <a:rPr lang="en-US" altLang="en-US" sz="2000" dirty="0">
                <a:solidFill>
                  <a:srgbClr val="000000"/>
                </a:solidFill>
                <a:latin typeface="SFMono-Regular"/>
              </a:rPr>
              <a:t>update-database</a:t>
            </a:r>
            <a:r>
              <a:rPr lang="en-US" altLang="en-US" sz="2000" dirty="0">
                <a:solidFill>
                  <a:srgbClr val="181717"/>
                </a:solidFill>
                <a:latin typeface="Verdana" panose="020B0604030504040204" pitchFamily="34" charset="0"/>
              </a:rPr>
              <a:t> commands to apply changes to the database schema.</a:t>
            </a:r>
            <a:r>
              <a:rPr lang="en-US" altLang="en-US" sz="700" dirty="0"/>
              <a:t> </a:t>
            </a:r>
            <a:endParaRPr lang="en-US" altLang="en-US" sz="3200" dirty="0"/>
          </a:p>
          <a:p>
            <a:endParaRPr lang="en-US" dirty="0"/>
          </a:p>
          <a:p>
            <a:pPr marL="400050" lvl="1" indent="0">
              <a:buNone/>
            </a:pPr>
            <a:br>
              <a:rPr lang="en-US" sz="700" dirty="0"/>
            </a:br>
            <a:endParaRPr lang="en-US" altLang="en-US" sz="700" b="1" dirty="0">
              <a:solidFill>
                <a:srgbClr val="181717"/>
              </a:solidFill>
              <a:latin typeface="Verdana" panose="020B0604030504040204" pitchFamily="34" charset="0"/>
            </a:endParaRPr>
          </a:p>
        </p:txBody>
      </p:sp>
      <p:sp>
        <p:nvSpPr>
          <p:cNvPr id="8" name="Rectangle 1">
            <a:extLst>
              <a:ext uri="{FF2B5EF4-FFF2-40B4-BE49-F238E27FC236}">
                <a16:creationId xmlns:a16="http://schemas.microsoft.com/office/drawing/2014/main" id="{5EC0D1BA-3019-F183-F5E5-E724C72E1AC0}"/>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6687D431-54F3-13CD-1F2C-87254718926A}"/>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DC28943-2CF9-2E8E-290C-199E7898B331}"/>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DCB7E03D-0141-606B-F463-9C2F8F591C48}"/>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CDFBC8DA-5ECD-F498-8151-44AF773340B1}"/>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5963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088D9-7B0D-F7FA-8968-E6D9BB457E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DF1E29-CEC6-F190-5BD0-0DF41292095C}"/>
              </a:ext>
            </a:extLst>
          </p:cNvPr>
          <p:cNvSpPr>
            <a:spLocks noGrp="1"/>
          </p:cNvSpPr>
          <p:nvPr>
            <p:ph type="title"/>
          </p:nvPr>
        </p:nvSpPr>
        <p:spPr/>
        <p:txBody>
          <a:bodyPr>
            <a:normAutofit/>
          </a:bodyPr>
          <a:lstStyle/>
          <a:p>
            <a:r>
              <a:rPr lang="en-US" dirty="0"/>
              <a:t>10.3.1 </a:t>
            </a:r>
            <a:r>
              <a:rPr lang="en-US" altLang="en-US" dirty="0"/>
              <a:t>Migration API</a:t>
            </a:r>
            <a:endParaRPr lang="en-US" dirty="0"/>
          </a:p>
        </p:txBody>
      </p:sp>
      <p:sp>
        <p:nvSpPr>
          <p:cNvPr id="4" name="Date Placeholder 3">
            <a:extLst>
              <a:ext uri="{FF2B5EF4-FFF2-40B4-BE49-F238E27FC236}">
                <a16:creationId xmlns:a16="http://schemas.microsoft.com/office/drawing/2014/main" id="{7210AA4B-5966-6530-F2D0-7007B1361AA8}"/>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A1EFF838-6AE0-840A-F361-6379F1347805}"/>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07C0C2FF-0D65-1FD4-8141-53A60636077E}"/>
              </a:ext>
            </a:extLst>
          </p:cNvPr>
          <p:cNvSpPr>
            <a:spLocks noGrp="1"/>
          </p:cNvSpPr>
          <p:nvPr>
            <p:ph type="sldNum" sz="quarter" idx="4"/>
          </p:nvPr>
        </p:nvSpPr>
        <p:spPr/>
        <p:txBody>
          <a:bodyPr/>
          <a:lstStyle/>
          <a:p>
            <a:fld id="{F4E32468-D4D3-45A6-A508-7622D5375F4E}" type="slidenum">
              <a:rPr lang="en-US" smtClean="0"/>
              <a:pPr/>
              <a:t>27</a:t>
            </a:fld>
            <a:endParaRPr lang="en-US"/>
          </a:p>
        </p:txBody>
      </p:sp>
      <p:sp>
        <p:nvSpPr>
          <p:cNvPr id="2" name="Content Placeholder 1">
            <a:extLst>
              <a:ext uri="{FF2B5EF4-FFF2-40B4-BE49-F238E27FC236}">
                <a16:creationId xmlns:a16="http://schemas.microsoft.com/office/drawing/2014/main" id="{B59A6614-58C9-BCAC-CFF3-729195282112}"/>
              </a:ext>
            </a:extLst>
          </p:cNvPr>
          <p:cNvSpPr>
            <a:spLocks noGrp="1"/>
          </p:cNvSpPr>
          <p:nvPr>
            <p:ph idx="1"/>
          </p:nvPr>
        </p:nvSpPr>
        <p:spPr>
          <a:xfrm>
            <a:off x="457200" y="1066800"/>
            <a:ext cx="8534400" cy="4343400"/>
          </a:xfrm>
        </p:spPr>
        <p:txBody>
          <a:bodyPr>
            <a:normAutofit/>
          </a:bodyPr>
          <a:lstStyle/>
          <a:p>
            <a:pPr>
              <a:lnSpc>
                <a:spcPct val="110000"/>
              </a:lnSpc>
              <a:spcBef>
                <a:spcPts val="600"/>
              </a:spcBef>
              <a:spcAft>
                <a:spcPts val="600"/>
              </a:spcAft>
            </a:pPr>
            <a:r>
              <a:rPr lang="en-US" dirty="0"/>
              <a:t>Apply Migrations for Modified Entities/Configurations:</a:t>
            </a:r>
          </a:p>
          <a:p>
            <a:pPr marL="457200" indent="-457200">
              <a:lnSpc>
                <a:spcPct val="110000"/>
              </a:lnSpc>
              <a:spcBef>
                <a:spcPts val="600"/>
              </a:spcBef>
              <a:spcAft>
                <a:spcPts val="600"/>
              </a:spcAft>
              <a:buAutoNum type="arabicPeriod"/>
            </a:pPr>
            <a:r>
              <a:rPr lang="en-US" sz="2000" dirty="0"/>
              <a:t>add-migration "</a:t>
            </a:r>
            <a:r>
              <a:rPr lang="en-US" sz="2000" dirty="0" err="1"/>
              <a:t>ModifiedStudentEntity</a:t>
            </a:r>
            <a:r>
              <a:rPr lang="en-US" sz="2000" dirty="0"/>
              <a:t>“</a:t>
            </a:r>
          </a:p>
          <a:p>
            <a:pPr marL="457200" indent="-457200">
              <a:lnSpc>
                <a:spcPct val="110000"/>
              </a:lnSpc>
              <a:spcBef>
                <a:spcPts val="600"/>
              </a:spcBef>
              <a:spcAft>
                <a:spcPts val="600"/>
              </a:spcAft>
              <a:buAutoNum type="arabicPeriod"/>
            </a:pPr>
            <a:r>
              <a:rPr lang="en-US" sz="2000" dirty="0"/>
              <a:t>update-database</a:t>
            </a:r>
          </a:p>
          <a:p>
            <a:pPr marL="400050" lvl="1" indent="0">
              <a:lnSpc>
                <a:spcPct val="110000"/>
              </a:lnSpc>
              <a:spcBef>
                <a:spcPts val="600"/>
              </a:spcBef>
              <a:buNone/>
            </a:pPr>
            <a:br>
              <a:rPr lang="en-US" sz="700" dirty="0"/>
            </a:br>
            <a:endParaRPr lang="en-US" altLang="en-US" sz="700" b="1" dirty="0">
              <a:solidFill>
                <a:srgbClr val="181717"/>
              </a:solidFill>
              <a:latin typeface="Verdana" panose="020B0604030504040204" pitchFamily="34" charset="0"/>
            </a:endParaRPr>
          </a:p>
        </p:txBody>
      </p:sp>
      <p:sp>
        <p:nvSpPr>
          <p:cNvPr id="8" name="Rectangle 1">
            <a:extLst>
              <a:ext uri="{FF2B5EF4-FFF2-40B4-BE49-F238E27FC236}">
                <a16:creationId xmlns:a16="http://schemas.microsoft.com/office/drawing/2014/main" id="{6828985A-003B-6BFC-3825-7D0888FD9227}"/>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E657499C-3891-5FC1-B673-1AD71E6DB531}"/>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85CEE3C-4277-3049-F8AA-4C36FB063B92}"/>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0E914464-DC6B-E5A2-1B0F-A07574CF4A3E}"/>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3BA7FC2F-0DBB-2A98-9C89-050AF55D4B76}"/>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42" name="Picture 2" descr="migration 6">
            <a:extLst>
              <a:ext uri="{FF2B5EF4-FFF2-40B4-BE49-F238E27FC236}">
                <a16:creationId xmlns:a16="http://schemas.microsoft.com/office/drawing/2014/main" id="{76E40B1F-109B-7F9C-01FE-D6AFD4575B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9927" y="2514600"/>
            <a:ext cx="6248400" cy="3901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93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2DCDE-45C0-D865-059A-D7DE8ABB81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ACFF91-6EC7-B3AB-4BE9-B322E002C8E1}"/>
              </a:ext>
            </a:extLst>
          </p:cNvPr>
          <p:cNvSpPr>
            <a:spLocks noGrp="1"/>
          </p:cNvSpPr>
          <p:nvPr>
            <p:ph type="title"/>
          </p:nvPr>
        </p:nvSpPr>
        <p:spPr/>
        <p:txBody>
          <a:bodyPr>
            <a:normAutofit/>
          </a:bodyPr>
          <a:lstStyle/>
          <a:p>
            <a:r>
              <a:rPr lang="en-US" dirty="0"/>
              <a:t>10.3.1 </a:t>
            </a:r>
            <a:r>
              <a:rPr lang="en-US" altLang="en-US" dirty="0"/>
              <a:t>Migration API</a:t>
            </a:r>
            <a:endParaRPr lang="en-US" dirty="0"/>
          </a:p>
        </p:txBody>
      </p:sp>
      <p:sp>
        <p:nvSpPr>
          <p:cNvPr id="4" name="Date Placeholder 3">
            <a:extLst>
              <a:ext uri="{FF2B5EF4-FFF2-40B4-BE49-F238E27FC236}">
                <a16:creationId xmlns:a16="http://schemas.microsoft.com/office/drawing/2014/main" id="{D623F687-FFF2-EE83-7EF7-A45409E657F0}"/>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1FBDCC57-C75B-22AA-3524-8DABCCA37AAD}"/>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9B33810E-5BEE-13BC-E25B-F014A98C3039}"/>
              </a:ext>
            </a:extLst>
          </p:cNvPr>
          <p:cNvSpPr>
            <a:spLocks noGrp="1"/>
          </p:cNvSpPr>
          <p:nvPr>
            <p:ph type="sldNum" sz="quarter" idx="4"/>
          </p:nvPr>
        </p:nvSpPr>
        <p:spPr/>
        <p:txBody>
          <a:bodyPr/>
          <a:lstStyle/>
          <a:p>
            <a:fld id="{F4E32468-D4D3-45A6-A508-7622D5375F4E}" type="slidenum">
              <a:rPr lang="en-US" smtClean="0"/>
              <a:pPr/>
              <a:t>28</a:t>
            </a:fld>
            <a:endParaRPr lang="en-US"/>
          </a:p>
        </p:txBody>
      </p:sp>
      <p:sp>
        <p:nvSpPr>
          <p:cNvPr id="2" name="Content Placeholder 1">
            <a:extLst>
              <a:ext uri="{FF2B5EF4-FFF2-40B4-BE49-F238E27FC236}">
                <a16:creationId xmlns:a16="http://schemas.microsoft.com/office/drawing/2014/main" id="{4A769FEE-151C-3A47-BA72-614181A2CDE4}"/>
              </a:ext>
            </a:extLst>
          </p:cNvPr>
          <p:cNvSpPr>
            <a:spLocks noGrp="1"/>
          </p:cNvSpPr>
          <p:nvPr>
            <p:ph idx="1"/>
          </p:nvPr>
        </p:nvSpPr>
        <p:spPr>
          <a:xfrm>
            <a:off x="457200" y="1066800"/>
            <a:ext cx="8534400" cy="4343400"/>
          </a:xfrm>
        </p:spPr>
        <p:txBody>
          <a:bodyPr>
            <a:normAutofit fontScale="92500" lnSpcReduction="20000"/>
          </a:bodyPr>
          <a:lstStyle/>
          <a:p>
            <a:r>
              <a:rPr lang="en-US" sz="2000" dirty="0"/>
              <a:t>Reverting Migration: </a:t>
            </a:r>
            <a:r>
              <a:rPr lang="en-US" altLang="en-US" sz="2000" dirty="0">
                <a:solidFill>
                  <a:srgbClr val="181717"/>
                </a:solidFill>
                <a:latin typeface="Verdana" panose="020B0604030504040204" pitchFamily="34" charset="0"/>
              </a:rPr>
              <a:t>For some reason, if you want to revert the database to any of the previous states then you can do it by using the </a:t>
            </a:r>
            <a:r>
              <a:rPr lang="en-US" altLang="en-US" sz="2000" dirty="0">
                <a:solidFill>
                  <a:srgbClr val="000000"/>
                </a:solidFill>
                <a:latin typeface="SFMono-Regular"/>
              </a:rPr>
              <a:t>update-database &lt;migration-name&gt;</a:t>
            </a:r>
            <a:r>
              <a:rPr lang="en-US" altLang="en-US" sz="2000" dirty="0">
                <a:solidFill>
                  <a:srgbClr val="181717"/>
                </a:solidFill>
                <a:latin typeface="Verdana" panose="020B0604030504040204" pitchFamily="34" charset="0"/>
              </a:rPr>
              <a:t> command.</a:t>
            </a:r>
            <a:r>
              <a:rPr lang="en-US" altLang="en-US" sz="2000" dirty="0"/>
              <a:t> </a:t>
            </a:r>
          </a:p>
          <a:p>
            <a:pPr marL="0" indent="0">
              <a:buNone/>
            </a:pPr>
            <a:r>
              <a:rPr lang="en-US" sz="2000" dirty="0"/>
              <a:t>Ex: Update-database "</a:t>
            </a:r>
            <a:r>
              <a:rPr lang="en-US" sz="2000" dirty="0" err="1"/>
              <a:t>InitialSchoolDB</a:t>
            </a:r>
            <a:r>
              <a:rPr lang="en-US" sz="2000" dirty="0"/>
              <a:t>“</a:t>
            </a:r>
          </a:p>
          <a:p>
            <a:r>
              <a:rPr lang="en-US" sz="2000" dirty="0"/>
              <a:t>Removing a Migration: We can remove the last migration if it is not applied to the database. Let's remove the "</a:t>
            </a:r>
            <a:r>
              <a:rPr lang="en-US" sz="2000" dirty="0" err="1"/>
              <a:t>ModifiedStudentEntity</a:t>
            </a:r>
            <a:r>
              <a:rPr lang="en-US" sz="2000" dirty="0"/>
              <a:t>" file using the following command.</a:t>
            </a:r>
          </a:p>
          <a:p>
            <a:pPr marL="0" indent="0">
              <a:buNone/>
            </a:pPr>
            <a:r>
              <a:rPr lang="en-US" sz="2000" dirty="0"/>
              <a:t>Ex: </a:t>
            </a:r>
            <a:r>
              <a:rPr lang="en-US" dirty="0"/>
              <a:t>remove-migration</a:t>
            </a:r>
            <a:endParaRPr lang="en-US" sz="2000" dirty="0"/>
          </a:p>
          <a:p>
            <a:endParaRPr lang="en-US" altLang="en-US" sz="2000" dirty="0"/>
          </a:p>
          <a:p>
            <a:pPr marL="400050" lvl="1" indent="0">
              <a:lnSpc>
                <a:spcPct val="110000"/>
              </a:lnSpc>
              <a:spcBef>
                <a:spcPts val="600"/>
              </a:spcBef>
              <a:buNone/>
            </a:pPr>
            <a:br>
              <a:rPr lang="en-US" dirty="0"/>
            </a:br>
            <a:endParaRPr lang="en-US" altLang="en-US" b="1" dirty="0">
              <a:solidFill>
                <a:srgbClr val="181717"/>
              </a:solidFill>
              <a:latin typeface="Verdana" panose="020B0604030504040204" pitchFamily="34" charset="0"/>
            </a:endParaRPr>
          </a:p>
        </p:txBody>
      </p:sp>
      <p:sp>
        <p:nvSpPr>
          <p:cNvPr id="8" name="Rectangle 1">
            <a:extLst>
              <a:ext uri="{FF2B5EF4-FFF2-40B4-BE49-F238E27FC236}">
                <a16:creationId xmlns:a16="http://schemas.microsoft.com/office/drawing/2014/main" id="{8536DDC1-9A31-62FE-A25B-52DC3B03F83D}"/>
              </a:ext>
            </a:extLst>
          </p:cNvPr>
          <p:cNvSpPr>
            <a:spLocks noChangeArrowheads="1"/>
          </p:cNvSpPr>
          <p:nvPr/>
        </p:nvSpPr>
        <p:spPr bwMode="auto">
          <a:xfrm>
            <a:off x="4479634" y="43934"/>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BAD47036-5AB2-FDD7-3E6F-AC7C9EDD77A2}"/>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073E3380-0301-AECD-610D-0329E5BE81DE}"/>
              </a:ext>
            </a:extLst>
          </p:cNvPr>
          <p:cNvSpPr>
            <a:spLocks noChangeArrowheads="1"/>
          </p:cNvSpPr>
          <p:nvPr/>
        </p:nvSpPr>
        <p:spPr bwMode="auto">
          <a:xfrm>
            <a:off x="0" y="67017"/>
            <a:ext cx="184731" cy="3231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C50B3A30-5A08-E19A-84D0-9BCB5120B030}"/>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FEE887C7-0F49-B4AC-F4B9-A1B23A09BB09}"/>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C46D9D24-D3AC-0E0D-18F8-C8AA8C45EA19}"/>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6747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7AEEA-EEB7-9E36-DADD-E108152496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D48CC5-8DDC-C007-7FC5-DD7C844AD340}"/>
              </a:ext>
            </a:extLst>
          </p:cNvPr>
          <p:cNvSpPr>
            <a:spLocks noGrp="1"/>
          </p:cNvSpPr>
          <p:nvPr>
            <p:ph type="title"/>
          </p:nvPr>
        </p:nvSpPr>
        <p:spPr/>
        <p:txBody>
          <a:bodyPr>
            <a:normAutofit/>
          </a:bodyPr>
          <a:lstStyle/>
          <a:p>
            <a:r>
              <a:rPr lang="en-US" dirty="0"/>
              <a:t>10.2. Create context class</a:t>
            </a:r>
          </a:p>
        </p:txBody>
      </p:sp>
      <p:sp>
        <p:nvSpPr>
          <p:cNvPr id="4" name="Date Placeholder 3">
            <a:extLst>
              <a:ext uri="{FF2B5EF4-FFF2-40B4-BE49-F238E27FC236}">
                <a16:creationId xmlns:a16="http://schemas.microsoft.com/office/drawing/2014/main" id="{E94F5351-E4D0-BEC6-160B-835307C7E74F}"/>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45F32721-5CAC-B809-5453-824EFB551505}"/>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6204F78F-52A6-3392-4A9E-330C12FE3296}"/>
              </a:ext>
            </a:extLst>
          </p:cNvPr>
          <p:cNvSpPr>
            <a:spLocks noGrp="1"/>
          </p:cNvSpPr>
          <p:nvPr>
            <p:ph type="sldNum" sz="quarter" idx="4"/>
          </p:nvPr>
        </p:nvSpPr>
        <p:spPr/>
        <p:txBody>
          <a:bodyPr/>
          <a:lstStyle/>
          <a:p>
            <a:fld id="{F4E32468-D4D3-45A6-A508-7622D5375F4E}" type="slidenum">
              <a:rPr lang="en-US" smtClean="0"/>
              <a:pPr/>
              <a:t>29</a:t>
            </a:fld>
            <a:endParaRPr lang="en-US"/>
          </a:p>
        </p:txBody>
      </p:sp>
      <p:sp>
        <p:nvSpPr>
          <p:cNvPr id="2" name="Content Placeholder 1">
            <a:extLst>
              <a:ext uri="{FF2B5EF4-FFF2-40B4-BE49-F238E27FC236}">
                <a16:creationId xmlns:a16="http://schemas.microsoft.com/office/drawing/2014/main" id="{EB2E9137-EA5E-4085-6D2C-439AE7406E0C}"/>
              </a:ext>
            </a:extLst>
          </p:cNvPr>
          <p:cNvSpPr>
            <a:spLocks noGrp="1"/>
          </p:cNvSpPr>
          <p:nvPr>
            <p:ph idx="1"/>
          </p:nvPr>
        </p:nvSpPr>
        <p:spPr/>
        <p:txBody>
          <a:bodyPr>
            <a:normAutofit/>
          </a:bodyPr>
          <a:lstStyle/>
          <a:p>
            <a:pPr lvl="0" algn="just" eaLnBrk="0" fontAlgn="base" hangingPunct="0">
              <a:lnSpc>
                <a:spcPct val="120000"/>
              </a:lnSpc>
              <a:spcAft>
                <a:spcPct val="0"/>
              </a:spcAft>
              <a:buSzTx/>
            </a:pPr>
            <a:endParaRPr lang="en-US" altLang="en-US" sz="2000" dirty="0"/>
          </a:p>
          <a:p>
            <a:pPr algn="just"/>
            <a:endParaRPr lang="en-US" dirty="0">
              <a:latin typeface="Times New Roman" panose="02020603050405020304" pitchFamily="18" charset="0"/>
              <a:cs typeface="Times New Roman" panose="02020603050405020304" pitchFamily="18" charset="0"/>
            </a:endParaRPr>
          </a:p>
        </p:txBody>
      </p:sp>
      <p:pic>
        <p:nvPicPr>
          <p:cNvPr id="6146" name="Picture 2" descr="ef project 1">
            <a:extLst>
              <a:ext uri="{FF2B5EF4-FFF2-40B4-BE49-F238E27FC236}">
                <a16:creationId xmlns:a16="http://schemas.microsoft.com/office/drawing/2014/main" id="{CF89F193-5AF4-90C3-5821-E9DFE5BC6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909" y="769672"/>
            <a:ext cx="8407211" cy="5250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618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1 Creating an Entity Data Model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30</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dirty="0">
                <a:solidFill>
                  <a:srgbClr val="181717"/>
                </a:solidFill>
                <a:latin typeface="Verdana" panose="020B0604030504040204" pitchFamily="34" charset="0"/>
              </a:rPr>
              <a:t>S</a:t>
            </a:r>
            <a:r>
              <a:rPr lang="en-US" b="0" i="0" dirty="0">
                <a:solidFill>
                  <a:srgbClr val="181717"/>
                </a:solidFill>
                <a:effectLst/>
                <a:latin typeface="Verdana" panose="020B0604030504040204" pitchFamily="34" charset="0"/>
              </a:rPr>
              <a:t>elect the </a:t>
            </a:r>
            <a:r>
              <a:rPr lang="en-US" b="1" i="0" dirty="0">
                <a:solidFill>
                  <a:srgbClr val="181717"/>
                </a:solidFill>
                <a:effectLst/>
                <a:latin typeface="Verdana" panose="020B0604030504040204" pitchFamily="34" charset="0"/>
              </a:rPr>
              <a:t>EF Designer from database</a:t>
            </a:r>
            <a:r>
              <a:rPr lang="en-US" b="0" i="0" dirty="0">
                <a:solidFill>
                  <a:srgbClr val="181717"/>
                </a:solidFill>
                <a:effectLst/>
                <a:latin typeface="Verdana" panose="020B0604030504040204" pitchFamily="34" charset="0"/>
              </a:rPr>
              <a:t> option and click </a:t>
            </a:r>
            <a:r>
              <a:rPr lang="en-US" b="1" i="0" dirty="0">
                <a:solidFill>
                  <a:srgbClr val="181717"/>
                </a:solidFill>
                <a:effectLst/>
                <a:latin typeface="Verdana" panose="020B0604030504040204" pitchFamily="34" charset="0"/>
              </a:rPr>
              <a:t>Next</a:t>
            </a:r>
            <a:r>
              <a:rPr lang="en-US" b="0" i="0" dirty="0">
                <a:solidFill>
                  <a:srgbClr val="181717"/>
                </a:solidFill>
                <a:effectLst/>
                <a:latin typeface="Verdana" panose="020B0604030504040204" pitchFamily="34" charset="0"/>
              </a:rPr>
              <a:t>.</a:t>
            </a:r>
            <a:endParaRPr lang="en-US" dirty="0">
              <a:latin typeface="Times New Roman" panose="02020603050405020304" pitchFamily="18" charset="0"/>
              <a:cs typeface="Times New Roman" panose="02020603050405020304" pitchFamily="18" charset="0"/>
            </a:endParaRPr>
          </a:p>
        </p:txBody>
      </p:sp>
      <p:pic>
        <p:nvPicPr>
          <p:cNvPr id="15362" name="Picture 2" descr="Entity Framework Tutorial">
            <a:extLst>
              <a:ext uri="{FF2B5EF4-FFF2-40B4-BE49-F238E27FC236}">
                <a16:creationId xmlns:a16="http://schemas.microsoft.com/office/drawing/2014/main" id="{9BD575A5-D036-4544-92D6-D94F7821C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981200"/>
            <a:ext cx="4876800" cy="4353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545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1 Creating an Entity Data Model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31</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err="1">
                <a:solidFill>
                  <a:srgbClr val="181717"/>
                </a:solidFill>
                <a:effectLst/>
                <a:latin typeface="Verdana" panose="020B0604030504040204" pitchFamily="34" charset="0"/>
              </a:rPr>
              <a:t>School.edmx</a:t>
            </a:r>
            <a:r>
              <a:rPr lang="en-US" b="0" i="0" dirty="0">
                <a:solidFill>
                  <a:srgbClr val="181717"/>
                </a:solidFill>
                <a:effectLst/>
                <a:latin typeface="Verdana" panose="020B0604030504040204" pitchFamily="34" charset="0"/>
              </a:rPr>
              <a:t> displays all the entities for the selected tables and the relationships between them</a:t>
            </a:r>
            <a:endParaRPr lang="en-US" dirty="0">
              <a:latin typeface="Times New Roman" panose="02020603050405020304" pitchFamily="18" charset="0"/>
              <a:cs typeface="Times New Roman" panose="02020603050405020304" pitchFamily="18" charset="0"/>
            </a:endParaRPr>
          </a:p>
        </p:txBody>
      </p:sp>
      <p:pic>
        <p:nvPicPr>
          <p:cNvPr id="16386" name="Picture 2" descr="Entity Framework Tutorial">
            <a:extLst>
              <a:ext uri="{FF2B5EF4-FFF2-40B4-BE49-F238E27FC236}">
                <a16:creationId xmlns:a16="http://schemas.microsoft.com/office/drawing/2014/main" id="{9DE3EB8D-6C6C-4C95-88D5-51A20A579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2390775"/>
            <a:ext cx="8763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90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1 Creating an Entity Data Model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32</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181717"/>
                </a:solidFill>
                <a:effectLst/>
                <a:latin typeface="Verdana" panose="020B0604030504040204" pitchFamily="34" charset="0"/>
              </a:rPr>
              <a:t>EDM adds the provider and connection string settings in the </a:t>
            </a:r>
            <a:r>
              <a:rPr lang="en-US" b="0" i="0" dirty="0" err="1">
                <a:solidFill>
                  <a:srgbClr val="181717"/>
                </a:solidFill>
                <a:effectLst/>
                <a:latin typeface="Verdana" panose="020B0604030504040204" pitchFamily="34" charset="0"/>
              </a:rPr>
              <a:t>App.config</a:t>
            </a:r>
            <a:r>
              <a:rPr lang="en-US" b="0" i="0" dirty="0">
                <a:solidFill>
                  <a:srgbClr val="181717"/>
                </a:solidFill>
                <a:effectLst/>
                <a:latin typeface="Verdana" panose="020B0604030504040204" pitchFamily="34" charset="0"/>
              </a:rPr>
              <a:t> file, as shown below:</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F242AB4-B0CF-403F-9345-D8B2EE38A335}"/>
              </a:ext>
            </a:extLst>
          </p:cNvPr>
          <p:cNvPicPr>
            <a:picLocks noChangeAspect="1"/>
          </p:cNvPicPr>
          <p:nvPr/>
        </p:nvPicPr>
        <p:blipFill>
          <a:blip r:embed="rId2"/>
          <a:stretch>
            <a:fillRect/>
          </a:stretch>
        </p:blipFill>
        <p:spPr>
          <a:xfrm>
            <a:off x="838200" y="1910427"/>
            <a:ext cx="7239000" cy="4630021"/>
          </a:xfrm>
          <a:prstGeom prst="rect">
            <a:avLst/>
          </a:prstGeom>
        </p:spPr>
      </p:pic>
    </p:spTree>
    <p:extLst>
      <p:ext uri="{BB962C8B-B14F-4D97-AF65-F5344CB8AC3E}">
        <p14:creationId xmlns:p14="http://schemas.microsoft.com/office/powerpoint/2010/main" val="1381117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1 Creating an Entity Data Model</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33</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181717"/>
                </a:solidFill>
                <a:effectLst/>
                <a:latin typeface="Verdana" panose="020B0604030504040204" pitchFamily="34" charset="0"/>
              </a:rPr>
              <a:t>EDM adds the provider and connection string settings in the </a:t>
            </a:r>
            <a:r>
              <a:rPr lang="en-US" b="0" i="0" dirty="0" err="1">
                <a:solidFill>
                  <a:srgbClr val="181717"/>
                </a:solidFill>
                <a:effectLst/>
                <a:latin typeface="Verdana" panose="020B0604030504040204" pitchFamily="34" charset="0"/>
              </a:rPr>
              <a:t>App.config</a:t>
            </a:r>
            <a:r>
              <a:rPr lang="en-US" b="0" i="0" dirty="0">
                <a:solidFill>
                  <a:srgbClr val="181717"/>
                </a:solidFill>
                <a:effectLst/>
                <a:latin typeface="Verdana" panose="020B0604030504040204" pitchFamily="34" charset="0"/>
              </a:rPr>
              <a:t> file, as shown below:</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F242AB4-B0CF-403F-9345-D8B2EE38A335}"/>
              </a:ext>
            </a:extLst>
          </p:cNvPr>
          <p:cNvPicPr>
            <a:picLocks noChangeAspect="1"/>
          </p:cNvPicPr>
          <p:nvPr/>
        </p:nvPicPr>
        <p:blipFill>
          <a:blip r:embed="rId2"/>
          <a:stretch>
            <a:fillRect/>
          </a:stretch>
        </p:blipFill>
        <p:spPr>
          <a:xfrm>
            <a:off x="838200" y="1910427"/>
            <a:ext cx="7239000" cy="4630021"/>
          </a:xfrm>
          <a:prstGeom prst="rect">
            <a:avLst/>
          </a:prstGeom>
        </p:spPr>
      </p:pic>
    </p:spTree>
    <p:extLst>
      <p:ext uri="{BB962C8B-B14F-4D97-AF65-F5344CB8AC3E}">
        <p14:creationId xmlns:p14="http://schemas.microsoft.com/office/powerpoint/2010/main" val="4186493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2 Model Brower</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34</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endParaRPr lang="en-US" dirty="0">
              <a:latin typeface="Times New Roman" panose="02020603050405020304" pitchFamily="18" charset="0"/>
              <a:cs typeface="Times New Roman" panose="02020603050405020304" pitchFamily="18" charset="0"/>
            </a:endParaRPr>
          </a:p>
        </p:txBody>
      </p:sp>
      <p:pic>
        <p:nvPicPr>
          <p:cNvPr id="17410" name="Picture 2" descr="Entity Framework 5.0 Tutorial">
            <a:extLst>
              <a:ext uri="{FF2B5EF4-FFF2-40B4-BE49-F238E27FC236}">
                <a16:creationId xmlns:a16="http://schemas.microsoft.com/office/drawing/2014/main" id="{922A4DCD-40DE-4213-97BF-78B3FBD12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08626"/>
            <a:ext cx="4267200" cy="556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431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35</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err="1">
                <a:solidFill>
                  <a:srgbClr val="181717"/>
                </a:solidFill>
                <a:effectLst/>
                <a:latin typeface="Verdana" panose="020B0604030504040204" pitchFamily="34" charset="0"/>
              </a:rPr>
              <a:t>DbContext</a:t>
            </a:r>
            <a:r>
              <a:rPr lang="en-US" b="0" i="0" dirty="0">
                <a:solidFill>
                  <a:srgbClr val="181717"/>
                </a:solidFill>
                <a:effectLst/>
                <a:latin typeface="Verdana" panose="020B0604030504040204" pitchFamily="34" charset="0"/>
              </a:rPr>
              <a:t> is an important class in Entity Framework API. It is a bridge between your domain or entity classes and the database.</a:t>
            </a:r>
            <a:endParaRPr lang="en-US" dirty="0">
              <a:latin typeface="Times New Roman" panose="02020603050405020304" pitchFamily="18" charset="0"/>
              <a:cs typeface="Times New Roman" panose="02020603050405020304" pitchFamily="18" charset="0"/>
            </a:endParaRPr>
          </a:p>
        </p:txBody>
      </p:sp>
      <p:pic>
        <p:nvPicPr>
          <p:cNvPr id="20482" name="Picture 2" descr="Entity Framework 5.0 Tutorial">
            <a:extLst>
              <a:ext uri="{FF2B5EF4-FFF2-40B4-BE49-F238E27FC236}">
                <a16:creationId xmlns:a16="http://schemas.microsoft.com/office/drawing/2014/main" id="{0D08767B-F8DC-4F20-9EE7-B506CE331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451048"/>
            <a:ext cx="817235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983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36</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err="1">
                <a:solidFill>
                  <a:srgbClr val="181717"/>
                </a:solidFill>
                <a:effectLst/>
                <a:latin typeface="Verdana" panose="020B0604030504040204" pitchFamily="34" charset="0"/>
              </a:rPr>
              <a:t>DbContext</a:t>
            </a:r>
            <a:r>
              <a:rPr lang="en-US" b="0" i="0" dirty="0">
                <a:solidFill>
                  <a:srgbClr val="181717"/>
                </a:solidFill>
                <a:effectLst/>
                <a:latin typeface="Verdana" panose="020B0604030504040204" pitchFamily="34" charset="0"/>
              </a:rPr>
              <a:t> is an important class in Entity Framework API. It is a bridge between your domain or entity classes and the database.</a:t>
            </a:r>
            <a:endParaRPr lang="en-US" dirty="0">
              <a:latin typeface="Times New Roman" panose="02020603050405020304" pitchFamily="18" charset="0"/>
              <a:cs typeface="Times New Roman" panose="02020603050405020304" pitchFamily="18" charset="0"/>
            </a:endParaRPr>
          </a:p>
        </p:txBody>
      </p:sp>
      <p:pic>
        <p:nvPicPr>
          <p:cNvPr id="21506" name="Picture 2" descr="Entity Framework dbcontext">
            <a:extLst>
              <a:ext uri="{FF2B5EF4-FFF2-40B4-BE49-F238E27FC236}">
                <a16:creationId xmlns:a16="http://schemas.microsoft.com/office/drawing/2014/main" id="{2FDE6C83-5048-49C1-9547-EE337C688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514600"/>
            <a:ext cx="6753225" cy="218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30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37</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fontScale="92500" lnSpcReduction="10000"/>
          </a:bodyPr>
          <a:lstStyle/>
          <a:p>
            <a:pPr algn="just"/>
            <a:r>
              <a:rPr lang="en-US" sz="2600" b="0" i="0" dirty="0" err="1">
                <a:solidFill>
                  <a:srgbClr val="181717"/>
                </a:solidFill>
                <a:effectLst/>
                <a:latin typeface="Times New Roman" panose="02020603050405020304" pitchFamily="18" charset="0"/>
                <a:cs typeface="Times New Roman" panose="02020603050405020304" pitchFamily="18" charset="0"/>
              </a:rPr>
              <a:t>DbContext</a:t>
            </a:r>
            <a:r>
              <a:rPr lang="en-US" sz="2600" b="0" i="0" dirty="0">
                <a:solidFill>
                  <a:srgbClr val="181717"/>
                </a:solidFill>
                <a:effectLst/>
                <a:latin typeface="Times New Roman" panose="02020603050405020304" pitchFamily="18" charset="0"/>
                <a:cs typeface="Times New Roman" panose="02020603050405020304" pitchFamily="18" charset="0"/>
              </a:rPr>
              <a:t> is the primary class that is responsible for interacting with the database. It is responsible for the following activities: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Querying:</a:t>
            </a:r>
            <a:r>
              <a:rPr lang="en-US" sz="2200" b="0" i="0" dirty="0">
                <a:solidFill>
                  <a:srgbClr val="181717"/>
                </a:solidFill>
                <a:effectLst/>
                <a:latin typeface="Times New Roman" panose="02020603050405020304" pitchFamily="18" charset="0"/>
                <a:cs typeface="Times New Roman" panose="02020603050405020304" pitchFamily="18" charset="0"/>
              </a:rPr>
              <a:t> Converts LINQ-to-Entities queries to SQL query and sends them to the database.</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Change Tracking:</a:t>
            </a:r>
            <a:r>
              <a:rPr lang="en-US" sz="2200" b="0" i="0" dirty="0">
                <a:solidFill>
                  <a:srgbClr val="181717"/>
                </a:solidFill>
                <a:effectLst/>
                <a:latin typeface="Times New Roman" panose="02020603050405020304" pitchFamily="18" charset="0"/>
                <a:cs typeface="Times New Roman" panose="02020603050405020304" pitchFamily="18" charset="0"/>
              </a:rPr>
              <a:t> Keeps track of changes that occurred on the entities after querying from the database.</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Persisting Data:</a:t>
            </a:r>
            <a:r>
              <a:rPr lang="en-US" sz="2200" b="0" i="0" dirty="0">
                <a:solidFill>
                  <a:srgbClr val="181717"/>
                </a:solidFill>
                <a:effectLst/>
                <a:latin typeface="Times New Roman" panose="02020603050405020304" pitchFamily="18" charset="0"/>
                <a:cs typeface="Times New Roman" panose="02020603050405020304" pitchFamily="18" charset="0"/>
              </a:rPr>
              <a:t> Performs the Insert, Update and Delete operations to the database, based on entity states.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Caching:</a:t>
            </a:r>
            <a:r>
              <a:rPr lang="en-US" sz="2200" b="0" i="0" dirty="0">
                <a:solidFill>
                  <a:srgbClr val="181717"/>
                </a:solidFill>
                <a:effectLst/>
                <a:latin typeface="Times New Roman" panose="02020603050405020304" pitchFamily="18" charset="0"/>
                <a:cs typeface="Times New Roman" panose="02020603050405020304" pitchFamily="18" charset="0"/>
              </a:rPr>
              <a:t> Provides first level caching by default. It stores the entities which have been retrieved during the life time of a context class.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Manage Relationship:</a:t>
            </a:r>
            <a:r>
              <a:rPr lang="en-US" sz="2200" b="0" i="0" dirty="0">
                <a:solidFill>
                  <a:srgbClr val="181717"/>
                </a:solidFill>
                <a:effectLst/>
                <a:latin typeface="Times New Roman" panose="02020603050405020304" pitchFamily="18" charset="0"/>
                <a:cs typeface="Times New Roman" panose="02020603050405020304" pitchFamily="18" charset="0"/>
              </a:rPr>
              <a:t> Manages relationships using CSDL, MSL and SSDL in Db-First or Model-First approach, and using fluent API configurations in Code-First approach.</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Object Materialization:</a:t>
            </a:r>
            <a:r>
              <a:rPr lang="en-US" sz="2200" b="0" i="0" dirty="0">
                <a:solidFill>
                  <a:srgbClr val="181717"/>
                </a:solidFill>
                <a:effectLst/>
                <a:latin typeface="Times New Roman" panose="02020603050405020304" pitchFamily="18" charset="0"/>
                <a:cs typeface="Times New Roman" panose="02020603050405020304" pitchFamily="18" charset="0"/>
              </a:rPr>
              <a:t> Converts raw data from the database into entity objects.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7914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38</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fontScale="92500" lnSpcReduction="10000"/>
          </a:bodyPr>
          <a:lstStyle/>
          <a:p>
            <a:pPr algn="just"/>
            <a:r>
              <a:rPr lang="en-US" sz="2600" b="0" i="0" dirty="0" err="1">
                <a:solidFill>
                  <a:srgbClr val="181717"/>
                </a:solidFill>
                <a:effectLst/>
                <a:latin typeface="Times New Roman" panose="02020603050405020304" pitchFamily="18" charset="0"/>
                <a:cs typeface="Times New Roman" panose="02020603050405020304" pitchFamily="18" charset="0"/>
              </a:rPr>
              <a:t>DbContext</a:t>
            </a:r>
            <a:r>
              <a:rPr lang="en-US" sz="2600" b="0" i="0" dirty="0">
                <a:solidFill>
                  <a:srgbClr val="181717"/>
                </a:solidFill>
                <a:effectLst/>
                <a:latin typeface="Times New Roman" panose="02020603050405020304" pitchFamily="18" charset="0"/>
                <a:cs typeface="Times New Roman" panose="02020603050405020304" pitchFamily="18" charset="0"/>
              </a:rPr>
              <a:t> is the primary class that is responsible for interacting with the database. It is responsible for the following activities: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Querying:</a:t>
            </a:r>
            <a:r>
              <a:rPr lang="en-US" sz="2200" b="0" i="0" dirty="0">
                <a:solidFill>
                  <a:srgbClr val="181717"/>
                </a:solidFill>
                <a:effectLst/>
                <a:latin typeface="Times New Roman" panose="02020603050405020304" pitchFamily="18" charset="0"/>
                <a:cs typeface="Times New Roman" panose="02020603050405020304" pitchFamily="18" charset="0"/>
              </a:rPr>
              <a:t> Converts LINQ-to-Entities queries to SQL query and sends them to the database.</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Change Tracking:</a:t>
            </a:r>
            <a:r>
              <a:rPr lang="en-US" sz="2200" b="0" i="0" dirty="0">
                <a:solidFill>
                  <a:srgbClr val="181717"/>
                </a:solidFill>
                <a:effectLst/>
                <a:latin typeface="Times New Roman" panose="02020603050405020304" pitchFamily="18" charset="0"/>
                <a:cs typeface="Times New Roman" panose="02020603050405020304" pitchFamily="18" charset="0"/>
              </a:rPr>
              <a:t> Keeps track of changes that occurred on the entities after querying from the database.</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Persisting Data:</a:t>
            </a:r>
            <a:r>
              <a:rPr lang="en-US" sz="2200" b="0" i="0" dirty="0">
                <a:solidFill>
                  <a:srgbClr val="181717"/>
                </a:solidFill>
                <a:effectLst/>
                <a:latin typeface="Times New Roman" panose="02020603050405020304" pitchFamily="18" charset="0"/>
                <a:cs typeface="Times New Roman" panose="02020603050405020304" pitchFamily="18" charset="0"/>
              </a:rPr>
              <a:t> Performs the Insert, Update and Delete operations to the database, based on entity states.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Caching:</a:t>
            </a:r>
            <a:r>
              <a:rPr lang="en-US" sz="2200" b="0" i="0" dirty="0">
                <a:solidFill>
                  <a:srgbClr val="181717"/>
                </a:solidFill>
                <a:effectLst/>
                <a:latin typeface="Times New Roman" panose="02020603050405020304" pitchFamily="18" charset="0"/>
                <a:cs typeface="Times New Roman" panose="02020603050405020304" pitchFamily="18" charset="0"/>
              </a:rPr>
              <a:t> Provides first level caching by default. It stores the entities which have been retrieved during the life time of a context class.</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Manage Relationship:</a:t>
            </a:r>
            <a:r>
              <a:rPr lang="en-US" sz="2200" b="0" i="0" dirty="0">
                <a:solidFill>
                  <a:srgbClr val="181717"/>
                </a:solidFill>
                <a:effectLst/>
                <a:latin typeface="Times New Roman" panose="02020603050405020304" pitchFamily="18" charset="0"/>
                <a:cs typeface="Times New Roman" panose="02020603050405020304" pitchFamily="18" charset="0"/>
              </a:rPr>
              <a:t> Manages relationships using CSDL, MSL and SSDL in Db-First or Model-First approach, and using fluent API configurations in Code-First approach.</a:t>
            </a:r>
          </a:p>
          <a:p>
            <a:pPr lvl="1" algn="just">
              <a:buFont typeface="Arial" panose="020B0604020202020204" pitchFamily="34" charset="0"/>
              <a:buChar char="•"/>
            </a:pPr>
            <a:r>
              <a:rPr lang="en-US" sz="2200" b="1" i="0" dirty="0">
                <a:solidFill>
                  <a:srgbClr val="181717"/>
                </a:solidFill>
                <a:effectLst/>
                <a:latin typeface="Times New Roman" panose="02020603050405020304" pitchFamily="18" charset="0"/>
                <a:cs typeface="Times New Roman" panose="02020603050405020304" pitchFamily="18" charset="0"/>
              </a:rPr>
              <a:t>Object Materialization:</a:t>
            </a:r>
            <a:r>
              <a:rPr lang="en-US" sz="2200" b="0" i="0" dirty="0">
                <a:solidFill>
                  <a:srgbClr val="181717"/>
                </a:solidFill>
                <a:effectLst/>
                <a:latin typeface="Times New Roman" panose="02020603050405020304" pitchFamily="18" charset="0"/>
                <a:cs typeface="Times New Roman" panose="02020603050405020304" pitchFamily="18" charset="0"/>
              </a:rPr>
              <a:t> Converts raw data from the database into entity objects.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7438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39</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sz="2000" b="0" i="0" dirty="0" err="1">
                <a:solidFill>
                  <a:srgbClr val="181717"/>
                </a:solidFill>
                <a:effectLst/>
                <a:latin typeface="Segoe UI" panose="020B0502040204020203" pitchFamily="34" charset="0"/>
              </a:rPr>
              <a:t>DbContext</a:t>
            </a:r>
            <a:r>
              <a:rPr lang="en-US" sz="2000" b="0" i="0" dirty="0">
                <a:solidFill>
                  <a:srgbClr val="181717"/>
                </a:solidFill>
                <a:effectLst/>
                <a:latin typeface="Segoe UI" panose="020B0502040204020203" pitchFamily="34" charset="0"/>
              </a:rPr>
              <a:t> Methods</a:t>
            </a:r>
          </a:p>
        </p:txBody>
      </p:sp>
      <p:pic>
        <p:nvPicPr>
          <p:cNvPr id="8" name="Picture 7">
            <a:extLst>
              <a:ext uri="{FF2B5EF4-FFF2-40B4-BE49-F238E27FC236}">
                <a16:creationId xmlns:a16="http://schemas.microsoft.com/office/drawing/2014/main" id="{5412BAB2-9F8D-42B0-88A3-CC28CA3EA89D}"/>
              </a:ext>
            </a:extLst>
          </p:cNvPr>
          <p:cNvPicPr>
            <a:picLocks noChangeAspect="1"/>
          </p:cNvPicPr>
          <p:nvPr/>
        </p:nvPicPr>
        <p:blipFill>
          <a:blip r:embed="rId2"/>
          <a:stretch>
            <a:fillRect/>
          </a:stretch>
        </p:blipFill>
        <p:spPr>
          <a:xfrm>
            <a:off x="304800" y="1600200"/>
            <a:ext cx="8236989" cy="4110191"/>
          </a:xfrm>
          <a:prstGeom prst="rect">
            <a:avLst/>
          </a:prstGeom>
        </p:spPr>
      </p:pic>
    </p:spTree>
    <p:extLst>
      <p:ext uri="{BB962C8B-B14F-4D97-AF65-F5344CB8AC3E}">
        <p14:creationId xmlns:p14="http://schemas.microsoft.com/office/powerpoint/2010/main" val="3172904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40</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1" i="0" dirty="0" err="1">
                <a:solidFill>
                  <a:srgbClr val="181717"/>
                </a:solidFill>
                <a:effectLst/>
                <a:latin typeface="Segoe UI" panose="020B0502040204020203" pitchFamily="34" charset="0"/>
              </a:rPr>
              <a:t>DbContext</a:t>
            </a:r>
            <a:r>
              <a:rPr lang="en-US" b="1" i="0" dirty="0">
                <a:solidFill>
                  <a:srgbClr val="181717"/>
                </a:solidFill>
                <a:effectLst/>
                <a:latin typeface="Segoe UI" panose="020B0502040204020203" pitchFamily="34" charset="0"/>
              </a:rPr>
              <a:t> Methods</a:t>
            </a:r>
          </a:p>
        </p:txBody>
      </p:sp>
      <p:pic>
        <p:nvPicPr>
          <p:cNvPr id="8" name="Picture 7">
            <a:extLst>
              <a:ext uri="{FF2B5EF4-FFF2-40B4-BE49-F238E27FC236}">
                <a16:creationId xmlns:a16="http://schemas.microsoft.com/office/drawing/2014/main" id="{5412BAB2-9F8D-42B0-88A3-CC28CA3EA89D}"/>
              </a:ext>
            </a:extLst>
          </p:cNvPr>
          <p:cNvPicPr>
            <a:picLocks noChangeAspect="1"/>
          </p:cNvPicPr>
          <p:nvPr/>
        </p:nvPicPr>
        <p:blipFill>
          <a:blip r:embed="rId2"/>
          <a:stretch>
            <a:fillRect/>
          </a:stretch>
        </p:blipFill>
        <p:spPr>
          <a:xfrm>
            <a:off x="304800" y="1600200"/>
            <a:ext cx="8236989" cy="4110191"/>
          </a:xfrm>
          <a:prstGeom prst="rect">
            <a:avLst/>
          </a:prstGeom>
        </p:spPr>
      </p:pic>
    </p:spTree>
    <p:extLst>
      <p:ext uri="{BB962C8B-B14F-4D97-AF65-F5344CB8AC3E}">
        <p14:creationId xmlns:p14="http://schemas.microsoft.com/office/powerpoint/2010/main" val="3156985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41</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1" i="0" dirty="0" err="1">
                <a:solidFill>
                  <a:srgbClr val="181717"/>
                </a:solidFill>
                <a:effectLst/>
                <a:latin typeface="Segoe UI" panose="020B0502040204020203" pitchFamily="34" charset="0"/>
              </a:rPr>
              <a:t>DbContext</a:t>
            </a:r>
            <a:r>
              <a:rPr lang="en-US" b="1" i="0" dirty="0">
                <a:solidFill>
                  <a:srgbClr val="181717"/>
                </a:solidFill>
                <a:effectLst/>
                <a:latin typeface="Segoe UI" panose="020B0502040204020203" pitchFamily="34" charset="0"/>
              </a:rPr>
              <a:t> Properties</a:t>
            </a:r>
          </a:p>
        </p:txBody>
      </p:sp>
      <p:pic>
        <p:nvPicPr>
          <p:cNvPr id="9" name="Picture 8">
            <a:extLst>
              <a:ext uri="{FF2B5EF4-FFF2-40B4-BE49-F238E27FC236}">
                <a16:creationId xmlns:a16="http://schemas.microsoft.com/office/drawing/2014/main" id="{563A21B5-FB00-439B-B72D-E35E9F3D1A5A}"/>
              </a:ext>
            </a:extLst>
          </p:cNvPr>
          <p:cNvPicPr>
            <a:picLocks noChangeAspect="1"/>
          </p:cNvPicPr>
          <p:nvPr/>
        </p:nvPicPr>
        <p:blipFill>
          <a:blip r:embed="rId2"/>
          <a:stretch>
            <a:fillRect/>
          </a:stretch>
        </p:blipFill>
        <p:spPr>
          <a:xfrm>
            <a:off x="25400" y="1752600"/>
            <a:ext cx="9144000" cy="2563996"/>
          </a:xfrm>
          <a:prstGeom prst="rect">
            <a:avLst/>
          </a:prstGeom>
        </p:spPr>
      </p:pic>
    </p:spTree>
    <p:extLst>
      <p:ext uri="{BB962C8B-B14F-4D97-AF65-F5344CB8AC3E}">
        <p14:creationId xmlns:p14="http://schemas.microsoft.com/office/powerpoint/2010/main" val="3652841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8. 3 </a:t>
            </a:r>
            <a:r>
              <a:rPr lang="en-US" dirty="0" err="1"/>
              <a:t>DBContext</a:t>
            </a:r>
            <a:endParaRPr lang="en-US" dirty="0"/>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42</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1" i="0" dirty="0" err="1">
                <a:solidFill>
                  <a:srgbClr val="181717"/>
                </a:solidFill>
                <a:effectLst/>
                <a:latin typeface="Segoe UI" panose="020B0502040204020203" pitchFamily="34" charset="0"/>
              </a:rPr>
              <a:t>DbContext</a:t>
            </a:r>
            <a:r>
              <a:rPr lang="en-US" b="1" i="0" dirty="0">
                <a:solidFill>
                  <a:srgbClr val="181717"/>
                </a:solidFill>
                <a:effectLst/>
                <a:latin typeface="Segoe UI" panose="020B0502040204020203" pitchFamily="34" charset="0"/>
              </a:rPr>
              <a:t> Properties</a:t>
            </a:r>
          </a:p>
        </p:txBody>
      </p:sp>
      <p:pic>
        <p:nvPicPr>
          <p:cNvPr id="9" name="Picture 8">
            <a:extLst>
              <a:ext uri="{FF2B5EF4-FFF2-40B4-BE49-F238E27FC236}">
                <a16:creationId xmlns:a16="http://schemas.microsoft.com/office/drawing/2014/main" id="{563A21B5-FB00-439B-B72D-E35E9F3D1A5A}"/>
              </a:ext>
            </a:extLst>
          </p:cNvPr>
          <p:cNvPicPr>
            <a:picLocks noChangeAspect="1"/>
          </p:cNvPicPr>
          <p:nvPr/>
        </p:nvPicPr>
        <p:blipFill>
          <a:blip r:embed="rId2"/>
          <a:stretch>
            <a:fillRect/>
          </a:stretch>
        </p:blipFill>
        <p:spPr>
          <a:xfrm>
            <a:off x="25400" y="1752600"/>
            <a:ext cx="9144000" cy="2563996"/>
          </a:xfrm>
          <a:prstGeom prst="rect">
            <a:avLst/>
          </a:prstGeom>
        </p:spPr>
      </p:pic>
    </p:spTree>
    <p:extLst>
      <p:ext uri="{BB962C8B-B14F-4D97-AF65-F5344CB8AC3E}">
        <p14:creationId xmlns:p14="http://schemas.microsoft.com/office/powerpoint/2010/main" val="834467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4 Add Entity</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43</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414141"/>
                </a:solidFill>
                <a:effectLst/>
                <a:latin typeface="Verdana" panose="020B0604030504040204" pitchFamily="34" charset="0"/>
              </a:rPr>
              <a:t>Add: Adds the given entity to the context with the Added state. When the changes are saved, the entities in the Added states are inserted into the database. After the changes are saved, the object state changes to Unchanged</a:t>
            </a:r>
          </a:p>
          <a:p>
            <a:r>
              <a:rPr lang="en-US" b="0" i="0" dirty="0">
                <a:solidFill>
                  <a:srgbClr val="414141"/>
                </a:solidFill>
                <a:effectLst/>
                <a:latin typeface="Verdana" panose="020B0604030504040204" pitchFamily="34" charset="0"/>
              </a:rPr>
              <a:t>Example:</a:t>
            </a:r>
            <a:br>
              <a:rPr lang="en-US" dirty="0"/>
            </a:br>
            <a:r>
              <a:rPr lang="en-US" b="0" i="0" dirty="0" err="1">
                <a:solidFill>
                  <a:srgbClr val="414141"/>
                </a:solidFill>
                <a:effectLst/>
                <a:latin typeface="Verdana" panose="020B0604030504040204" pitchFamily="34" charset="0"/>
              </a:rPr>
              <a:t>dbcontext.Students.Add</a:t>
            </a:r>
            <a:r>
              <a:rPr lang="en-US" b="0" i="0" dirty="0">
                <a:solidFill>
                  <a:srgbClr val="414141"/>
                </a:solidFill>
                <a:effectLst/>
                <a:latin typeface="Verdana" panose="020B0604030504040204" pitchFamily="34" charset="0"/>
              </a:rPr>
              <a:t>(</a:t>
            </a:r>
            <a:r>
              <a:rPr lang="en-US" b="0" i="0" dirty="0" err="1">
                <a:solidFill>
                  <a:srgbClr val="414141"/>
                </a:solidFill>
                <a:effectLst/>
                <a:latin typeface="Verdana" panose="020B0604030504040204" pitchFamily="34" charset="0"/>
              </a:rPr>
              <a:t>studentEntity</a:t>
            </a:r>
            <a:r>
              <a:rPr lang="en-US" b="0" i="0" dirty="0">
                <a:solidFill>
                  <a:srgbClr val="414141"/>
                </a:solidFill>
                <a:effectLst/>
                <a:latin typeface="Verdana" panose="020B0604030504040204" pitchFamily="34" charset="0"/>
              </a:rPr>
              <a:t>)</a:t>
            </a:r>
            <a:endParaRPr lang="en-US" b="1" i="0" dirty="0">
              <a:solidFill>
                <a:srgbClr val="181717"/>
              </a:solidFill>
              <a:effectLst/>
              <a:latin typeface="Segoe UI" panose="020B0502040204020203" pitchFamily="34" charset="0"/>
            </a:endParaRPr>
          </a:p>
          <a:p>
            <a:pPr algn="just"/>
            <a:endParaRPr lang="en-US" b="1" i="0" dirty="0">
              <a:solidFill>
                <a:srgbClr val="181717"/>
              </a:solidFill>
              <a:effectLst/>
              <a:latin typeface="Segoe UI" panose="020B0502040204020203" pitchFamily="34" charset="0"/>
            </a:endParaRPr>
          </a:p>
        </p:txBody>
      </p:sp>
    </p:spTree>
    <p:extLst>
      <p:ext uri="{BB962C8B-B14F-4D97-AF65-F5344CB8AC3E}">
        <p14:creationId xmlns:p14="http://schemas.microsoft.com/office/powerpoint/2010/main" val="2462230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5 Create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44</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414141"/>
                </a:solidFill>
                <a:effectLst/>
                <a:latin typeface="Times New Roman" panose="02020603050405020304" pitchFamily="18" charset="0"/>
                <a:cs typeface="Times New Roman" panose="02020603050405020304" pitchFamily="18" charset="0"/>
              </a:rPr>
              <a:t>Creates a new instance of an entity for the type of this set. This instance is not added or attached to the set.</a:t>
            </a:r>
          </a:p>
          <a:p>
            <a:r>
              <a:rPr lang="en-US" b="0" i="0" dirty="0">
                <a:solidFill>
                  <a:srgbClr val="414141"/>
                </a:solidFill>
                <a:effectLs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b="0" i="0" dirty="0">
                <a:solidFill>
                  <a:srgbClr val="414141"/>
                </a:solidFill>
                <a:effectLst/>
                <a:latin typeface="Times New Roman" panose="02020603050405020304" pitchFamily="18" charset="0"/>
                <a:cs typeface="Times New Roman" panose="02020603050405020304" pitchFamily="18" charset="0"/>
              </a:rPr>
              <a:t>var </a:t>
            </a:r>
            <a:r>
              <a:rPr lang="en-US" b="0" i="0" dirty="0" err="1">
                <a:solidFill>
                  <a:srgbClr val="414141"/>
                </a:solidFill>
                <a:effectLst/>
                <a:latin typeface="Times New Roman" panose="02020603050405020304" pitchFamily="18" charset="0"/>
                <a:cs typeface="Times New Roman" panose="02020603050405020304" pitchFamily="18" charset="0"/>
              </a:rPr>
              <a:t>newStudentEntity</a:t>
            </a:r>
            <a:r>
              <a:rPr lang="en-US" b="0" i="0" dirty="0">
                <a:solidFill>
                  <a:srgbClr val="414141"/>
                </a:solidFill>
                <a:effectLst/>
                <a:latin typeface="Times New Roman" panose="02020603050405020304" pitchFamily="18" charset="0"/>
                <a:cs typeface="Times New Roman" panose="02020603050405020304" pitchFamily="18" charset="0"/>
              </a:rPr>
              <a:t> = </a:t>
            </a:r>
            <a:r>
              <a:rPr lang="en-US" b="0" i="0" dirty="0" err="1">
                <a:solidFill>
                  <a:srgbClr val="414141"/>
                </a:solidFill>
                <a:effectLst/>
                <a:latin typeface="Times New Roman" panose="02020603050405020304" pitchFamily="18" charset="0"/>
                <a:cs typeface="Times New Roman" panose="02020603050405020304" pitchFamily="18" charset="0"/>
              </a:rPr>
              <a:t>dbcontext.Students.Create</a:t>
            </a:r>
            <a:r>
              <a:rPr lang="en-US" b="0" i="0" dirty="0">
                <a:solidFill>
                  <a:srgbClr val="414141"/>
                </a:solidFill>
                <a:effectLst/>
                <a:latin typeface="Times New Roman" panose="02020603050405020304" pitchFamily="18" charset="0"/>
                <a:cs typeface="Times New Roman" panose="02020603050405020304" pitchFamily="18" charset="0"/>
              </a:rPr>
              <a:t>();</a:t>
            </a:r>
            <a:endParaRPr lang="en-US" b="1" i="0" dirty="0">
              <a:solidFill>
                <a:srgbClr val="18171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564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5 Method of </a:t>
            </a:r>
            <a:r>
              <a:rPr lang="en-US" dirty="0" err="1"/>
              <a:t>Dbset</a:t>
            </a:r>
            <a:r>
              <a:rPr lang="en-US" dirty="0"/>
              <a:t> type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45</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414141"/>
                </a:solidFill>
                <a:effectLst/>
                <a:latin typeface="Times New Roman" panose="02020603050405020304" pitchFamily="18" charset="0"/>
                <a:cs typeface="Times New Roman" panose="02020603050405020304" pitchFamily="18" charset="0"/>
              </a:rPr>
              <a:t>Find(int): Uses the primary key value to find an entity tracked by the context.</a:t>
            </a:r>
          </a:p>
          <a:p>
            <a:r>
              <a:rPr lang="en-US" b="0" i="0" dirty="0">
                <a:solidFill>
                  <a:srgbClr val="414141"/>
                </a:solidFill>
                <a:effectLs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b="0" i="0" dirty="0">
                <a:solidFill>
                  <a:srgbClr val="414141"/>
                </a:solidFill>
                <a:effectLst/>
                <a:latin typeface="Times New Roman" panose="02020603050405020304" pitchFamily="18" charset="0"/>
                <a:cs typeface="Times New Roman" panose="02020603050405020304" pitchFamily="18" charset="0"/>
              </a:rPr>
              <a:t>Student </a:t>
            </a:r>
            <a:r>
              <a:rPr lang="en-US" b="0" i="0" dirty="0" err="1">
                <a:solidFill>
                  <a:srgbClr val="414141"/>
                </a:solidFill>
                <a:effectLst/>
                <a:latin typeface="Times New Roman" panose="02020603050405020304" pitchFamily="18" charset="0"/>
                <a:cs typeface="Times New Roman" panose="02020603050405020304" pitchFamily="18" charset="0"/>
              </a:rPr>
              <a:t>studEntity</a:t>
            </a:r>
            <a:r>
              <a:rPr lang="en-US" b="0" i="0" dirty="0">
                <a:solidFill>
                  <a:srgbClr val="414141"/>
                </a:solidFill>
                <a:effectLst/>
                <a:latin typeface="Times New Roman" panose="02020603050405020304" pitchFamily="18" charset="0"/>
                <a:cs typeface="Times New Roman" panose="02020603050405020304" pitchFamily="18" charset="0"/>
              </a:rPr>
              <a:t> = </a:t>
            </a:r>
            <a:r>
              <a:rPr lang="en-US" b="0" i="0" dirty="0" err="1">
                <a:solidFill>
                  <a:srgbClr val="414141"/>
                </a:solidFill>
                <a:effectLst/>
                <a:latin typeface="Times New Roman" panose="02020603050405020304" pitchFamily="18" charset="0"/>
                <a:cs typeface="Times New Roman" panose="02020603050405020304" pitchFamily="18" charset="0"/>
              </a:rPr>
              <a:t>dbcontext.Students.Find</a:t>
            </a:r>
            <a:r>
              <a:rPr lang="en-US" b="0" i="0" dirty="0">
                <a:solidFill>
                  <a:srgbClr val="414141"/>
                </a:solidFill>
                <a:effectLst/>
                <a:latin typeface="Times New Roman" panose="02020603050405020304" pitchFamily="18" charset="0"/>
                <a:cs typeface="Times New Roman" panose="02020603050405020304" pitchFamily="18" charset="0"/>
              </a:rPr>
              <a:t>(1); </a:t>
            </a:r>
            <a:r>
              <a:rPr lang="en-US" b="0" i="0" dirty="0" err="1">
                <a:solidFill>
                  <a:srgbClr val="414141"/>
                </a:solidFill>
                <a:effectLst/>
                <a:latin typeface="Times New Roman" panose="02020603050405020304" pitchFamily="18" charset="0"/>
                <a:cs typeface="Times New Roman" panose="02020603050405020304" pitchFamily="18" charset="0"/>
              </a:rPr>
              <a:t>ity</a:t>
            </a:r>
            <a:r>
              <a:rPr lang="en-US" b="0" i="0" dirty="0">
                <a:solidFill>
                  <a:srgbClr val="414141"/>
                </a:solidFill>
                <a:effectLst/>
                <a:latin typeface="Times New Roman" panose="02020603050405020304" pitchFamily="18" charset="0"/>
                <a:cs typeface="Times New Roman" panose="02020603050405020304" pitchFamily="18" charset="0"/>
              </a:rPr>
              <a:t> = </a:t>
            </a:r>
            <a:r>
              <a:rPr lang="en-US" b="0" i="0" dirty="0" err="1">
                <a:solidFill>
                  <a:srgbClr val="414141"/>
                </a:solidFill>
                <a:effectLst/>
                <a:latin typeface="Times New Roman" panose="02020603050405020304" pitchFamily="18" charset="0"/>
                <a:cs typeface="Times New Roman" panose="02020603050405020304" pitchFamily="18" charset="0"/>
              </a:rPr>
              <a:t>dbcontext.Students.Create</a:t>
            </a:r>
            <a:r>
              <a:rPr lang="en-US" b="0" i="0" dirty="0">
                <a:solidFill>
                  <a:srgbClr val="414141"/>
                </a:solidFill>
                <a:effectLst/>
                <a:latin typeface="Times New Roman" panose="02020603050405020304" pitchFamily="18" charset="0"/>
                <a:cs typeface="Times New Roman" panose="02020603050405020304" pitchFamily="18" charset="0"/>
              </a:rPr>
              <a:t>();</a:t>
            </a:r>
            <a:endParaRPr lang="en-US" b="1" i="0" dirty="0">
              <a:solidFill>
                <a:srgbClr val="18171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62982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5 Method of </a:t>
            </a:r>
            <a:r>
              <a:rPr lang="en-US" dirty="0" err="1"/>
              <a:t>Dbset</a:t>
            </a:r>
            <a:r>
              <a:rPr lang="en-US" dirty="0"/>
              <a:t> type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46</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414141"/>
                </a:solidFill>
                <a:effectLst/>
                <a:latin typeface="Times New Roman" panose="02020603050405020304" pitchFamily="18" charset="0"/>
                <a:cs typeface="Times New Roman" panose="02020603050405020304" pitchFamily="18" charset="0"/>
              </a:rPr>
              <a:t>Include: Returns the included non-generic LINQ to Entities query against a </a:t>
            </a:r>
            <a:r>
              <a:rPr lang="en-US" b="0" i="0" dirty="0" err="1">
                <a:solidFill>
                  <a:srgbClr val="414141"/>
                </a:solidFill>
                <a:effectLst/>
                <a:latin typeface="Times New Roman" panose="02020603050405020304" pitchFamily="18" charset="0"/>
                <a:cs typeface="Times New Roman" panose="02020603050405020304" pitchFamily="18" charset="0"/>
              </a:rPr>
              <a:t>DbContext</a:t>
            </a:r>
            <a:r>
              <a:rPr lang="en-US" b="0" i="0" dirty="0">
                <a:solidFill>
                  <a:srgbClr val="414141"/>
                </a:solidFill>
                <a:effectLst/>
                <a:latin typeface="Times New Roman" panose="02020603050405020304" pitchFamily="18" charset="0"/>
                <a:cs typeface="Times New Roman" panose="02020603050405020304" pitchFamily="18" charset="0"/>
              </a:rPr>
              <a:t>. (Inherited from </a:t>
            </a:r>
            <a:r>
              <a:rPr lang="en-US" b="0" i="0" dirty="0" err="1">
                <a:solidFill>
                  <a:srgbClr val="414141"/>
                </a:solidFill>
                <a:effectLst/>
                <a:latin typeface="Times New Roman" panose="02020603050405020304" pitchFamily="18" charset="0"/>
                <a:cs typeface="Times New Roman" panose="02020603050405020304" pitchFamily="18" charset="0"/>
              </a:rPr>
              <a:t>DbQuery</a:t>
            </a:r>
            <a:r>
              <a:rPr lang="en-US" b="0" i="0" dirty="0">
                <a:solidFill>
                  <a:srgbClr val="414141"/>
                </a:solidFill>
                <a:effectLst/>
                <a:latin typeface="Times New Roman" panose="02020603050405020304" pitchFamily="18" charset="0"/>
                <a:cs typeface="Times New Roman" panose="02020603050405020304" pitchFamily="18" charset="0"/>
              </a:rPr>
              <a:t>)</a:t>
            </a:r>
          </a:p>
          <a:p>
            <a:r>
              <a:rPr lang="en-US" b="0" i="0" dirty="0">
                <a:solidFill>
                  <a:srgbClr val="414141"/>
                </a:solidFill>
                <a:effectLst/>
                <a:latin typeface="Verdana" panose="020B0604030504040204" pitchFamily="34" charset="0"/>
              </a:rPr>
              <a:t> </a:t>
            </a:r>
            <a:r>
              <a:rPr lang="en-US" b="0" i="0" dirty="0">
                <a:solidFill>
                  <a:srgbClr val="414141"/>
                </a:solidFill>
                <a:effectLs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b="0" i="0" dirty="0">
                <a:solidFill>
                  <a:srgbClr val="414141"/>
                </a:solidFill>
                <a:effectLst/>
                <a:latin typeface="Times New Roman" panose="02020603050405020304" pitchFamily="18" charset="0"/>
                <a:cs typeface="Times New Roman" panose="02020603050405020304" pitchFamily="18" charset="0"/>
              </a:rPr>
              <a:t>var </a:t>
            </a:r>
            <a:r>
              <a:rPr lang="en-US" b="0" i="0" dirty="0" err="1">
                <a:solidFill>
                  <a:srgbClr val="414141"/>
                </a:solidFill>
                <a:effectLst/>
                <a:latin typeface="Times New Roman" panose="02020603050405020304" pitchFamily="18" charset="0"/>
                <a:cs typeface="Times New Roman" panose="02020603050405020304" pitchFamily="18" charset="0"/>
              </a:rPr>
              <a:t>studentList</a:t>
            </a:r>
            <a:r>
              <a:rPr lang="en-US" b="0" i="0" dirty="0">
                <a:solidFill>
                  <a:srgbClr val="414141"/>
                </a:solidFill>
                <a:effectLst/>
                <a:latin typeface="Times New Roman" panose="02020603050405020304" pitchFamily="18" charset="0"/>
                <a:cs typeface="Times New Roman" panose="02020603050405020304" pitchFamily="18" charset="0"/>
              </a:rPr>
              <a:t> = </a:t>
            </a:r>
            <a:r>
              <a:rPr lang="en-US" b="0" i="0" dirty="0" err="1">
                <a:solidFill>
                  <a:srgbClr val="414141"/>
                </a:solidFill>
                <a:effectLst/>
                <a:latin typeface="Times New Roman" panose="02020603050405020304" pitchFamily="18" charset="0"/>
                <a:cs typeface="Times New Roman" panose="02020603050405020304" pitchFamily="18" charset="0"/>
              </a:rPr>
              <a:t>dbcontext.Students.Include</a:t>
            </a:r>
            <a:r>
              <a:rPr lang="en-US" b="0" i="0" dirty="0">
                <a:solidFill>
                  <a:srgbClr val="414141"/>
                </a:solidFill>
                <a:effectLst/>
                <a:latin typeface="Times New Roman" panose="02020603050405020304" pitchFamily="18" charset="0"/>
                <a:cs typeface="Times New Roman" panose="02020603050405020304" pitchFamily="18" charset="0"/>
              </a:rPr>
              <a:t>(s =&gt; </a:t>
            </a:r>
            <a:r>
              <a:rPr lang="en-US" b="0" i="0" dirty="0" err="1">
                <a:solidFill>
                  <a:srgbClr val="414141"/>
                </a:solidFill>
                <a:effectLst/>
                <a:latin typeface="Times New Roman" panose="02020603050405020304" pitchFamily="18" charset="0"/>
                <a:cs typeface="Times New Roman" panose="02020603050405020304" pitchFamily="18" charset="0"/>
              </a:rPr>
              <a:t>s.StudentAddress</a:t>
            </a:r>
            <a:r>
              <a:rPr lang="en-US" b="0" i="0" dirty="0">
                <a:solidFill>
                  <a:srgbClr val="414141"/>
                </a:solidFill>
                <a:effectLst/>
                <a:latin typeface="Times New Roman" panose="02020603050405020304" pitchFamily="18" charset="0"/>
                <a:cs typeface="Times New Roman" panose="02020603050405020304" pitchFamily="18" charset="0"/>
              </a:rPr>
              <a:t>).</a:t>
            </a:r>
            <a:r>
              <a:rPr lang="en-US" b="0" i="0" dirty="0" err="1">
                <a:solidFill>
                  <a:srgbClr val="414141"/>
                </a:solidFill>
                <a:effectLst/>
                <a:latin typeface="Times New Roman" panose="02020603050405020304" pitchFamily="18" charset="0"/>
                <a:cs typeface="Times New Roman" panose="02020603050405020304" pitchFamily="18" charset="0"/>
              </a:rPr>
              <a:t>ToList</a:t>
            </a:r>
            <a:r>
              <a:rPr lang="en-US" b="0" i="0" dirty="0">
                <a:solidFill>
                  <a:srgbClr val="414141"/>
                </a:solidFill>
                <a:effectLst/>
                <a:latin typeface="Times New Roman" panose="02020603050405020304" pitchFamily="18" charset="0"/>
                <a:cs typeface="Times New Roman" panose="02020603050405020304" pitchFamily="18" charset="0"/>
              </a:rPr>
              <a:t>&lt;Student&gt;();</a:t>
            </a:r>
            <a:endParaRPr lang="en-US" b="1" i="0" dirty="0">
              <a:solidFill>
                <a:srgbClr val="18171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399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5 Method of </a:t>
            </a:r>
            <a:r>
              <a:rPr lang="en-US" dirty="0" err="1"/>
              <a:t>Dbset</a:t>
            </a:r>
            <a:r>
              <a:rPr lang="en-US" dirty="0"/>
              <a:t> type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47</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a:solidFill>
                  <a:srgbClr val="414141"/>
                </a:solidFill>
                <a:effectLst/>
                <a:latin typeface="Times New Roman" panose="02020603050405020304" pitchFamily="18" charset="0"/>
                <a:cs typeface="Times New Roman" panose="02020603050405020304" pitchFamily="18" charset="0"/>
              </a:rPr>
              <a:t>Remove: Marks the given entity as Deleted </a:t>
            </a:r>
          </a:p>
          <a:p>
            <a:r>
              <a:rPr lang="en-US" b="0" i="0" dirty="0">
                <a:solidFill>
                  <a:srgbClr val="414141"/>
                </a:solidFill>
                <a:effectLs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b="0" i="0" dirty="0" err="1">
                <a:solidFill>
                  <a:srgbClr val="414141"/>
                </a:solidFill>
                <a:effectLst/>
                <a:latin typeface="Times New Roman" panose="02020603050405020304" pitchFamily="18" charset="0"/>
                <a:cs typeface="Times New Roman" panose="02020603050405020304" pitchFamily="18" charset="0"/>
              </a:rPr>
              <a:t>dbcontext.Students.Remove</a:t>
            </a:r>
            <a:r>
              <a:rPr lang="en-US" b="0" i="0" dirty="0">
                <a:solidFill>
                  <a:srgbClr val="414141"/>
                </a:solidFill>
                <a:effectLst/>
                <a:latin typeface="Times New Roman" panose="02020603050405020304" pitchFamily="18" charset="0"/>
                <a:cs typeface="Times New Roman" panose="02020603050405020304" pitchFamily="18" charset="0"/>
              </a:rPr>
              <a:t>(</a:t>
            </a:r>
            <a:r>
              <a:rPr lang="en-US" b="0" i="0" dirty="0" err="1">
                <a:solidFill>
                  <a:srgbClr val="414141"/>
                </a:solidFill>
                <a:effectLst/>
                <a:latin typeface="Times New Roman" panose="02020603050405020304" pitchFamily="18" charset="0"/>
                <a:cs typeface="Times New Roman" panose="02020603050405020304" pitchFamily="18" charset="0"/>
              </a:rPr>
              <a:t>studentEntity</a:t>
            </a:r>
            <a:r>
              <a:rPr lang="en-US" b="0" i="0" dirty="0">
                <a:solidFill>
                  <a:srgbClr val="414141"/>
                </a:solidFill>
                <a:effectLst/>
                <a:latin typeface="Times New Roman" panose="02020603050405020304" pitchFamily="18" charset="0"/>
                <a:cs typeface="Times New Roman" panose="02020603050405020304" pitchFamily="18" charset="0"/>
              </a:rPr>
              <a:t>);</a:t>
            </a:r>
            <a:endParaRPr lang="en-US" b="1" i="0" dirty="0">
              <a:solidFill>
                <a:srgbClr val="18171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68372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5 Method of </a:t>
            </a:r>
            <a:r>
              <a:rPr lang="en-US" dirty="0" err="1"/>
              <a:t>Dbset</a:t>
            </a:r>
            <a:r>
              <a:rPr lang="en-US" dirty="0"/>
              <a:t> type</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48</a:t>
            </a:fld>
            <a:endParaRPr lang="en-US"/>
          </a:p>
        </p:txBody>
      </p:sp>
      <p:sp>
        <p:nvSpPr>
          <p:cNvPr id="2" name="Content Placeholder 1">
            <a:extLst>
              <a:ext uri="{FF2B5EF4-FFF2-40B4-BE49-F238E27FC236}">
                <a16:creationId xmlns:a16="http://schemas.microsoft.com/office/drawing/2014/main" id="{201D190E-239E-4B19-A796-CD459AFA4195}"/>
              </a:ext>
            </a:extLst>
          </p:cNvPr>
          <p:cNvSpPr>
            <a:spLocks noGrp="1"/>
          </p:cNvSpPr>
          <p:nvPr>
            <p:ph idx="1"/>
          </p:nvPr>
        </p:nvSpPr>
        <p:spPr/>
        <p:txBody>
          <a:bodyPr>
            <a:normAutofit/>
          </a:bodyPr>
          <a:lstStyle/>
          <a:p>
            <a:pPr algn="just"/>
            <a:r>
              <a:rPr lang="en-US" b="0" i="0" dirty="0" err="1">
                <a:solidFill>
                  <a:srgbClr val="414141"/>
                </a:solidFill>
                <a:effectLst/>
                <a:latin typeface="Times New Roman" panose="02020603050405020304" pitchFamily="18" charset="0"/>
                <a:cs typeface="Times New Roman" panose="02020603050405020304" pitchFamily="18" charset="0"/>
              </a:rPr>
              <a:t>SqlQuery</a:t>
            </a:r>
            <a:r>
              <a:rPr lang="en-US" b="0" i="0" dirty="0">
                <a:solidFill>
                  <a:srgbClr val="414141"/>
                </a:solidFill>
                <a:effectLst/>
                <a:latin typeface="Times New Roman" panose="02020603050405020304" pitchFamily="18" charset="0"/>
                <a:cs typeface="Times New Roman" panose="02020603050405020304" pitchFamily="18" charset="0"/>
              </a:rPr>
              <a:t>: Creates a raw SQL query that will return entities in this set.</a:t>
            </a:r>
          </a:p>
          <a:p>
            <a:r>
              <a:rPr lang="en-US" b="0" i="0" dirty="0">
                <a:solidFill>
                  <a:srgbClr val="414141"/>
                </a:solidFill>
                <a:effectLst/>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b="0" i="0" dirty="0">
                <a:solidFill>
                  <a:srgbClr val="414141"/>
                </a:solidFill>
                <a:effectLst/>
                <a:latin typeface="Times New Roman" panose="02020603050405020304" pitchFamily="18" charset="0"/>
                <a:cs typeface="Times New Roman" panose="02020603050405020304" pitchFamily="18" charset="0"/>
              </a:rPr>
              <a:t>var </a:t>
            </a:r>
            <a:r>
              <a:rPr lang="en-US" b="0" i="0" dirty="0" err="1">
                <a:solidFill>
                  <a:srgbClr val="414141"/>
                </a:solidFill>
                <a:effectLst/>
                <a:latin typeface="Times New Roman" panose="02020603050405020304" pitchFamily="18" charset="0"/>
                <a:cs typeface="Times New Roman" panose="02020603050405020304" pitchFamily="18" charset="0"/>
              </a:rPr>
              <a:t>studentEntity</a:t>
            </a:r>
            <a:r>
              <a:rPr lang="en-US" b="0" i="0" dirty="0">
                <a:solidFill>
                  <a:srgbClr val="414141"/>
                </a:solidFill>
                <a:effectLst/>
                <a:latin typeface="Times New Roman" panose="02020603050405020304" pitchFamily="18" charset="0"/>
                <a:cs typeface="Times New Roman" panose="02020603050405020304" pitchFamily="18" charset="0"/>
              </a:rPr>
              <a:t> = </a:t>
            </a:r>
            <a:r>
              <a:rPr lang="en-US" b="0" i="0" dirty="0" err="1">
                <a:solidFill>
                  <a:srgbClr val="414141"/>
                </a:solidFill>
                <a:effectLst/>
                <a:latin typeface="Times New Roman" panose="02020603050405020304" pitchFamily="18" charset="0"/>
                <a:cs typeface="Times New Roman" panose="02020603050405020304" pitchFamily="18" charset="0"/>
              </a:rPr>
              <a:t>dbcontext.Students.SqlQuery</a:t>
            </a:r>
            <a:r>
              <a:rPr lang="en-US" b="0" i="0" dirty="0">
                <a:solidFill>
                  <a:srgbClr val="414141"/>
                </a:solidFill>
                <a:effectLst/>
                <a:latin typeface="Times New Roman" panose="02020603050405020304" pitchFamily="18" charset="0"/>
                <a:cs typeface="Times New Roman" panose="02020603050405020304" pitchFamily="18" charset="0"/>
              </a:rPr>
              <a:t>("select * from student where </a:t>
            </a:r>
            <a:r>
              <a:rPr lang="en-US" b="0" i="0" dirty="0" err="1">
                <a:solidFill>
                  <a:srgbClr val="414141"/>
                </a:solidFill>
                <a:effectLst/>
                <a:latin typeface="Times New Roman" panose="02020603050405020304" pitchFamily="18" charset="0"/>
                <a:cs typeface="Times New Roman" panose="02020603050405020304" pitchFamily="18" charset="0"/>
              </a:rPr>
              <a:t>studentid</a:t>
            </a:r>
            <a:r>
              <a:rPr lang="en-US" b="0" i="0" dirty="0">
                <a:solidFill>
                  <a:srgbClr val="414141"/>
                </a:solidFill>
                <a:effectLst/>
                <a:latin typeface="Times New Roman" panose="02020603050405020304" pitchFamily="18" charset="0"/>
                <a:cs typeface="Times New Roman" panose="02020603050405020304" pitchFamily="18" charset="0"/>
              </a:rPr>
              <a:t> = 1").</a:t>
            </a:r>
            <a:r>
              <a:rPr lang="en-US" b="0" i="0" dirty="0" err="1">
                <a:solidFill>
                  <a:srgbClr val="414141"/>
                </a:solidFill>
                <a:effectLst/>
                <a:latin typeface="Times New Roman" panose="02020603050405020304" pitchFamily="18" charset="0"/>
                <a:cs typeface="Times New Roman" panose="02020603050405020304" pitchFamily="18" charset="0"/>
              </a:rPr>
              <a:t>FirstOrDefault</a:t>
            </a:r>
            <a:r>
              <a:rPr lang="en-US" b="0" i="0" dirty="0">
                <a:solidFill>
                  <a:srgbClr val="414141"/>
                </a:solidFill>
                <a:effectLst/>
                <a:latin typeface="Times New Roman" panose="02020603050405020304" pitchFamily="18" charset="0"/>
                <a:cs typeface="Times New Roman" panose="02020603050405020304" pitchFamily="18" charset="0"/>
              </a:rPr>
              <a:t>&lt;Student&gt;();</a:t>
            </a:r>
            <a:endParaRPr lang="en-US" b="1" i="0" dirty="0">
              <a:solidFill>
                <a:srgbClr val="18171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41582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6 Saving Data in the Connected Scenario</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49</a:t>
            </a:fld>
            <a:endParaRPr lang="en-US"/>
          </a:p>
        </p:txBody>
      </p:sp>
      <p:pic>
        <p:nvPicPr>
          <p:cNvPr id="22530" name="Picture 2">
            <a:extLst>
              <a:ext uri="{FF2B5EF4-FFF2-40B4-BE49-F238E27FC236}">
                <a16:creationId xmlns:a16="http://schemas.microsoft.com/office/drawing/2014/main" id="{67A39FD4-BF75-4B79-899E-24202CF892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1525" y="1025813"/>
            <a:ext cx="7153275" cy="3479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549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6 Saving Data in the Connected Scenario</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50</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Segoe UI" panose="020B0502040204020203" pitchFamily="34" charset="0"/>
              </a:rPr>
              <a:t>Insert Data</a:t>
            </a:r>
          </a:p>
          <a:p>
            <a:endParaRPr lang="en-US" dirty="0"/>
          </a:p>
        </p:txBody>
      </p:sp>
      <p:pic>
        <p:nvPicPr>
          <p:cNvPr id="8" name="Picture 7">
            <a:extLst>
              <a:ext uri="{FF2B5EF4-FFF2-40B4-BE49-F238E27FC236}">
                <a16:creationId xmlns:a16="http://schemas.microsoft.com/office/drawing/2014/main" id="{8A733B1B-EEA3-4361-BCAA-4ABF4899D1FE}"/>
              </a:ext>
            </a:extLst>
          </p:cNvPr>
          <p:cNvPicPr>
            <a:picLocks noChangeAspect="1"/>
          </p:cNvPicPr>
          <p:nvPr/>
        </p:nvPicPr>
        <p:blipFill>
          <a:blip r:embed="rId2"/>
          <a:stretch>
            <a:fillRect/>
          </a:stretch>
        </p:blipFill>
        <p:spPr>
          <a:xfrm>
            <a:off x="826135" y="1676400"/>
            <a:ext cx="5574665" cy="3665672"/>
          </a:xfrm>
          <a:prstGeom prst="rect">
            <a:avLst/>
          </a:prstGeom>
        </p:spPr>
      </p:pic>
    </p:spTree>
    <p:extLst>
      <p:ext uri="{BB962C8B-B14F-4D97-AF65-F5344CB8AC3E}">
        <p14:creationId xmlns:p14="http://schemas.microsoft.com/office/powerpoint/2010/main" val="4005964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6 Saving Data in the Connected Scenario</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51</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dirty="0">
                <a:solidFill>
                  <a:srgbClr val="181717"/>
                </a:solidFill>
                <a:latin typeface="Segoe UI" panose="020B0502040204020203" pitchFamily="34" charset="0"/>
              </a:rPr>
              <a:t>Updating</a:t>
            </a:r>
            <a:r>
              <a:rPr lang="en-US" b="0" i="0" dirty="0">
                <a:solidFill>
                  <a:srgbClr val="181717"/>
                </a:solidFill>
                <a:effectLst/>
                <a:latin typeface="Segoe UI" panose="020B0502040204020203" pitchFamily="34" charset="0"/>
              </a:rPr>
              <a:t> Data</a:t>
            </a:r>
          </a:p>
          <a:p>
            <a:endParaRPr lang="en-US" dirty="0"/>
          </a:p>
        </p:txBody>
      </p:sp>
      <p:pic>
        <p:nvPicPr>
          <p:cNvPr id="9" name="Picture 8">
            <a:extLst>
              <a:ext uri="{FF2B5EF4-FFF2-40B4-BE49-F238E27FC236}">
                <a16:creationId xmlns:a16="http://schemas.microsoft.com/office/drawing/2014/main" id="{4493C5FB-9A4D-4A6C-8E05-026BE17595F9}"/>
              </a:ext>
            </a:extLst>
          </p:cNvPr>
          <p:cNvPicPr>
            <a:picLocks noChangeAspect="1"/>
          </p:cNvPicPr>
          <p:nvPr/>
        </p:nvPicPr>
        <p:blipFill>
          <a:blip r:embed="rId2"/>
          <a:stretch>
            <a:fillRect/>
          </a:stretch>
        </p:blipFill>
        <p:spPr>
          <a:xfrm>
            <a:off x="761999" y="1828800"/>
            <a:ext cx="6944383" cy="2438400"/>
          </a:xfrm>
          <a:prstGeom prst="rect">
            <a:avLst/>
          </a:prstGeom>
        </p:spPr>
      </p:pic>
    </p:spTree>
    <p:extLst>
      <p:ext uri="{BB962C8B-B14F-4D97-AF65-F5344CB8AC3E}">
        <p14:creationId xmlns:p14="http://schemas.microsoft.com/office/powerpoint/2010/main" val="1132059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6 Saving Data in the Connected Scenario</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52</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Segoe UI" panose="020B0502040204020203" pitchFamily="34" charset="0"/>
              </a:rPr>
              <a:t>Delet</a:t>
            </a:r>
            <a:r>
              <a:rPr lang="en-US" dirty="0">
                <a:solidFill>
                  <a:srgbClr val="181717"/>
                </a:solidFill>
                <a:latin typeface="Segoe UI" panose="020B0502040204020203" pitchFamily="34" charset="0"/>
              </a:rPr>
              <a:t>ing</a:t>
            </a:r>
            <a:r>
              <a:rPr lang="en-US" b="0" i="0" dirty="0">
                <a:solidFill>
                  <a:srgbClr val="181717"/>
                </a:solidFill>
                <a:effectLst/>
                <a:latin typeface="Segoe UI" panose="020B0502040204020203" pitchFamily="34" charset="0"/>
              </a:rPr>
              <a:t> Data</a:t>
            </a:r>
          </a:p>
          <a:p>
            <a:endParaRPr lang="en-US" dirty="0"/>
          </a:p>
        </p:txBody>
      </p:sp>
      <p:pic>
        <p:nvPicPr>
          <p:cNvPr id="8" name="Picture 7">
            <a:extLst>
              <a:ext uri="{FF2B5EF4-FFF2-40B4-BE49-F238E27FC236}">
                <a16:creationId xmlns:a16="http://schemas.microsoft.com/office/drawing/2014/main" id="{21767A53-6600-43B4-B687-A07450AC6E1C}"/>
              </a:ext>
            </a:extLst>
          </p:cNvPr>
          <p:cNvPicPr>
            <a:picLocks noChangeAspect="1"/>
          </p:cNvPicPr>
          <p:nvPr/>
        </p:nvPicPr>
        <p:blipFill>
          <a:blip r:embed="rId2"/>
          <a:stretch>
            <a:fillRect/>
          </a:stretch>
        </p:blipFill>
        <p:spPr>
          <a:xfrm>
            <a:off x="857250" y="1752600"/>
            <a:ext cx="6729392" cy="2667000"/>
          </a:xfrm>
          <a:prstGeom prst="rect">
            <a:avLst/>
          </a:prstGeom>
        </p:spPr>
      </p:pic>
    </p:spTree>
    <p:extLst>
      <p:ext uri="{BB962C8B-B14F-4D97-AF65-F5344CB8AC3E}">
        <p14:creationId xmlns:p14="http://schemas.microsoft.com/office/powerpoint/2010/main" val="2493156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7 Querying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53</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Times New Roman" panose="02020603050405020304" pitchFamily="18" charset="0"/>
                <a:cs typeface="Times New Roman" panose="02020603050405020304" pitchFamily="18" charset="0"/>
              </a:rPr>
              <a:t>Entity framework supports three types of queries: 1) LINQ-to-Entities, 2) Entity SQL, and 3) Native SQL.</a:t>
            </a:r>
          </a:p>
          <a:p>
            <a:r>
              <a:rPr lang="en-US" b="0" i="0" dirty="0">
                <a:solidFill>
                  <a:srgbClr val="181717"/>
                </a:solidFill>
                <a:effectLst/>
                <a:latin typeface="Times New Roman" panose="02020603050405020304" pitchFamily="18" charset="0"/>
                <a:cs typeface="Times New Roman" panose="02020603050405020304" pitchFamily="18" charset="0"/>
              </a:rPr>
              <a:t>LINQ Method syntax:</a:t>
            </a: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C954693-47FC-4A69-AF0D-B062660F20BA}"/>
              </a:ext>
            </a:extLst>
          </p:cNvPr>
          <p:cNvPicPr>
            <a:picLocks noChangeAspect="1"/>
          </p:cNvPicPr>
          <p:nvPr/>
        </p:nvPicPr>
        <p:blipFill>
          <a:blip r:embed="rId2"/>
          <a:stretch>
            <a:fillRect/>
          </a:stretch>
        </p:blipFill>
        <p:spPr>
          <a:xfrm>
            <a:off x="990600" y="2743200"/>
            <a:ext cx="7038975" cy="2228850"/>
          </a:xfrm>
          <a:prstGeom prst="rect">
            <a:avLst/>
          </a:prstGeom>
        </p:spPr>
      </p:pic>
    </p:spTree>
    <p:extLst>
      <p:ext uri="{BB962C8B-B14F-4D97-AF65-F5344CB8AC3E}">
        <p14:creationId xmlns:p14="http://schemas.microsoft.com/office/powerpoint/2010/main" val="22509637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7 Querying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54</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Times New Roman" panose="02020603050405020304" pitchFamily="18" charset="0"/>
                <a:cs typeface="Times New Roman" panose="02020603050405020304" pitchFamily="18" charset="0"/>
              </a:rPr>
              <a:t>Entity framework supports three types of queries: 1) LINQ-to-Entities, 2) Entity SQL, and 3) Native SQL.</a:t>
            </a:r>
          </a:p>
          <a:p>
            <a:r>
              <a:rPr lang="en-US" b="0" i="0" dirty="0">
                <a:solidFill>
                  <a:srgbClr val="181717"/>
                </a:solidFill>
                <a:effectLst/>
                <a:latin typeface="Times New Roman" panose="02020603050405020304" pitchFamily="18" charset="0"/>
                <a:cs typeface="Times New Roman" panose="02020603050405020304" pitchFamily="18" charset="0"/>
              </a:rPr>
              <a:t>LINQ Query syntax:</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141D6D3-36CE-43AD-948E-0E0677FB83CB}"/>
              </a:ext>
            </a:extLst>
          </p:cNvPr>
          <p:cNvPicPr>
            <a:picLocks noChangeAspect="1"/>
          </p:cNvPicPr>
          <p:nvPr/>
        </p:nvPicPr>
        <p:blipFill>
          <a:blip r:embed="rId2"/>
          <a:stretch>
            <a:fillRect/>
          </a:stretch>
        </p:blipFill>
        <p:spPr>
          <a:xfrm>
            <a:off x="914400" y="2819400"/>
            <a:ext cx="5962650" cy="2619375"/>
          </a:xfrm>
          <a:prstGeom prst="rect">
            <a:avLst/>
          </a:prstGeom>
        </p:spPr>
      </p:pic>
    </p:spTree>
    <p:extLst>
      <p:ext uri="{BB962C8B-B14F-4D97-AF65-F5344CB8AC3E}">
        <p14:creationId xmlns:p14="http://schemas.microsoft.com/office/powerpoint/2010/main" val="2684093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8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55</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Times New Roman" panose="02020603050405020304" pitchFamily="18" charset="0"/>
                <a:cs typeface="Times New Roman" panose="02020603050405020304" pitchFamily="18" charset="0"/>
              </a:rPr>
              <a:t>Step 1: Create store procedure</a:t>
            </a:r>
          </a:p>
          <a:p>
            <a:r>
              <a:rPr lang="en-US" dirty="0">
                <a:solidFill>
                  <a:srgbClr val="181717"/>
                </a:solidFill>
                <a:latin typeface="Times New Roman" panose="02020603050405020304" pitchFamily="18" charset="0"/>
                <a:cs typeface="Times New Roman" panose="02020603050405020304" pitchFamily="18" charset="0"/>
              </a:rPr>
              <a:t>Step 2: When we add entities database, we select as bellow figure:</a:t>
            </a:r>
          </a:p>
          <a:p>
            <a:endParaRPr lang="en-US" dirty="0">
              <a:latin typeface="Times New Roman" panose="02020603050405020304" pitchFamily="18" charset="0"/>
              <a:cs typeface="Times New Roman" panose="02020603050405020304" pitchFamily="18" charset="0"/>
            </a:endParaRPr>
          </a:p>
        </p:txBody>
      </p:sp>
      <p:pic>
        <p:nvPicPr>
          <p:cNvPr id="39938" name="Picture 2" descr="Entity Framework stored procedure">
            <a:extLst>
              <a:ext uri="{FF2B5EF4-FFF2-40B4-BE49-F238E27FC236}">
                <a16:creationId xmlns:a16="http://schemas.microsoft.com/office/drawing/2014/main" id="{A2B9F73F-88A5-4AC7-80EF-12DB00930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321658"/>
            <a:ext cx="4419600" cy="3952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562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8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56</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lang="en-US" b="0" i="0" dirty="0">
                <a:solidFill>
                  <a:srgbClr val="181717"/>
                </a:solidFill>
                <a:effectLst/>
                <a:latin typeface="Times New Roman" panose="02020603050405020304" pitchFamily="18" charset="0"/>
                <a:cs typeface="Times New Roman" panose="02020603050405020304" pitchFamily="18" charset="0"/>
              </a:rPr>
              <a:t>Create store procedure</a:t>
            </a:r>
          </a:p>
          <a:p>
            <a:r>
              <a:rPr lang="en-US" dirty="0">
                <a:solidFill>
                  <a:srgbClr val="181717"/>
                </a:solidFill>
                <a:latin typeface="Times New Roman" panose="02020603050405020304" pitchFamily="18" charset="0"/>
                <a:cs typeface="Times New Roman" panose="02020603050405020304" pitchFamily="18" charset="0"/>
              </a:rPr>
              <a:t>When we add entities database, we select as bellow figure:</a:t>
            </a:r>
          </a:p>
          <a:p>
            <a:endParaRPr lang="en-US" dirty="0">
              <a:latin typeface="Times New Roman" panose="02020603050405020304" pitchFamily="18" charset="0"/>
              <a:cs typeface="Times New Roman" panose="02020603050405020304" pitchFamily="18" charset="0"/>
            </a:endParaRPr>
          </a:p>
        </p:txBody>
      </p:sp>
      <p:pic>
        <p:nvPicPr>
          <p:cNvPr id="39938" name="Picture 2" descr="Entity Framework stored procedure">
            <a:extLst>
              <a:ext uri="{FF2B5EF4-FFF2-40B4-BE49-F238E27FC236}">
                <a16:creationId xmlns:a16="http://schemas.microsoft.com/office/drawing/2014/main" id="{A2B9F73F-88A5-4AC7-80EF-12DB00930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321658"/>
            <a:ext cx="4419600" cy="3952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3971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8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57</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610600" cy="5181600"/>
          </a:xfrm>
        </p:spPr>
        <p:txBody>
          <a:bodyPr/>
          <a:lstStyle/>
          <a:p>
            <a:r>
              <a:rPr kumimoji="0" lang="en-US" altLang="en-US" sz="24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You can change it by right clicking on </a:t>
            </a:r>
            <a:r>
              <a:rPr kumimoji="0" lang="en-US" altLang="en-US" sz="24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GetCoursesByStudentId</a:t>
            </a:r>
            <a:r>
              <a:rPr kumimoji="0" lang="en-US" altLang="en-US" sz="24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in Function Imports and selecting </a:t>
            </a:r>
            <a:r>
              <a:rPr kumimoji="0" lang="en-US" altLang="en-US" sz="2400" b="1"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Edit</a:t>
            </a:r>
            <a:r>
              <a:rPr kumimoji="0" lang="en-US" altLang="en-US" sz="24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a:t>
            </a:r>
            <a:r>
              <a:rPr kumimoji="0" lang="en-US" altLang="en-US" sz="8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US" b="0" i="0" dirty="0">
              <a:solidFill>
                <a:srgbClr val="181717"/>
              </a:solidFill>
              <a:effectLst/>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1986" name="Picture 2" descr="Entity Framework stored procedure">
            <a:extLst>
              <a:ext uri="{FF2B5EF4-FFF2-40B4-BE49-F238E27FC236}">
                <a16:creationId xmlns:a16="http://schemas.microsoft.com/office/drawing/2014/main" id="{80006924-F158-450C-8EEB-0F577F200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127885"/>
            <a:ext cx="2943225" cy="36480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94085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8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58</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lstStyle/>
          <a:p>
            <a:r>
              <a:rPr kumimoji="0" lang="en-US" altLang="en-US" sz="8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US" b="0" i="0" dirty="0">
              <a:solidFill>
                <a:srgbClr val="181717"/>
              </a:solidFill>
              <a:effectLst/>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4034" name="Picture 2" descr="Entity Framework stored procedure">
            <a:extLst>
              <a:ext uri="{FF2B5EF4-FFF2-40B4-BE49-F238E27FC236}">
                <a16:creationId xmlns:a16="http://schemas.microsoft.com/office/drawing/2014/main" id="{B64A739A-96B6-4D6D-9122-F44C3D2A1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8131022"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2002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8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59</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p:txBody>
          <a:bodyPr>
            <a:normAutofit/>
          </a:bodyPr>
          <a:lstStyle/>
          <a:p>
            <a:pPr marR="0" lvl="0" algn="just" defTabSz="914400" rtl="0" eaLnBrk="0" fontAlgn="base" latinLnBrk="0" hangingPunct="0">
              <a:lnSpc>
                <a:spcPct val="100000"/>
              </a:lnSpc>
              <a:spcBef>
                <a:spcPct val="0"/>
              </a:spcBef>
              <a:spcAft>
                <a:spcPct val="0"/>
              </a:spcAft>
              <a:buClrTx/>
              <a:buSzTx/>
              <a:tabLst/>
            </a:pPr>
            <a:r>
              <a:rPr lang="en-US" altLang="en-US" sz="2800" dirty="0">
                <a:solidFill>
                  <a:srgbClr val="181717"/>
                </a:solidFill>
                <a:latin typeface="Times New Roman" panose="02020603050405020304" pitchFamily="18" charset="0"/>
                <a:cs typeface="Times New Roman" panose="02020603050405020304" pitchFamily="18" charset="0"/>
              </a:rPr>
              <a:t>Y</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ou can use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GetCoursesByStudentId</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as a function and get the data, as shown below:</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C665ED95-B30C-4EF4-8691-ED5BDC4AE380}"/>
              </a:ext>
            </a:extLst>
          </p:cNvPr>
          <p:cNvPicPr>
            <a:picLocks noChangeAspect="1"/>
          </p:cNvPicPr>
          <p:nvPr/>
        </p:nvPicPr>
        <p:blipFill>
          <a:blip r:embed="rId2"/>
          <a:stretch>
            <a:fillRect/>
          </a:stretch>
        </p:blipFill>
        <p:spPr>
          <a:xfrm>
            <a:off x="990600" y="2319337"/>
            <a:ext cx="6238875" cy="2219325"/>
          </a:xfrm>
          <a:prstGeom prst="rect">
            <a:avLst/>
          </a:prstGeom>
        </p:spPr>
      </p:pic>
    </p:spTree>
    <p:extLst>
      <p:ext uri="{BB962C8B-B14F-4D97-AF65-F5344CB8AC3E}">
        <p14:creationId xmlns:p14="http://schemas.microsoft.com/office/powerpoint/2010/main" val="776246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60</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4343400" cy="5181600"/>
          </a:xfrm>
        </p:spPr>
        <p:txBody>
          <a:bodyPr>
            <a:normAutofit/>
          </a:bodyPr>
          <a:lstStyle/>
          <a:p>
            <a:pPr algn="just" eaLnBrk="0" fontAlgn="base" hangingPunct="0">
              <a:spcBef>
                <a:spcPct val="0"/>
              </a:spcBef>
              <a:spcAft>
                <a:spcPct val="0"/>
              </a:spcAft>
              <a:buSzTx/>
            </a:pPr>
            <a:r>
              <a:rPr lang="en-US" altLang="en-US" sz="2800" b="1" dirty="0">
                <a:solidFill>
                  <a:srgbClr val="181717"/>
                </a:solidFill>
                <a:latin typeface="Times New Roman" panose="02020603050405020304" pitchFamily="18" charset="0"/>
                <a:cs typeface="Times New Roman" panose="02020603050405020304" pitchFamily="18" charset="0"/>
              </a:rPr>
              <a:t>Create, Update, Delete: </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In the EDM designer, right click on the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Student</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entity and select </a:t>
            </a:r>
            <a:r>
              <a:rPr kumimoji="0" lang="en-US" altLang="en-US" sz="2800" b="1"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Stored Procedure Mapping</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to open Mapping details, as shown below.</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7107" name="Picture 3" descr="Entity Framework stored procedure">
            <a:extLst>
              <a:ext uri="{FF2B5EF4-FFF2-40B4-BE49-F238E27FC236}">
                <a16:creationId xmlns:a16="http://schemas.microsoft.com/office/drawing/2014/main" id="{1597F94E-6AA9-42BE-AC6E-FA4B94A6A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362075"/>
            <a:ext cx="4191000" cy="459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76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61</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534400" cy="5181600"/>
          </a:xfrm>
        </p:spPr>
        <p:txBody>
          <a:bodyPr>
            <a:normAutofit/>
          </a:bodyPr>
          <a:lstStyle/>
          <a:p>
            <a:pPr algn="just" eaLnBrk="0" fontAlgn="base" hangingPunct="0">
              <a:spcBef>
                <a:spcPct val="0"/>
              </a:spcBef>
              <a:spcAft>
                <a:spcPct val="0"/>
              </a:spcAft>
              <a:buSzTx/>
            </a:pPr>
            <a:r>
              <a:rPr lang="en-US" altLang="en-US" sz="2800" b="1" dirty="0">
                <a:solidFill>
                  <a:srgbClr val="181717"/>
                </a:solidFill>
                <a:latin typeface="Times New Roman" panose="02020603050405020304" pitchFamily="18" charset="0"/>
                <a:cs typeface="Times New Roman" panose="02020603050405020304" pitchFamily="18" charset="0"/>
              </a:rPr>
              <a:t>Create, Update, Delete: </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Select the appropriate stored procedure for each one in the dropdown, e.g.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sp_InsertStudentInfo</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for the Insert function,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sp_UpdateStudent</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for the update function, and </a:t>
            </a:r>
            <a:r>
              <a:rPr kumimoji="0" lang="en-US" altLang="en-US" sz="28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sp_DeleteStudent</a:t>
            </a:r>
            <a:r>
              <a:rPr kumimoji="0" lang="en-US" altLang="en-US" sz="28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for the delete function.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SzTx/>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8130" name="Picture 2" descr="Entity Framework stored procedure">
            <a:extLst>
              <a:ext uri="{FF2B5EF4-FFF2-40B4-BE49-F238E27FC236}">
                <a16:creationId xmlns:a16="http://schemas.microsoft.com/office/drawing/2014/main" id="{4FFA5993-4C8B-4223-A886-3E1D04EDE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492" y="3429000"/>
            <a:ext cx="5123329" cy="2286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a:extLst>
              <a:ext uri="{FF2B5EF4-FFF2-40B4-BE49-F238E27FC236}">
                <a16:creationId xmlns:a16="http://schemas.microsoft.com/office/drawing/2014/main" id="{C644F86C-B0A0-4D1C-A0BB-F4FF15D10154}"/>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38648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62</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534400" cy="5181600"/>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800" b="1" dirty="0">
                <a:solidFill>
                  <a:srgbClr val="181717"/>
                </a:solidFill>
                <a:latin typeface="Times New Roman" panose="02020603050405020304" pitchFamily="18" charset="0"/>
                <a:cs typeface="Times New Roman" panose="02020603050405020304" pitchFamily="18" charset="0"/>
              </a:rPr>
              <a:t>Create, Update, Delete: </a:t>
            </a:r>
            <a:r>
              <a:rPr kumimoji="0" lang="en-US" altLang="en-US" sz="2800" b="0" i="0" u="none" strike="noStrike" cap="none" normalizeH="0" baseline="0" dirty="0" err="1">
                <a:ln>
                  <a:noFill/>
                </a:ln>
                <a:solidFill>
                  <a:srgbClr val="000000"/>
                </a:solidFill>
                <a:effectLst/>
                <a:latin typeface="SFMono-Regular"/>
              </a:rPr>
              <a:t>sp_InsertStudentInfo</a:t>
            </a:r>
            <a:r>
              <a:rPr kumimoji="0" lang="en-US" altLang="en-US" sz="2800" b="0" i="0" u="none" strike="noStrike" cap="none" normalizeH="0" baseline="0" dirty="0">
                <a:ln>
                  <a:noFill/>
                </a:ln>
                <a:solidFill>
                  <a:srgbClr val="181717"/>
                </a:solidFill>
                <a:effectLst/>
                <a:latin typeface="Verdana" panose="020B0604030504040204" pitchFamily="34" charset="0"/>
              </a:rPr>
              <a:t> returns the value of </a:t>
            </a:r>
            <a:r>
              <a:rPr kumimoji="0" lang="en-US" altLang="en-US" sz="2800" b="0" i="0" u="none" strike="noStrike" cap="none" normalizeH="0" baseline="0" dirty="0" err="1">
                <a:ln>
                  <a:noFill/>
                </a:ln>
                <a:solidFill>
                  <a:srgbClr val="000000"/>
                </a:solidFill>
                <a:effectLst/>
                <a:latin typeface="SFMono-Regular"/>
              </a:rPr>
              <a:t>StudentId</a:t>
            </a:r>
            <a:r>
              <a:rPr kumimoji="0" lang="en-US" altLang="en-US" sz="2800" b="0" i="0" u="none" strike="noStrike" cap="none" normalizeH="0" baseline="0" dirty="0">
                <a:ln>
                  <a:noFill/>
                </a:ln>
                <a:solidFill>
                  <a:srgbClr val="181717"/>
                </a:solidFill>
                <a:effectLst/>
                <a:latin typeface="Verdana" panose="020B0604030504040204" pitchFamily="34" charset="0"/>
              </a:rPr>
              <a:t> and maps it with the </a:t>
            </a:r>
            <a:r>
              <a:rPr kumimoji="0" lang="en-US" altLang="en-US" sz="2800" b="0" i="0" u="none" strike="noStrike" cap="none" normalizeH="0" baseline="0" dirty="0">
                <a:ln>
                  <a:noFill/>
                </a:ln>
                <a:solidFill>
                  <a:srgbClr val="000000"/>
                </a:solidFill>
                <a:effectLst/>
                <a:latin typeface="SFMono-Regular"/>
              </a:rPr>
              <a:t>Student</a:t>
            </a:r>
            <a:r>
              <a:rPr kumimoji="0" lang="en-US" altLang="en-US" sz="2800" b="0" i="0" u="none" strike="noStrike" cap="none" normalizeH="0" baseline="0" dirty="0">
                <a:ln>
                  <a:noFill/>
                </a:ln>
                <a:solidFill>
                  <a:srgbClr val="181717"/>
                </a:solidFill>
                <a:effectLst/>
                <a:latin typeface="Verdana" panose="020B0604030504040204" pitchFamily="34" charset="0"/>
              </a:rPr>
              <a:t> entity's </a:t>
            </a:r>
            <a:r>
              <a:rPr kumimoji="0" lang="en-US" altLang="en-US" sz="2800" b="0" i="0" u="none" strike="noStrike" cap="none" normalizeH="0" baseline="0" dirty="0" err="1">
                <a:ln>
                  <a:noFill/>
                </a:ln>
                <a:solidFill>
                  <a:srgbClr val="000000"/>
                </a:solidFill>
                <a:effectLst/>
                <a:latin typeface="SFMono-Regular"/>
              </a:rPr>
              <a:t>StudentID</a:t>
            </a:r>
            <a:r>
              <a:rPr kumimoji="0" lang="en-US" altLang="en-US" sz="2800" b="0" i="0" u="none" strike="noStrike" cap="none" normalizeH="0" baseline="0" dirty="0">
                <a:ln>
                  <a:noFill/>
                </a:ln>
                <a:solidFill>
                  <a:srgbClr val="181717"/>
                </a:solidFill>
                <a:effectLst/>
                <a:latin typeface="Verdana" panose="020B0604030504040204" pitchFamily="34" charset="0"/>
              </a:rPr>
              <a:t>, as shown below</a:t>
            </a:r>
            <a:r>
              <a:rPr kumimoji="0" lang="en-US" altLang="en-US" sz="8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9154" name="Picture 2" descr="Entity Framework stored procedure">
            <a:extLst>
              <a:ext uri="{FF2B5EF4-FFF2-40B4-BE49-F238E27FC236}">
                <a16:creationId xmlns:a16="http://schemas.microsoft.com/office/drawing/2014/main" id="{10EC0DA3-202B-4770-AB9B-9CA3736D9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680" y="2728912"/>
            <a:ext cx="7176798" cy="1690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0142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63</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534400" cy="5181600"/>
          </a:xfrm>
        </p:spPr>
        <p:txBody>
          <a:bodyPr>
            <a:normAutofit/>
          </a:bodyPr>
          <a:lstStyle/>
          <a:p>
            <a:pPr marL="0" indent="0" algn="just" eaLnBrk="0" fontAlgn="base" hangingPunct="0">
              <a:spcBef>
                <a:spcPct val="0"/>
              </a:spcBef>
              <a:spcAft>
                <a:spcPct val="0"/>
              </a:spcAft>
              <a:buSzTx/>
              <a:buNone/>
            </a:pPr>
            <a:r>
              <a:rPr lang="en-US" altLang="en-US" sz="2800" b="1" dirty="0">
                <a:solidFill>
                  <a:srgbClr val="181717"/>
                </a:solidFill>
                <a:latin typeface="Times New Roman" panose="02020603050405020304" pitchFamily="18" charset="0"/>
                <a:cs typeface="Times New Roman" panose="02020603050405020304" pitchFamily="18" charset="0"/>
              </a:rPr>
              <a:t>Create, Update, Delete: </a:t>
            </a:r>
            <a:r>
              <a:rPr kumimoji="0" lang="en-US" altLang="en-US" sz="2800" b="0" i="0" u="none" strike="noStrike" cap="none" normalizeH="0" baseline="0" dirty="0">
                <a:ln>
                  <a:noFill/>
                </a:ln>
                <a:solidFill>
                  <a:srgbClr val="181717"/>
                </a:solidFill>
                <a:effectLst/>
                <a:latin typeface="Verdana" panose="020B0604030504040204" pitchFamily="34" charset="0"/>
              </a:rPr>
              <a:t>we need to validate it before executing to ensure that there will not be a run time error. To accomplish this, right click on the </a:t>
            </a:r>
            <a:r>
              <a:rPr kumimoji="0" lang="en-US" altLang="en-US" sz="2800" b="0" i="0" u="none" strike="noStrike" cap="none" normalizeH="0" baseline="0" dirty="0">
                <a:ln>
                  <a:noFill/>
                </a:ln>
                <a:solidFill>
                  <a:srgbClr val="000000"/>
                </a:solidFill>
                <a:effectLst/>
                <a:latin typeface="SFMono-Regular"/>
              </a:rPr>
              <a:t>Student</a:t>
            </a:r>
            <a:r>
              <a:rPr kumimoji="0" lang="en-US" altLang="en-US" sz="2800" b="0" i="0" u="none" strike="noStrike" cap="none" normalizeH="0" baseline="0" dirty="0">
                <a:ln>
                  <a:noFill/>
                </a:ln>
                <a:solidFill>
                  <a:srgbClr val="181717"/>
                </a:solidFill>
                <a:effectLst/>
                <a:latin typeface="Verdana" panose="020B0604030504040204" pitchFamily="34" charset="0"/>
              </a:rPr>
              <a:t> entity in the designer and click </a:t>
            </a:r>
            <a:r>
              <a:rPr kumimoji="0" lang="en-US" altLang="en-US" sz="2800" b="1" i="0" u="none" strike="noStrike" cap="none" normalizeH="0" baseline="0" dirty="0">
                <a:ln>
                  <a:noFill/>
                </a:ln>
                <a:solidFill>
                  <a:srgbClr val="181717"/>
                </a:solidFill>
                <a:effectLst/>
                <a:latin typeface="Verdana" panose="020B0604030504040204" pitchFamily="34" charset="0"/>
              </a:rPr>
              <a:t>Validate</a:t>
            </a:r>
            <a:r>
              <a:rPr kumimoji="0" lang="en-US" altLang="en-US" sz="2800" b="0" i="0" u="none" strike="noStrike" cap="none" normalizeH="0" baseline="0" dirty="0">
                <a:ln>
                  <a:noFill/>
                </a:ln>
                <a:solidFill>
                  <a:srgbClr val="181717"/>
                </a:solidFill>
                <a:effectLst/>
                <a:latin typeface="Verdana" panose="020B0604030504040204" pitchFamily="34" charset="0"/>
              </a:rPr>
              <a:t> and make sure that there are no warnings or errors.</a:t>
            </a:r>
            <a:r>
              <a:rPr kumimoji="0" lang="en-US" altLang="en-US" sz="8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AB0CADDF-D6EE-4DE8-9A78-E0338944E618}"/>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0179" name="Picture 3" descr="Entity Framework stored procedure">
            <a:extLst>
              <a:ext uri="{FF2B5EF4-FFF2-40B4-BE49-F238E27FC236}">
                <a16:creationId xmlns:a16="http://schemas.microsoft.com/office/drawing/2014/main" id="{1F461571-DCC7-41D4-ABD0-63BE00931E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4365" y="3429000"/>
            <a:ext cx="4105275"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620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64</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534400" cy="5181600"/>
          </a:xfrm>
        </p:spPr>
        <p:txBody>
          <a:bodyPr>
            <a:normAutofit/>
          </a:bodyPr>
          <a:lstStyle/>
          <a:p>
            <a:pPr marL="0" indent="0" algn="just" eaLnBrk="0" fontAlgn="base" hangingPunct="0">
              <a:spcBef>
                <a:spcPct val="0"/>
              </a:spcBef>
              <a:spcAft>
                <a:spcPct val="0"/>
              </a:spcAft>
              <a:buSzTx/>
              <a:buNone/>
            </a:pPr>
            <a:r>
              <a:rPr lang="en-US" altLang="en-US" sz="2800" b="1" dirty="0">
                <a:solidFill>
                  <a:srgbClr val="181717"/>
                </a:solidFill>
                <a:latin typeface="Times New Roman" panose="02020603050405020304" pitchFamily="18" charset="0"/>
                <a:cs typeface="Times New Roman" panose="02020603050405020304" pitchFamily="18" charset="0"/>
              </a:rPr>
              <a:t>Create, Update, Delete: </a:t>
            </a:r>
            <a:r>
              <a:rPr kumimoji="0" lang="en-US" altLang="en-US" sz="2800" b="0" i="0" u="none" strike="noStrike" cap="none" normalizeH="0" baseline="0" dirty="0">
                <a:ln>
                  <a:noFill/>
                </a:ln>
                <a:solidFill>
                  <a:srgbClr val="181717"/>
                </a:solidFill>
                <a:effectLst/>
                <a:latin typeface="Verdana" panose="020B0604030504040204" pitchFamily="34" charset="0"/>
              </a:rPr>
              <a:t>whenever you add, update, or delete the </a:t>
            </a:r>
            <a:r>
              <a:rPr kumimoji="0" lang="en-US" altLang="en-US" sz="2800" b="0" i="0" u="none" strike="noStrike" cap="none" normalizeH="0" baseline="0" dirty="0">
                <a:ln>
                  <a:noFill/>
                </a:ln>
                <a:solidFill>
                  <a:srgbClr val="000000"/>
                </a:solidFill>
                <a:effectLst/>
                <a:latin typeface="SFMono-Regular"/>
              </a:rPr>
              <a:t>Student</a:t>
            </a:r>
            <a:r>
              <a:rPr kumimoji="0" lang="en-US" altLang="en-US" sz="2800" b="0" i="0" u="none" strike="noStrike" cap="none" normalizeH="0" baseline="0" dirty="0">
                <a:ln>
                  <a:noFill/>
                </a:ln>
                <a:solidFill>
                  <a:srgbClr val="181717"/>
                </a:solidFill>
                <a:effectLst/>
                <a:latin typeface="Verdana" panose="020B0604030504040204" pitchFamily="34" charset="0"/>
              </a:rPr>
              <a:t> entity, EF will use these stored procedures for CUD operations, instead of executing SQL commands</a:t>
            </a:r>
            <a:r>
              <a:rPr kumimoji="0" lang="en-US" altLang="en-US" sz="8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AB0CADDF-D6EE-4DE8-9A78-E0338944E618}"/>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58522073-720C-46AA-8441-95A0FCC26911}"/>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3610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D4C4F9-E1E2-41D2-8ACC-CAFCF150F222}"/>
              </a:ext>
            </a:extLst>
          </p:cNvPr>
          <p:cNvSpPr>
            <a:spLocks noGrp="1"/>
          </p:cNvSpPr>
          <p:nvPr>
            <p:ph type="title"/>
          </p:nvPr>
        </p:nvSpPr>
        <p:spPr/>
        <p:txBody>
          <a:bodyPr>
            <a:normAutofit/>
          </a:bodyPr>
          <a:lstStyle/>
          <a:p>
            <a:r>
              <a:rPr lang="en-US" dirty="0"/>
              <a:t>8. 9 Stored Procedure in Entity Framework</a:t>
            </a:r>
          </a:p>
        </p:txBody>
      </p:sp>
      <p:sp>
        <p:nvSpPr>
          <p:cNvPr id="4" name="Date Placeholder 3">
            <a:extLst>
              <a:ext uri="{FF2B5EF4-FFF2-40B4-BE49-F238E27FC236}">
                <a16:creationId xmlns:a16="http://schemas.microsoft.com/office/drawing/2014/main" id="{8E6308B1-820C-435E-B649-C547B804077D}"/>
              </a:ext>
            </a:extLst>
          </p:cNvPr>
          <p:cNvSpPr>
            <a:spLocks noGrp="1"/>
          </p:cNvSpPr>
          <p:nvPr>
            <p:ph type="dt" sz="half" idx="2"/>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E621F310-3132-4746-A719-CA455AF1858A}"/>
              </a:ext>
            </a:extLst>
          </p:cNvPr>
          <p:cNvSpPr>
            <a:spLocks noGrp="1"/>
          </p:cNvSpPr>
          <p:nvPr>
            <p:ph type="ftr" sz="quarter" idx="3"/>
          </p:nvPr>
        </p:nvSpPr>
        <p:spPr/>
        <p:txBody>
          <a:bodyPr/>
          <a:lstStyle/>
          <a:p>
            <a:r>
              <a:rPr lang="en-US" dirty="0"/>
              <a:t> </a:t>
            </a:r>
          </a:p>
        </p:txBody>
      </p:sp>
      <p:sp>
        <p:nvSpPr>
          <p:cNvPr id="6" name="Slide Number Placeholder 5">
            <a:extLst>
              <a:ext uri="{FF2B5EF4-FFF2-40B4-BE49-F238E27FC236}">
                <a16:creationId xmlns:a16="http://schemas.microsoft.com/office/drawing/2014/main" id="{D85EFC56-2D62-407C-A1EE-4DE071D9FA88}"/>
              </a:ext>
            </a:extLst>
          </p:cNvPr>
          <p:cNvSpPr>
            <a:spLocks noGrp="1"/>
          </p:cNvSpPr>
          <p:nvPr>
            <p:ph type="sldNum" sz="quarter" idx="4"/>
          </p:nvPr>
        </p:nvSpPr>
        <p:spPr/>
        <p:txBody>
          <a:bodyPr/>
          <a:lstStyle/>
          <a:p>
            <a:fld id="{F4E32468-D4D3-45A6-A508-7622D5375F4E}" type="slidenum">
              <a:rPr lang="en-US" smtClean="0"/>
              <a:pPr/>
              <a:t>65</a:t>
            </a:fld>
            <a:endParaRPr lang="en-US"/>
          </a:p>
        </p:txBody>
      </p:sp>
      <p:sp>
        <p:nvSpPr>
          <p:cNvPr id="2" name="Content Placeholder 1">
            <a:extLst>
              <a:ext uri="{FF2B5EF4-FFF2-40B4-BE49-F238E27FC236}">
                <a16:creationId xmlns:a16="http://schemas.microsoft.com/office/drawing/2014/main" id="{F147864D-F352-44CC-AD0F-DBB8ECCD99B2}"/>
              </a:ext>
            </a:extLst>
          </p:cNvPr>
          <p:cNvSpPr>
            <a:spLocks noGrp="1"/>
          </p:cNvSpPr>
          <p:nvPr>
            <p:ph idx="1"/>
          </p:nvPr>
        </p:nvSpPr>
        <p:spPr>
          <a:xfrm>
            <a:off x="457200" y="1066800"/>
            <a:ext cx="8534400" cy="5181600"/>
          </a:xfrm>
        </p:spPr>
        <p:txBody>
          <a:bodyPr>
            <a:normAutofit/>
          </a:bodyPr>
          <a:lstStyle/>
          <a:p>
            <a:pPr marL="0" indent="0" algn="just" eaLnBrk="0" fontAlgn="base" hangingPunct="0">
              <a:spcBef>
                <a:spcPct val="0"/>
              </a:spcBef>
              <a:spcAft>
                <a:spcPct val="0"/>
              </a:spcAft>
              <a:buSzTx/>
              <a:buNone/>
            </a:pPr>
            <a:r>
              <a:rPr lang="en-US" altLang="en-US" sz="2800" b="1" dirty="0">
                <a:solidFill>
                  <a:srgbClr val="181717"/>
                </a:solidFill>
                <a:latin typeface="Times New Roman" panose="02020603050405020304" pitchFamily="18" charset="0"/>
                <a:cs typeface="Times New Roman" panose="02020603050405020304" pitchFamily="18" charset="0"/>
              </a:rPr>
              <a:t>Create, Update, Delete</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en-US" altLang="en-US" sz="2800" dirty="0">
              <a:solidFill>
                <a:srgbClr val="181717"/>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8000" b="0" i="0" dirty="0">
              <a:solidFill>
                <a:srgbClr val="181717"/>
              </a:solidFill>
              <a:effectLst/>
              <a:latin typeface="Times New Roman" panose="02020603050405020304" pitchFamily="18" charset="0"/>
              <a:cs typeface="Times New Roman" panose="02020603050405020304" pitchFamily="18" charset="0"/>
            </a:endParaRPr>
          </a:p>
          <a:p>
            <a:endParaRPr lang="en-US" sz="8000" dirty="0">
              <a:solidFill>
                <a:srgbClr val="181717"/>
              </a:solidFill>
              <a:latin typeface="Times New Roman" panose="02020603050405020304" pitchFamily="18" charset="0"/>
              <a:cs typeface="Times New Roman" panose="02020603050405020304" pitchFamily="18" charset="0"/>
            </a:endParaRPr>
          </a:p>
          <a:p>
            <a:endParaRPr lang="en-US" sz="8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9CCB9A6-7C0F-470F-9788-13B9544E2096}"/>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063BA91-0376-458A-AD4C-79A565DE8357}"/>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4B1D366-D927-43DD-B3DC-C41617175DD2}"/>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AB0CADDF-D6EE-4DE8-9A78-E0338944E618}"/>
              </a:ext>
            </a:extLst>
          </p:cNvPr>
          <p:cNvSpPr>
            <a:spLocks noChangeArrowheads="1"/>
          </p:cNvSpPr>
          <p:nvPr/>
        </p:nvSpPr>
        <p:spPr bwMode="auto">
          <a:xfrm>
            <a:off x="4479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58522073-720C-46AA-8441-95A0FCC26911}"/>
              </a:ext>
            </a:extLst>
          </p:cNvPr>
          <p:cNvSpPr>
            <a:spLocks noChangeArrowheads="1"/>
          </p:cNvSpPr>
          <p:nvPr/>
        </p:nvSpPr>
        <p:spPr bwMode="auto">
          <a:xfrm>
            <a:off x="4479634" y="-184666"/>
            <a:ext cx="184731" cy="36933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E7EED160-119E-40B9-B5EB-5E4109E1860A}"/>
              </a:ext>
            </a:extLst>
          </p:cNvPr>
          <p:cNvPicPr>
            <a:picLocks noChangeAspect="1"/>
          </p:cNvPicPr>
          <p:nvPr/>
        </p:nvPicPr>
        <p:blipFill>
          <a:blip r:embed="rId2"/>
          <a:stretch>
            <a:fillRect/>
          </a:stretch>
        </p:blipFill>
        <p:spPr>
          <a:xfrm>
            <a:off x="190500" y="1639577"/>
            <a:ext cx="8648700" cy="4805843"/>
          </a:xfrm>
          <a:prstGeom prst="rect">
            <a:avLst/>
          </a:prstGeom>
        </p:spPr>
      </p:pic>
    </p:spTree>
    <p:extLst>
      <p:ext uri="{BB962C8B-B14F-4D97-AF65-F5344CB8AC3E}">
        <p14:creationId xmlns:p14="http://schemas.microsoft.com/office/powerpoint/2010/main" val="564117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29FC1D3-5917-4C55-B5FC-DA748ACBAAC4}"/>
              </a:ext>
            </a:extLst>
          </p:cNvPr>
          <p:cNvSpPr>
            <a:spLocks noGrp="1"/>
          </p:cNvSpPr>
          <p:nvPr>
            <p:ph type="dt" sz="half" idx="10"/>
          </p:nvPr>
        </p:nvSpPr>
        <p:spPr/>
        <p:txBody>
          <a:bodyPr/>
          <a:lstStyle/>
          <a:p>
            <a:fld id="{4D202ABA-0031-4D61-A041-186C665429FE}" type="datetime1">
              <a:rPr lang="en-US" smtClean="0"/>
              <a:t>11/21/2025</a:t>
            </a:fld>
            <a:endParaRPr lang="en-US"/>
          </a:p>
        </p:txBody>
      </p:sp>
      <p:sp>
        <p:nvSpPr>
          <p:cNvPr id="5" name="Footer Placeholder 4">
            <a:extLst>
              <a:ext uri="{FF2B5EF4-FFF2-40B4-BE49-F238E27FC236}">
                <a16:creationId xmlns:a16="http://schemas.microsoft.com/office/drawing/2014/main" id="{5B4C2D27-E249-4BF7-B915-8A4D63687AE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7697239-F120-4240-A626-909324061962}"/>
              </a:ext>
            </a:extLst>
          </p:cNvPr>
          <p:cNvSpPr>
            <a:spLocks noGrp="1"/>
          </p:cNvSpPr>
          <p:nvPr>
            <p:ph type="sldNum" sz="quarter" idx="12"/>
          </p:nvPr>
        </p:nvSpPr>
        <p:spPr/>
        <p:txBody>
          <a:bodyPr/>
          <a:lstStyle/>
          <a:p>
            <a:fld id="{F4E32468-D4D3-45A6-A508-7622D5375F4E}" type="slidenum">
              <a:rPr lang="en-US" smtClean="0"/>
              <a:pPr/>
              <a:t>66</a:t>
            </a:fld>
            <a:endParaRPr lang="en-US"/>
          </a:p>
        </p:txBody>
      </p:sp>
      <p:pic>
        <p:nvPicPr>
          <p:cNvPr id="4098" name="Picture 2" descr="Image result for Q&amp;A">
            <a:extLst>
              <a:ext uri="{FF2B5EF4-FFF2-40B4-BE49-F238E27FC236}">
                <a16:creationId xmlns:a16="http://schemas.microsoft.com/office/drawing/2014/main" id="{47055E9B-F2FE-4E99-B161-11563C7EC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850" y="1619250"/>
            <a:ext cx="3162300" cy="31623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BD815EB-2280-4C06-9001-8816855F47A2}"/>
              </a:ext>
            </a:extLst>
          </p:cNvPr>
          <p:cNvSpPr/>
          <p:nvPr/>
        </p:nvSpPr>
        <p:spPr>
          <a:xfrm>
            <a:off x="1008364" y="893862"/>
            <a:ext cx="7127272" cy="523220"/>
          </a:xfrm>
          <a:prstGeom prst="rect">
            <a:avLst/>
          </a:prstGeom>
        </p:spPr>
        <p:txBody>
          <a:bodyPr wrap="none">
            <a:spAutoFit/>
          </a:bodyPr>
          <a:lstStyle/>
          <a:p>
            <a:r>
              <a:rPr lang="en-US" sz="2800" b="1">
                <a:solidFill>
                  <a:srgbClr val="006600"/>
                </a:solidFill>
                <a:latin typeface="Arial" panose="020B0604020202020204" pitchFamily="34" charset="0"/>
                <a:cs typeface="Arial" panose="020B0604020202020204" pitchFamily="34" charset="0"/>
              </a:rPr>
              <a:t>“Learning to code can change your life”</a:t>
            </a:r>
          </a:p>
        </p:txBody>
      </p:sp>
      <p:sp>
        <p:nvSpPr>
          <p:cNvPr id="8" name="Rectangle 7">
            <a:extLst>
              <a:ext uri="{FF2B5EF4-FFF2-40B4-BE49-F238E27FC236}">
                <a16:creationId xmlns:a16="http://schemas.microsoft.com/office/drawing/2014/main" id="{5D7455DF-161B-4CDA-B246-4335E20D2957}"/>
              </a:ext>
            </a:extLst>
          </p:cNvPr>
          <p:cNvSpPr/>
          <p:nvPr/>
        </p:nvSpPr>
        <p:spPr>
          <a:xfrm>
            <a:off x="627364" y="4800600"/>
            <a:ext cx="7907036" cy="1569660"/>
          </a:xfrm>
          <a:prstGeom prst="rect">
            <a:avLst/>
          </a:prstGeom>
        </p:spPr>
        <p:txBody>
          <a:bodyPr wrap="square">
            <a:spAutoFit/>
          </a:bodyPr>
          <a:lstStyle/>
          <a:p>
            <a:pPr algn="ctr"/>
            <a:r>
              <a:rPr lang="en-US" sz="2400">
                <a:solidFill>
                  <a:srgbClr val="0A0A0A"/>
                </a:solidFill>
                <a:latin typeface="Arial" panose="020B0604020202020204" pitchFamily="34" charset="0"/>
                <a:cs typeface="Arial" panose="020B0604020202020204" pitchFamily="34" charset="0"/>
              </a:rPr>
              <a:t>"</a:t>
            </a:r>
            <a:r>
              <a:rPr lang="en-US" sz="2400" i="1">
                <a:solidFill>
                  <a:srgbClr val="0A0A0A"/>
                </a:solidFill>
                <a:latin typeface="Arial" panose="020B0604020202020204" pitchFamily="34" charset="0"/>
                <a:cs typeface="Arial" panose="020B0604020202020204" pitchFamily="34" charset="0"/>
              </a:rPr>
              <a:t>Everybody in this country should learn to program </a:t>
            </a:r>
            <a:br>
              <a:rPr lang="en-US" sz="2400" i="1">
                <a:solidFill>
                  <a:srgbClr val="0A0A0A"/>
                </a:solidFill>
                <a:latin typeface="Arial" panose="020B0604020202020204" pitchFamily="34" charset="0"/>
                <a:cs typeface="Arial" panose="020B0604020202020204" pitchFamily="34" charset="0"/>
              </a:rPr>
            </a:br>
            <a:r>
              <a:rPr lang="en-US" sz="2400" i="1">
                <a:solidFill>
                  <a:srgbClr val="0A0A0A"/>
                </a:solidFill>
                <a:latin typeface="Arial" panose="020B0604020202020204" pitchFamily="34" charset="0"/>
                <a:cs typeface="Arial" panose="020B0604020202020204" pitchFamily="34" charset="0"/>
              </a:rPr>
              <a:t>a computer, because it teaches you how to think.</a:t>
            </a:r>
            <a:r>
              <a:rPr lang="en-US" sz="2400">
                <a:solidFill>
                  <a:srgbClr val="0A0A0A"/>
                </a:solidFill>
                <a:latin typeface="Arial" panose="020B0604020202020204" pitchFamily="34" charset="0"/>
                <a:cs typeface="Arial" panose="020B0604020202020204" pitchFamily="34" charset="0"/>
              </a:rPr>
              <a:t>“</a:t>
            </a:r>
          </a:p>
          <a:p>
            <a:pPr algn="r"/>
            <a:endParaRPr lang="en-US" sz="2400" b="1">
              <a:solidFill>
                <a:srgbClr val="0A0A0A"/>
              </a:solidFill>
              <a:latin typeface="Arial" panose="020B0604020202020204" pitchFamily="34" charset="0"/>
              <a:cs typeface="Arial" panose="020B0604020202020204" pitchFamily="34" charset="0"/>
            </a:endParaRPr>
          </a:p>
          <a:p>
            <a:pPr algn="r"/>
            <a:r>
              <a:rPr lang="en-US" sz="2400" b="1">
                <a:solidFill>
                  <a:srgbClr val="0A0A0A"/>
                </a:solidFill>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Steve Jobs --</a:t>
            </a:r>
          </a:p>
        </p:txBody>
      </p:sp>
    </p:spTree>
    <p:extLst>
      <p:ext uri="{BB962C8B-B14F-4D97-AF65-F5344CB8AC3E}">
        <p14:creationId xmlns:p14="http://schemas.microsoft.com/office/powerpoint/2010/main" val="2906992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26702</TotalTime>
  <Words>2911</Words>
  <Application>Microsoft Office PowerPoint</Application>
  <PresentationFormat>On-screen Show (4:3)</PresentationFormat>
  <Paragraphs>419</Paragraphs>
  <Slides>66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66</vt:i4>
      </vt:variant>
    </vt:vector>
  </HeadingPairs>
  <TitlesOfParts>
    <vt:vector size="75" baseType="lpstr">
      <vt:lpstr>Arial</vt:lpstr>
      <vt:lpstr>Calibri</vt:lpstr>
      <vt:lpstr>Courier New</vt:lpstr>
      <vt:lpstr>Segoe UI</vt:lpstr>
      <vt:lpstr>SFMono-Regular</vt:lpstr>
      <vt:lpstr>Times New Roman</vt:lpstr>
      <vt:lpstr>Verdana</vt:lpstr>
      <vt:lpstr>Wingdings</vt:lpstr>
      <vt:lpstr>Office Theme</vt:lpstr>
      <vt:lpstr>LẬP TRÌNH WEB VỚI MÔ HÌNH MVC</vt:lpstr>
      <vt:lpstr>1. What is Entity framework Core</vt:lpstr>
      <vt:lpstr>1. What is Entity framework Core</vt:lpstr>
      <vt:lpstr>1. What is Entity framework Core</vt:lpstr>
      <vt:lpstr>2. Install</vt:lpstr>
      <vt:lpstr>2. FrameworkEntity Framework Achitecture</vt:lpstr>
      <vt:lpstr>2. FrameworkEntity Framework Achitecture</vt:lpstr>
      <vt:lpstr>3. How Entity Framework Works?</vt:lpstr>
      <vt:lpstr>4. How Entity Framework Works?</vt:lpstr>
      <vt:lpstr>3. How Entity Framework Works?</vt:lpstr>
      <vt:lpstr>4. Entity Data Model</vt:lpstr>
      <vt:lpstr>5. Query</vt:lpstr>
      <vt:lpstr>6. Saving</vt:lpstr>
      <vt:lpstr>7. Entity Framework</vt:lpstr>
      <vt:lpstr>Install Entity Framework Core</vt:lpstr>
      <vt:lpstr>8. Entity Class</vt:lpstr>
      <vt:lpstr>9. Context Class</vt:lpstr>
      <vt:lpstr>9. Context Class</vt:lpstr>
      <vt:lpstr>10. Code First Approach</vt:lpstr>
      <vt:lpstr>10.1. Create entity Classes</vt:lpstr>
      <vt:lpstr>10.2. Create context class</vt:lpstr>
      <vt:lpstr>10.2. Create context class</vt:lpstr>
      <vt:lpstr>10.3. Database Schema Creation in EF Core</vt:lpstr>
      <vt:lpstr>10.3.1 Migration API</vt:lpstr>
      <vt:lpstr>10.3.1 Migration API</vt:lpstr>
      <vt:lpstr>10.3.1 Migration API</vt:lpstr>
      <vt:lpstr>10.3.1 Migration API</vt:lpstr>
      <vt:lpstr>10.3.1 Migration API</vt:lpstr>
      <vt:lpstr>10.2. Create context class</vt:lpstr>
      <vt:lpstr>8. 1 Creating an Entity Data Model</vt:lpstr>
      <vt:lpstr>8. 1 Creating an Entity Data Model</vt:lpstr>
      <vt:lpstr>8. 1 Creating an Entity Data Model</vt:lpstr>
      <vt:lpstr>8. 1 Creating an Entity Data Model</vt:lpstr>
      <vt:lpstr>8. 2 Model Brower</vt:lpstr>
      <vt:lpstr>8. 3 DBContext</vt:lpstr>
      <vt:lpstr>8. 3 DBContext</vt:lpstr>
      <vt:lpstr>8. 3 DBContext</vt:lpstr>
      <vt:lpstr>8. 3 DBContext</vt:lpstr>
      <vt:lpstr>8. 3 DBContext</vt:lpstr>
      <vt:lpstr>8. 3 DBContext</vt:lpstr>
      <vt:lpstr>8. 3 DBContext</vt:lpstr>
      <vt:lpstr>8. 3 DBContext</vt:lpstr>
      <vt:lpstr>8. 4 Add Entity</vt:lpstr>
      <vt:lpstr>8. 5 Create</vt:lpstr>
      <vt:lpstr>8. 5 Method of Dbset type</vt:lpstr>
      <vt:lpstr>8. 5 Method of Dbset type</vt:lpstr>
      <vt:lpstr>8. 5 Method of Dbset type</vt:lpstr>
      <vt:lpstr>8. 5 Method of Dbset type</vt:lpstr>
      <vt:lpstr>8. 6 Saving Data in the Connected Scenario</vt:lpstr>
      <vt:lpstr>8. 6 Saving Data in the Connected Scenario</vt:lpstr>
      <vt:lpstr>8. 6 Saving Data in the Connected Scenario</vt:lpstr>
      <vt:lpstr>8. 6 Saving Data in the Connected Scenario</vt:lpstr>
      <vt:lpstr>8. 7 Querying in Entity Framework</vt:lpstr>
      <vt:lpstr>8. 7 Querying in Entity Framework</vt:lpstr>
      <vt:lpstr>8. 8 Stored Procedure in Entity Framework</vt:lpstr>
      <vt:lpstr>8. 8 Stored Procedure in Entity Framework</vt:lpstr>
      <vt:lpstr>8. 8 Stored Procedure in Entity Framework</vt:lpstr>
      <vt:lpstr>8. 8 Stored Procedure in Entity Framework</vt:lpstr>
      <vt:lpstr>8. 8 Stored Procedure in Entity Framework</vt:lpstr>
      <vt:lpstr>8. 9 Stored Procedure in Entity Framework</vt:lpstr>
      <vt:lpstr>8. 9 Stored Procedure in Entity Framework</vt:lpstr>
      <vt:lpstr>8. 9 Stored Procedure in Entity Framework</vt:lpstr>
      <vt:lpstr>8. 9 Stored Procedure in Entity Framework</vt:lpstr>
      <vt:lpstr>8. 9 Stored Procedure in Entity Framework</vt:lpstr>
      <vt:lpstr>8. 9 Stored Procedure in Entity Framework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QHADMIN</dc:creator>
  <cp:keywords>Slide 01 - Tong quan ve Ngon ngu lap trinh</cp:keywords>
  <cp:lastModifiedBy>Chu Hue</cp:lastModifiedBy>
  <cp:revision>934</cp:revision>
  <dcterms:created xsi:type="dcterms:W3CDTF">2011-01-09T04:46:30Z</dcterms:created>
  <dcterms:modified xsi:type="dcterms:W3CDTF">2025-11-21T08:17:04Z</dcterms:modified>
</cp:coreProperties>
</file>