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2" r:id="rId4"/>
    <p:sldId id="259" r:id="rId5"/>
    <p:sldId id="258" r:id="rId6"/>
    <p:sldId id="261" r:id="rId7"/>
    <p:sldId id="260" r:id="rId8"/>
    <p:sldId id="262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9BBC5-05DC-45EA-9616-04D253931695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7F99C-06D2-411C-80EB-81EFED9E5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84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24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B5C90-9DEB-30B0-A421-B9849143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ABFAC-7E16-E437-054E-033487D61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9E6C2-6A4E-6BEB-50C4-9846EB392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C742-9238-D5D4-53B0-3C509D1EB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4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39EA-28BE-3E1C-EEE9-30F77C6AF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134E0-4F00-7558-2C41-8B33F4FC6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67D65-CA9A-7ABA-A7F0-09910CEB6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68A94-22D1-92B2-BEC0-F2DEEDF71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553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BEFA-D652-4311-CA76-FA440C56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0876F-93D2-E5A5-A19F-F024EA37F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BE8EA4-9E02-F0B2-1001-FE795D1DBF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B74CE-3BC1-5C5C-C031-0BC37FFC4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86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AF51D-7187-0055-2D55-7B435839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56AA41-F419-979C-F478-A29AF2B35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4036D-458E-3E50-945A-ACF5B2BA6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5EB41-154A-4D21-F181-883828B02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78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2C37-C48F-E6FA-B116-98187399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7E237-776A-39D8-6F3B-974AD57B1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AD9E7-EA59-A6A7-5F19-4B0EB18A3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9F07E-58ED-FAC6-8513-858E46687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2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34E0C-7635-F86E-448A-5D2AA618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E5A7E-A5EE-08F5-A271-FFCD6F305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32AA1-DC76-2F22-A947-D9C46843D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EE58A-272D-2C69-CEB5-A2B2CCC8B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15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D7AE0-988B-00DC-F3CE-1DC46463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58C01-0DD0-5EFD-B3B3-650F35531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91835-611A-6B5D-3B29-A910362BA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CC506-ABF9-5CC8-CF7C-40C54F9C8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9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2380-D81B-965F-69E5-BA701637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FAAA7-884D-2598-2194-AD556BCB2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93F30-0CCB-E18A-D346-BFEFD17CA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11C35-0C8B-33D5-45E5-08E910DBF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62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AD4AE-DF1B-ACB5-A098-2B587DD3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B08EE9-7C71-1AE8-C463-48540BC5A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72E32-0C21-39D7-7C20-DF26287B0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16CD0-1CE4-E405-ADF1-FE9A01EDC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24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0148-2CBD-E064-B7EE-D6E9FD81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D0CF6-9740-FEBA-8961-9AC77A437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93FF3-6B51-F475-FE8E-7E1904D8D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1244B-D9D0-2FD7-3851-E2EE765F4A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33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330DC-70C7-6340-E75F-3A360506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BB731-701A-B48B-D00B-655446663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45D19-3C9A-4D09-BA84-B96E6A400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45052-0ABD-4BBF-449D-B2878DB76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27F99C-06D2-411C-80EB-81EFED9E588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81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D1F2-0F3A-F434-D5E0-DFDCF80ED0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FE8D-829F-EB51-FFCE-29A606294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67D57-31E1-707B-3F2E-BD3EA748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40B90-4A68-92A8-73B9-3CD4824F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FDDA2-8252-0AB9-93F3-9757DDD5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5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98DE-BDD0-1FFF-A9DD-D9E9D37B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926C4-14B4-C644-DE4E-8E068F7C4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8D010-F3CA-CC74-4E34-F12D9BC8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D18E7-7DF3-ECB0-C71C-30A161B5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8F39-CE14-BFAD-F5B7-72F9A189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0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597E-E211-5D57-2ABE-D2053DE18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C4310-E3C1-BC6D-D382-ECD7993B5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18A0C-A893-140B-7C91-CD040AE82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1942B-03DF-5738-5277-4AF0222E7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E8C7A-A78B-B946-FE28-D1D035C1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C42FE-7E2F-D04C-F742-D7339CF9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99906-250D-0019-8351-16FC11F61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C5068-995A-951F-3EB9-7487020EE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5CE7B-BFDC-116C-DA53-4C0214ABD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73A0D-0EEF-F1B1-2712-2294CABD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FF131-7480-F703-645F-DBCBA53E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1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C667-ECB4-465D-E6ED-E83FF7E8B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77710-EA7B-08FE-51D3-2DE37BA45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8232D-E451-D75C-74DD-D750D252E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8B5CA-825B-5253-B7A8-0CA3BC4AD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ABA54-86B0-25A8-6C94-2196A2DE0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0937EC-21FF-299B-5D03-A32D13FA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89382-D3C3-3CE3-811D-3B993280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D5D46C-64A0-F3B3-F2F5-B8D8F2604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31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095C-E49C-FC1D-80E5-0534FDDC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BE6875-172C-B3DC-0189-607BF1D0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1F680-72C7-EA04-0150-E3D94B15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0074F-F782-E97A-ADF4-83D4F78E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47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D8FB53-E65B-A156-6D56-DB1DBDD9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BF62A-E96B-AA09-ED0A-C8C7AF12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E9703-7E87-7DD4-C363-340D6D56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9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A095-6408-CBC3-8F72-F3B38D18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FCC0E-19B0-E14B-1A9C-BF4AD4FA3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6D17B-099B-A169-E0AF-19802D9E9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FF34F-76C8-6C33-F726-6FFC34E7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56B5F-05C8-937D-5576-5D1D09E1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8A5BD-A803-24F7-475B-4056836C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AE8A-524F-CD0E-49AE-477A0287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D54FDA-3782-1BDD-0CA6-BDB4F71B4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FB69E-484D-9D0E-9161-D5238E95C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309E3-6672-66EE-FAA5-52350E02F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E2311-EC75-1F47-F4EC-D1652050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A6273-1DDE-B912-E024-98E0F673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3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F5066-B972-DF7D-3195-93C1D146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9BC94-3E4C-F768-937B-8FCA6AFCF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8DCC2-3D5F-2A27-1006-337A9727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94DE-1E18-D1F3-FC23-865149548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88D52-290C-175E-2566-CD34CE1D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1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DE3EC-1007-523B-E0B7-8BB93E914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2DF197-0D36-B3D8-AF20-B329F572E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A925E-2144-938A-4421-C350308D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07595-F990-AA65-E3D0-78F1D710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D7824-B3EA-DF95-085F-75F61367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A2ACC-C439-69E7-5635-1E05BEB6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415A3A-7ECA-B7D2-0455-38757B0C5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89256-56A6-08A7-E469-8DE5D68BC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9AA3AF-F8D3-4B6A-935E-ACEB8D170619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B13FA-5A38-C4D3-65FA-8B7009692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A8B82-F974-8FCD-853B-72D3FEC2C8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E3A0C0-27DA-46BA-B279-348F2CACB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5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77675-EE9D-D1FE-BCEC-FD479EFF1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Programming Paradigms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F3386B-FBA6-210C-3B5B-3B395A1AE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0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1AA51-574E-AE45-A979-47F5E7768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Programming Paradigms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9969A-372E-96F0-E89F-439274E9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072" y="1452286"/>
            <a:ext cx="8811855" cy="395342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A26A8B-E585-09F2-6320-29A3E5659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95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28859-9DD6-5767-6BD8-2CDCFF67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BDEF1-128B-A2F1-C512-35D2F8C4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Programming Paradigms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7E099E-6199-D8E3-65B9-704D61453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561" y="1690688"/>
            <a:ext cx="7316221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65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F47A-2E99-4654-6AF1-22D8C66D5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9611-498D-CFC7-8BD7-0F8CE95A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Introduction to Programming Paradigms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45242E-5E43-3ABC-5599-882CB258F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10" y="1709738"/>
            <a:ext cx="8327138" cy="208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601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D7C5E1-E0B2-8FEA-03D1-833EBE76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58114-399C-1B52-0626-E261180CF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100" b="1"/>
              <a:t>Introduction to Programming Paradigms</a:t>
            </a:r>
            <a:endParaRPr lang="en-US" sz="31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7759948-3506-F1B1-C002-F7BC7259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t" anchorCtr="0">
            <a:normAutofit/>
          </a:bodyPr>
          <a:lstStyle/>
          <a:p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endParaRPr lang="en-US" sz="2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6D59173-1705-C265-F763-998909AF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66" r="1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97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346F1-837A-BF85-2584-6CAD6E43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1C908-E4BC-DC5C-E79E-7130638C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Good Code Principles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A64643-ED40-FADC-CCC2-266EF6E89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91313"/>
            <a:ext cx="10905066" cy="436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3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AADD4D-43D3-65A9-5AA6-9FB7E744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497E5-7DE6-DB38-A69B-E5F70A63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Good Code Principles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274D93-79ED-AD60-D235-1DAA347F7F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50309"/>
            <a:ext cx="10905066" cy="384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4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15869-482E-37FF-FF86-513E80B6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3CBABD50-B035-74CE-D7C9-C53225C35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F67E4-3896-8A9A-90DC-F52F4C74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Good Code Principles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C7ABB46-2465-3A19-8326-B95A6C0036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950309"/>
            <a:ext cx="10905066" cy="384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0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8E0EA-4950-05F5-2962-799CF860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D7D03296-BABA-47AD-A5D5-ED156727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B900F-90CB-07D1-FDBD-3B61CACA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61"/>
            <a:ext cx="10515600" cy="10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/>
              <a:t>Good Code Principles</a:t>
            </a:r>
          </a:p>
        </p:txBody>
      </p: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396083"/>
            <a:ext cx="10515599" cy="822960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961906-998C-5EAB-02BC-402544B6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89" y="1396082"/>
            <a:ext cx="6028128" cy="4204618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2CFDB9D-377D-6D30-5C14-FF4FC1401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17082" y="1318111"/>
            <a:ext cx="4336716" cy="54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5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9B36C-2478-775F-8217-AECB308A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38468727-63BE-4191-B4A6-C30C82C0E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9DBFB-9390-EFCA-705A-2544E02F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12454"/>
            <a:ext cx="2381250" cy="21018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Good Code Principles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D355BB6-1BB8-4828-B246-CFB31742D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3483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CA52A9B9-B2B3-46F0-9D53-0EFF9905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245238" y="1452646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35D4E-775F-8CF5-4330-5B543EEC1765}"/>
              </a:ext>
            </a:extLst>
          </p:cNvPr>
          <p:cNvSpPr txBox="1"/>
          <p:nvPr/>
        </p:nvSpPr>
        <p:spPr>
          <a:xfrm>
            <a:off x="3157538" y="412454"/>
            <a:ext cx="3243262" cy="2101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400" dirty="0" err="1"/>
              <a:t>Viết</a:t>
            </a:r>
            <a:r>
              <a:rPr lang="en-US" sz="1400" dirty="0"/>
              <a:t> code </a:t>
            </a:r>
            <a:r>
              <a:rPr lang="en-US" sz="1400" dirty="0" err="1"/>
              <a:t>theo</a:t>
            </a:r>
            <a:r>
              <a:rPr lang="en-US" sz="1400" dirty="0"/>
              <a:t> </a:t>
            </a:r>
            <a:r>
              <a:rPr lang="en-US" sz="1400" b="1" dirty="0"/>
              <a:t>Good Code Principles</a:t>
            </a:r>
            <a:r>
              <a:rPr lang="en-US" sz="1400" dirty="0"/>
              <a:t> </a:t>
            </a:r>
            <a:r>
              <a:rPr lang="en-US" sz="1400" dirty="0" err="1"/>
              <a:t>giúp</a:t>
            </a:r>
            <a:r>
              <a:rPr lang="en-US" sz="1400" dirty="0"/>
              <a:t>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Chia </a:t>
            </a:r>
            <a:r>
              <a:rPr lang="en-US" sz="1400" dirty="0" err="1"/>
              <a:t>tách</a:t>
            </a:r>
            <a:r>
              <a:rPr lang="en-US" sz="1400" dirty="0"/>
              <a:t> </a:t>
            </a:r>
            <a:r>
              <a:rPr lang="en-US" sz="1400" dirty="0" err="1"/>
              <a:t>trách</a:t>
            </a:r>
            <a:r>
              <a:rPr lang="en-US" sz="1400" dirty="0"/>
              <a:t> </a:t>
            </a:r>
            <a:r>
              <a:rPr lang="en-US" sz="1400" dirty="0" err="1"/>
              <a:t>nhiệm</a:t>
            </a:r>
            <a:r>
              <a:rPr lang="en-US" sz="1400" dirty="0"/>
              <a:t> </a:t>
            </a:r>
            <a:r>
              <a:rPr lang="en-US" sz="1400" dirty="0" err="1"/>
              <a:t>rõ</a:t>
            </a:r>
            <a:r>
              <a:rPr lang="en-US" sz="1400" dirty="0"/>
              <a:t> </a:t>
            </a:r>
            <a:r>
              <a:rPr lang="en-US" sz="1400" dirty="0" err="1"/>
              <a:t>ràng</a:t>
            </a:r>
            <a:r>
              <a:rPr lang="en-US" sz="1400" dirty="0"/>
              <a:t> (Separation of Concerns).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Dễ</a:t>
            </a:r>
            <a:r>
              <a:rPr lang="en-US" sz="1400" dirty="0"/>
              <a:t> </a:t>
            </a:r>
            <a:r>
              <a:rPr lang="en-US" sz="1400" dirty="0" err="1"/>
              <a:t>bảo</a:t>
            </a:r>
            <a:r>
              <a:rPr lang="en-US" sz="1400" dirty="0"/>
              <a:t> </a:t>
            </a:r>
            <a:r>
              <a:rPr lang="en-US" sz="1400" dirty="0" err="1"/>
              <a:t>trì</a:t>
            </a:r>
            <a:r>
              <a:rPr lang="en-US" sz="1400" dirty="0"/>
              <a:t>, </a:t>
            </a:r>
            <a:r>
              <a:rPr lang="en-US" sz="1400" dirty="0" err="1"/>
              <a:t>mở</a:t>
            </a:r>
            <a:r>
              <a:rPr lang="en-US" sz="1400" dirty="0"/>
              <a:t> </a:t>
            </a:r>
            <a:r>
              <a:rPr lang="en-US" sz="1400" dirty="0" err="1"/>
              <a:t>rộng</a:t>
            </a:r>
            <a:r>
              <a:rPr lang="en-US" sz="1400" dirty="0"/>
              <a:t> (</a:t>
            </a:r>
            <a:r>
              <a:rPr lang="en-US" sz="1400" dirty="0" err="1"/>
              <a:t>thêm</a:t>
            </a:r>
            <a:r>
              <a:rPr lang="en-US" sz="1400" dirty="0"/>
              <a:t> </a:t>
            </a:r>
            <a:r>
              <a:rPr lang="en-US" sz="1400" dirty="0" err="1"/>
              <a:t>chức</a:t>
            </a:r>
            <a:r>
              <a:rPr lang="en-US" sz="1400" dirty="0"/>
              <a:t> </a:t>
            </a:r>
            <a:r>
              <a:rPr lang="en-US" sz="1400" dirty="0" err="1"/>
              <a:t>năng</a:t>
            </a:r>
            <a:r>
              <a:rPr lang="en-US" sz="1400" dirty="0"/>
              <a:t> </a:t>
            </a:r>
            <a:r>
              <a:rPr lang="en-US" sz="1400" dirty="0" err="1"/>
              <a:t>mà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sửa</a:t>
            </a:r>
            <a:r>
              <a:rPr lang="en-US" sz="1400" dirty="0"/>
              <a:t> </a:t>
            </a:r>
            <a:r>
              <a:rPr lang="en-US" sz="1400" dirty="0" err="1"/>
              <a:t>toàn</a:t>
            </a:r>
            <a:r>
              <a:rPr lang="en-US" sz="1400" dirty="0"/>
              <a:t> </a:t>
            </a:r>
            <a:r>
              <a:rPr lang="en-US" sz="1400" dirty="0" err="1"/>
              <a:t>bộ</a:t>
            </a:r>
            <a:r>
              <a:rPr lang="en-US" sz="1400" dirty="0"/>
              <a:t> Form).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Dễ</a:t>
            </a:r>
            <a:r>
              <a:rPr lang="en-US" sz="1400" dirty="0"/>
              <a:t> </a:t>
            </a:r>
            <a:r>
              <a:rPr lang="en-US" sz="1400" dirty="0" err="1"/>
              <a:t>kiểm</a:t>
            </a:r>
            <a:r>
              <a:rPr lang="en-US" sz="1400" dirty="0"/>
              <a:t> </a:t>
            </a:r>
            <a:r>
              <a:rPr lang="en-US" sz="1400" dirty="0" err="1"/>
              <a:t>thử</a:t>
            </a:r>
            <a:r>
              <a:rPr lang="en-US" sz="1400" dirty="0"/>
              <a:t> (test </a:t>
            </a:r>
            <a:r>
              <a:rPr lang="en-US" sz="1400" dirty="0" err="1"/>
              <a:t>riêng</a:t>
            </a:r>
            <a:r>
              <a:rPr lang="en-US" sz="1400" dirty="0"/>
              <a:t> BLL </a:t>
            </a:r>
            <a:r>
              <a:rPr lang="en-US" sz="1400" dirty="0" err="1"/>
              <a:t>hoặc</a:t>
            </a:r>
            <a:r>
              <a:rPr lang="en-US" sz="1400" dirty="0"/>
              <a:t> DAL </a:t>
            </a:r>
            <a:r>
              <a:rPr lang="en-US" sz="1400" dirty="0" err="1"/>
              <a:t>mà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cần</a:t>
            </a:r>
            <a:r>
              <a:rPr lang="en-US" sz="1400" dirty="0"/>
              <a:t> UI).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DDFCA-1501-9F79-13B7-9A773BD9D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19" b="5962"/>
          <a:stretch>
            <a:fillRect/>
          </a:stretch>
        </p:blipFill>
        <p:spPr>
          <a:xfrm>
            <a:off x="20" y="2959630"/>
            <a:ext cx="6400781" cy="389837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4DA21EB-64B6-DDCE-714E-E19849473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827" b="1519"/>
          <a:stretch>
            <a:fillRect/>
          </a:stretch>
        </p:blipFill>
        <p:spPr>
          <a:xfrm>
            <a:off x="6591299" y="1"/>
            <a:ext cx="56007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03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3755C-C9C0-3888-BF26-BD8D6047A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1DF3B-DFD7-0B4B-2045-EFC58783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9360789" cy="148132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400" dirty="0"/>
              <a:t>Imperative Paradigm - </a:t>
            </a:r>
            <a:r>
              <a:rPr lang="en-US" sz="3400" dirty="0" err="1"/>
              <a:t>Lập</a:t>
            </a:r>
            <a:r>
              <a:rPr lang="en-US" sz="3400" dirty="0"/>
              <a:t> </a:t>
            </a:r>
            <a:r>
              <a:rPr lang="en-US" sz="3400" dirty="0" err="1"/>
              <a:t>trình</a:t>
            </a:r>
            <a:r>
              <a:rPr lang="en-US" sz="3400" dirty="0"/>
              <a:t> </a:t>
            </a:r>
            <a:r>
              <a:rPr lang="en-US" sz="3400" dirty="0" err="1"/>
              <a:t>theo</a:t>
            </a:r>
            <a:r>
              <a:rPr lang="en-US" sz="3400" dirty="0"/>
              <a:t> </a:t>
            </a:r>
            <a:r>
              <a:rPr lang="en-US" sz="3400" dirty="0" err="1"/>
              <a:t>mệnh</a:t>
            </a:r>
            <a:r>
              <a:rPr lang="en-US" sz="3400" dirty="0"/>
              <a:t> </a:t>
            </a:r>
            <a:r>
              <a:rPr lang="en-US" sz="3400" dirty="0" err="1"/>
              <a:t>lệnh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96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98F9665-5443-CD09-08F0-8D334B3D2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 nghĩa: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Imperative Programming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Lập trình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 lệnh cho máy tính từng bước phải làm gì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Mô tả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“How to do”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(làm thế nào).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Đặc điểm:</a:t>
            </a:r>
            <a:endParaRPr kumimoji="0" lang="en-US" altLang="en-US" sz="19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Gồm tập hợp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câu lệnh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(statements).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Sử dụng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gán giá trị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(state changes).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Dùng </a:t>
            </a: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cấu trúc điều khiển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if, for, while.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19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Ví dụ ngôn ngữ:</a:t>
            </a: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C, C++, Java, C#, Python (theo hướng thủ tục).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CF59EB-C6DD-A73C-44B5-FF2C9673E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823" y="2121408"/>
            <a:ext cx="6588179" cy="3014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9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8DE4E0-B719-DBB5-FC58-319435E6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0A592971-1F07-1B2A-89B1-5AE796173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0F992-2186-508D-172C-226F5E80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640080"/>
            <a:ext cx="9360789" cy="148132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pt-BR" sz="3600" dirty="0"/>
              <a:t>Declarative Paradigm – Lập trình khai báo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96" name="sketch line">
            <a:extLst>
              <a:ext uri="{FF2B5EF4-FFF2-40B4-BE49-F238E27FC236}">
                <a16:creationId xmlns:a16="http://schemas.microsoft.com/office/drawing/2014/main" id="{1A63166E-E915-FF9D-52B1-16DDF80C0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03C35B-F500-E629-6B5B-6EAB7668F0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Declarative Programming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súc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SQL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LINQ (Language Integrated Query)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C#.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Các framework ORM </a:t>
            </a:r>
            <a:r>
              <a:rPr lang="en-US" alt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</a:t>
            </a:r>
            <a:r>
              <a:rPr lang="en-US" alt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BACA78-631D-0103-3C38-5F1936FF9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Imperative: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(Open → Execute → Read → Close).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Declarative: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muốn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SQL/LINQ lo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44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DF185F-2F3E-FE12-FB3D-C046761B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98665C76-DAFA-D694-CDD4-5DBF7B0A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22F505-E535-02A7-DD7C-819E8DBC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438690" cy="148132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pt-BR" sz="3600" dirty="0"/>
              <a:t>Declarative Paradigm – Lập trình khai báo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96" name="sketch line">
            <a:extLst>
              <a:ext uri="{FF2B5EF4-FFF2-40B4-BE49-F238E27FC236}">
                <a16:creationId xmlns:a16="http://schemas.microsoft.com/office/drawing/2014/main" id="{25752BF5-CE61-71F8-E44B-E4E99E35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7F25BE-3515-8F5E-AC68-35DFF556A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8560-0665-14C3-587E-266723EA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198F21-2997-3897-080E-E2B3ACD50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12" y="357898"/>
            <a:ext cx="6284175" cy="58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43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9ACDC-2D16-B8DE-6CB6-570B1B10E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A1B7CDD6-7A79-4FF7-8BF7-61CDE6E1B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391937-BDF8-776C-DA45-227960EBE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860536" cy="1481328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600" dirty="0"/>
              <a:t>Object-Oriented Programming Paradigm</a:t>
            </a:r>
            <a:endParaRPr lang="en-US" sz="3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96" name="sketch line">
            <a:extLst>
              <a:ext uri="{FF2B5EF4-FFF2-40B4-BE49-F238E27FC236}">
                <a16:creationId xmlns:a16="http://schemas.microsoft.com/office/drawing/2014/main" id="{FFC86DAC-EB80-D4BC-8DA5-FCDCCCA25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EB55B0-9236-1D32-850F-9812B56D8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800B8B-0DD0-F675-1923-70BA73CDD1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7384" y="2441547"/>
            <a:ext cx="6768328" cy="4382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Định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OOP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(objects).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(attributes)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 (methods)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Nguyên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OOP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(4 pillars):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₋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Encapsulation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class.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₋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Abstraction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Trừu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tượng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giấu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₋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Inheritance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thừa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cha.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Times New Roman" panose="02020603050405020304" pitchFamily="18" charset="0"/>
              <a:buChar char="₋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Polymorphism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 interface,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thi.</a:t>
            </a:r>
          </a:p>
          <a:p>
            <a:pPr marR="0" lvl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Lợi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Code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BF01B9-DD31-7334-FA38-F43E153CCFBD}"/>
              </a:ext>
            </a:extLst>
          </p:cNvPr>
          <p:cNvSpPr txBox="1"/>
          <p:nvPr/>
        </p:nvSpPr>
        <p:spPr>
          <a:xfrm>
            <a:off x="7635712" y="2627446"/>
            <a:ext cx="40346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</a:t>
            </a:r>
            <a:r>
              <a:rPr lang="vi-VN" dirty="0"/>
              <a:t>rong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vi-VN" dirty="0"/>
              <a:t>ứng dụng</a:t>
            </a:r>
          </a:p>
          <a:p>
            <a:r>
              <a:rPr lang="en-US" b="1" dirty="0"/>
              <a:t>- </a:t>
            </a:r>
            <a:r>
              <a:rPr lang="vi-VN" b="1" dirty="0"/>
              <a:t>Model:</a:t>
            </a:r>
            <a:r>
              <a:rPr lang="vi-VN" dirty="0"/>
              <a:t> lớp dữ liệu (Student, Product…).</a:t>
            </a:r>
          </a:p>
          <a:p>
            <a:r>
              <a:rPr lang="en-US" b="1" dirty="0"/>
              <a:t>- </a:t>
            </a:r>
            <a:r>
              <a:rPr lang="vi-VN" b="1" dirty="0"/>
              <a:t>Business Logic (Controller/Service):</a:t>
            </a:r>
            <a:r>
              <a:rPr lang="vi-VN" dirty="0"/>
              <a:t> xử lý nghiệp vụ.</a:t>
            </a:r>
          </a:p>
          <a:p>
            <a:r>
              <a:rPr lang="en-US" b="1" dirty="0"/>
              <a:t>- </a:t>
            </a:r>
            <a:r>
              <a:rPr lang="vi-VN" b="1" dirty="0"/>
              <a:t>View :</a:t>
            </a:r>
            <a:r>
              <a:rPr lang="vi-VN" dirty="0"/>
              <a:t> giao diện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30906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8B343-D82B-11C7-06F5-4D5D8AAF7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A4E8E-3E87-920B-5ECF-0285E2C9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en-US" sz="3300"/>
              <a:t>Object-Oriented Programming Paradigm</a:t>
            </a:r>
            <a:endParaRPr lang="en-US" sz="3300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F7779-CDB0-8381-6092-32CDBDBF6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BEC497-40E4-1710-7760-D02402C05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346" y="161925"/>
            <a:ext cx="5147573" cy="6434468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0DAF2CB3-CF02-A8EE-DE91-C5C27614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04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CCFB3-42C6-6DD7-E989-6FA8E0AC2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D5CD575D-B583-2788-0B34-AC91903B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ACA96F3-A569-6135-FC13-F52D02CC2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30CC164-5FE3-FB19-3D6A-8E26B7317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B196C5D-FB3E-062B-8819-0CD5DE8CED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EB3D747-2C59-8B7C-5532-3E73B4E37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B0267F8-63B2-B7BF-7F98-6BA6EDBE8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D54E4-0A42-2E12-D3A4-D85B17F1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 anchorCtr="0">
            <a:normAutofit fontScale="90000"/>
          </a:bodyPr>
          <a:lstStyle/>
          <a:p>
            <a:r>
              <a:rPr lang="en-US" sz="3600" dirty="0"/>
              <a:t>Event-Driven Programming Paradigm</a:t>
            </a:r>
            <a:endParaRPr lang="en-US" sz="33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E0403D9-2C52-154B-FF17-E9F7D33E5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3A1A1AE-D3FD-019A-F1CD-3BFAE369F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C458F380-5A8D-A28D-68EE-38708AC3A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A0A4E3-29E0-707C-4061-78B7E6E53C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4575" y="2378085"/>
            <a:ext cx="99303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Event-Driven Programming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(events).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Event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(click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(timer,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điệp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Event Loop: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Handler (Event Listener):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kèm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“event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Giao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(UI/UX).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Các framework GUI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WinForms, WPF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 (JavaScript).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670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797A1-D9C7-687A-FFCF-264331740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05FC55A2-9D59-B595-1E39-39902F663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B15B245-67DD-AEE8-AAFB-713A43E3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014E6E7-1BF5-1A1D-52DB-10C3250B0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CB4537D4-03D5-4E6F-738F-3C9225C57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AFA8D5F-6B46-ABED-D1AA-FC0AF0F46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82FD595-525C-7973-C550-ED7BDFF17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21953-7292-BEA8-05EC-A8C10944B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5052369" cy="1035781"/>
          </a:xfrm>
        </p:spPr>
        <p:txBody>
          <a:bodyPr vert="horz" lIns="91440" tIns="45720" rIns="91440" bIns="45720" rtlCol="0" anchor="ctr" anchorCtr="0">
            <a:normAutofit fontScale="90000"/>
          </a:bodyPr>
          <a:lstStyle/>
          <a:p>
            <a:r>
              <a:rPr lang="en-US" sz="3600" dirty="0"/>
              <a:t>Event-Driven Programming Paradigm</a:t>
            </a:r>
            <a:endParaRPr lang="en-US" sz="33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A0ACF5E-655C-9391-B38B-811CCF085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6628D67-6848-9CCB-65A7-4AF508E6B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0687A4C0-615D-4290-A256-D46520370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384A9F-26CB-4C83-D692-9F61DF6C1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4575" y="4178578"/>
            <a:ext cx="426808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379FB-3003-FEA7-743A-82A738B85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593" y="512064"/>
            <a:ext cx="4572638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4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6DC69F-0D5D-929B-9971-609090C63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6" name="Rectangle 12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C232A-6F7D-98CC-B352-2100EE1B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sz="4000">
                <a:latin typeface="Aptos Display (Headings)"/>
              </a:rPr>
              <a:t>Concurrent Programming Paradigm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8F69CD-1537-5247-4DA1-B6FE231E0F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Concurrent Programming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(tasks)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chia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sẻ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→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xen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kẽ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(interleaving).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chờ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I/O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(CSDL, API, file).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treo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(Not Responding)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.NET Core C#: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Thread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Task Parallel Library (TPL)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async/await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16" name="Graphic 115" descr="Network Diagram">
            <a:extLst>
              <a:ext uri="{FF2B5EF4-FFF2-40B4-BE49-F238E27FC236}">
                <a16:creationId xmlns:a16="http://schemas.microsoft.com/office/drawing/2014/main" id="{0BED3C77-A9AD-93D1-6E79-A9F4C7164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842" y="758952"/>
            <a:ext cx="749300" cy="7493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33B0A8C-0515-DD40-4E47-78E49C272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91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AE7AFF-CCC6-0912-FE6E-5C6EA5027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8DF75-343C-A9D0-500C-2E3AF9029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sz="4000">
                <a:latin typeface="Aptos Display (Headings)"/>
              </a:rPr>
              <a:t>Concurrent Programming Paradigm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4CAB04-DE9F-1E02-A1F1-948F74E85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đề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truy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CSDL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tiếp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Button.Click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, form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bị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treo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cho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hoàn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</a:rPr>
              <a:t>tất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Task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async/await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chạy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vụ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trong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background,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giữ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UI responsive.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Ứng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Tải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danh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sách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DB song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song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Gọi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API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lấy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vẫn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phép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thao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A3F717-91ED-C2C7-54B2-9F103B45B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E5443-384A-C503-C6ED-A1C75DF8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7C220B4B-398C-5997-DB17-D16D0CCE0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E2826AAB-5543-E1B4-DC37-0EFCDBFB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C4C48D1C-48D8-013B-21E3-C7EE157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93C63-72A4-285D-EC85-AE8775F9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5494782" cy="1179576"/>
          </a:xfrm>
        </p:spPr>
        <p:txBody>
          <a:bodyPr vert="horz" lIns="91440" tIns="45720" rIns="91440" bIns="45720" rtlCol="0" anchorCtr="0">
            <a:normAutofit fontScale="90000"/>
          </a:bodyPr>
          <a:lstStyle/>
          <a:p>
            <a:r>
              <a:rPr lang="en-US" sz="4000" dirty="0">
                <a:latin typeface="Aptos Display (Headings)"/>
              </a:rPr>
              <a:t>Concurrent Programming Paradigm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908D8ED2-D354-B4E8-ACB9-7C9CB6966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C1186A-D20E-E0E9-3A81-6D63C870B9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5568" y="2481943"/>
            <a:ext cx="10168128" cy="36950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D8A3010-83A3-911B-6204-3914854AE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8B2691-282E-B77B-F959-E30ADE566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4" y="2018806"/>
            <a:ext cx="4134427" cy="3905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4B837B-F4DE-6457-51B0-A52FBFAEB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932" y="0"/>
            <a:ext cx="45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8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F6933D-4E25-E286-9F28-3D191D08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88094785-37EA-B85F-17B5-02086DBE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3268617A-3919-111C-CA5F-057894D4C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83B73528-16F7-DFF7-F8FF-B158202C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337F10-5831-9DA8-3A9E-5BD33E2F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9372600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sz="4000" dirty="0"/>
              <a:t>Functional Programming (FP) – </a:t>
            </a:r>
            <a:r>
              <a:rPr lang="en-US" sz="4000" dirty="0" err="1"/>
              <a:t>Lập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hàm</a:t>
            </a:r>
            <a:endParaRPr lang="en-US" sz="4000" dirty="0">
              <a:latin typeface="Aptos Display (Headings)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1002A50-B8B3-6B57-ABB9-55749A9B6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BA0D561-60C9-33C6-F480-874899E43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40D64D-9FD4-9798-3EB1-C27ECF0E99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6013" y="2744063"/>
            <a:ext cx="994708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Functional Programming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(functions)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dân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(first-class citizens).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thuần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túy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(pure functions).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Pure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Immutability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Higher-Order Functions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Declarative Style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cái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tâm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Trong C#: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FP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Lambda expressions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Delegates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Func&lt;&gt; / Action&lt;&gt;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241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70871-7461-4904-C06F-9A8131B3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3B71E708-D7F3-F4CC-DD63-0F9C995FE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E47B2A21-0F6E-26F0-93D7-5B2CBDF8D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8A42FE09-CA1D-8CAF-C671-F1563775D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057A4-85AC-EFCF-0452-61C16204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9372600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sz="4000" dirty="0"/>
              <a:t>Functional Programming (FP) – </a:t>
            </a:r>
            <a:r>
              <a:rPr lang="en-US" sz="4000" dirty="0" err="1"/>
              <a:t>Lập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</a:t>
            </a:r>
            <a:r>
              <a:rPr lang="en-US" sz="4000" dirty="0" err="1"/>
              <a:t>hàm</a:t>
            </a:r>
            <a:endParaRPr lang="en-US" sz="4000" dirty="0">
              <a:latin typeface="Aptos Display (Headings)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3263F86-29D2-7341-8792-64059CC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061968D-DADF-7638-9E71-A98187BCF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1F36F-16C7-0501-88CF-25EAFD77A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77" y="1728216"/>
            <a:ext cx="4048690" cy="3677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41589E-2BE1-E29D-3411-6CAAC26DC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124" y="1463040"/>
            <a:ext cx="4677428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6A049-34CD-B9E3-15CD-42970779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442B434A-5282-40F1-4482-0A9013179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37100812-44C9-76EF-ED45-756E44EE5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68D436B0-CBCF-D9E1-91F2-ED56076E8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5E2BD-DABC-5B34-AF34-48CB085F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9372600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en-US" sz="4000" dirty="0"/>
              <a:t>Logic Programming Paradigm – </a:t>
            </a:r>
            <a:r>
              <a:rPr lang="en-US" sz="4000" dirty="0" err="1"/>
              <a:t>Lập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logic</a:t>
            </a:r>
            <a:endParaRPr lang="en-US" sz="4000" dirty="0">
              <a:latin typeface="Aptos Display (Headings)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14D4BEF-2880-E31E-4854-F885E7E6E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8FC8AB-3AEC-2130-87FB-E48DEBF29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DC74CB-4B49-4DD7-FF4B-4150F510D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8209" y="2068492"/>
            <a:ext cx="11226822" cy="4521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Định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Logic Programming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(facts + rules).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(inference engine)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lời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thỏa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mệnh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thỏa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Thành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 (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Student("Nam", 20).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(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facts: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Passed(X) :- Score(X) &gt;= 50.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(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?- Passed(Nam).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Trong ứng dụng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thường lưu trong 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CSDL (SQL Server)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truy vấn dữ liệu bằng 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(LINQ)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 cũng </a:t>
            </a:r>
            <a:r>
              <a:rPr lang="vi-V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khai báo điều kiện logic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thay vì viết vòng lặp tìm kiếm.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vi-V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Đây chính là sự “ứng dụng logic programming” trong môi trường thực tế.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1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4112C-E7D7-A1B0-4953-E0043CDB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87B36732-7970-7184-8C8E-B8DC762B7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9EDA21BD-FF07-4C40-7D63-62873E9F3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DDB85597-87F6-1D10-8415-F8E58A927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A92D0-99BA-7F18-6D9E-1A0EE3CF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6118647" cy="1179576"/>
          </a:xfrm>
        </p:spPr>
        <p:txBody>
          <a:bodyPr vert="horz" lIns="91440" tIns="45720" rIns="91440" bIns="45720" rtlCol="0" anchorCtr="0">
            <a:normAutofit fontScale="90000"/>
          </a:bodyPr>
          <a:lstStyle/>
          <a:p>
            <a:r>
              <a:rPr lang="en-US" sz="4000" dirty="0"/>
              <a:t>Logic Programming Paradigm – </a:t>
            </a:r>
            <a:r>
              <a:rPr lang="en-US" sz="4000" dirty="0" err="1"/>
              <a:t>Lập</a:t>
            </a:r>
            <a:r>
              <a:rPr lang="en-US" sz="4000" dirty="0"/>
              <a:t> </a:t>
            </a:r>
            <a:r>
              <a:rPr lang="en-US" sz="4000" dirty="0" err="1"/>
              <a:t>trình</a:t>
            </a:r>
            <a:r>
              <a:rPr lang="en-US" sz="4000" dirty="0"/>
              <a:t> logic</a:t>
            </a:r>
            <a:endParaRPr lang="en-US" sz="4000" dirty="0">
              <a:latin typeface="Aptos Display (Headings)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9C66E2B-C91A-8BF5-D987-405BA2D2A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3CD369E-05B9-F524-FE9A-09514E5E8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4B450F-E406-A09D-2A9C-6461AD9BC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271" y="331444"/>
            <a:ext cx="4684508" cy="6214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94DCD-23B9-FB86-67EA-41AAB62D6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660904"/>
            <a:ext cx="442974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8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AF60F-5552-E85C-2188-4EFFA08B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87336048-9173-C438-A18B-8452CE59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1" name="Rectangle 130">
            <a:extLst>
              <a:ext uri="{FF2B5EF4-FFF2-40B4-BE49-F238E27FC236}">
                <a16:creationId xmlns:a16="http://schemas.microsoft.com/office/drawing/2014/main" id="{9875366D-7E21-8666-0FAA-1A6C85403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8" name="Rectangle 127">
            <a:extLst>
              <a:ext uri="{FF2B5EF4-FFF2-40B4-BE49-F238E27FC236}">
                <a16:creationId xmlns:a16="http://schemas.microsoft.com/office/drawing/2014/main" id="{B5707430-D4A0-552F-B9D4-538E841C2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726A42-3948-8D7E-5B6E-90042214C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8723376" cy="1179576"/>
          </a:xfrm>
        </p:spPr>
        <p:txBody>
          <a:bodyPr vert="horz" lIns="91440" tIns="45720" rIns="91440" bIns="45720" rtlCol="0" anchorCtr="0">
            <a:normAutofit/>
          </a:bodyPr>
          <a:lstStyle/>
          <a:p>
            <a:r>
              <a:rPr lang="vi-VN" sz="4000" dirty="0"/>
              <a:t>Ưu và Nhược điểm của các Paradigms</a:t>
            </a:r>
            <a:endParaRPr lang="en-US" sz="4000" dirty="0">
              <a:latin typeface="Aptos Display (Headings)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403CD7CF-9CBF-67CF-721D-5101D5976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31FE6A4-B73D-4A1C-6F30-078B0117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1468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3FB55867-888D-2588-44F5-4A1946EE7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DFA459-6158-765C-EA74-083782F5F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584" y="1606750"/>
            <a:ext cx="8164064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04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5677</TotalTime>
  <Words>1333</Words>
  <Application>Microsoft Office PowerPoint</Application>
  <PresentationFormat>Widescreen</PresentationFormat>
  <Paragraphs>135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Aptos</vt:lpstr>
      <vt:lpstr>Aptos Display</vt:lpstr>
      <vt:lpstr>Aptos Display (Headings)</vt:lpstr>
      <vt:lpstr>Arial</vt:lpstr>
      <vt:lpstr>Arial Unicode MS</vt:lpstr>
      <vt:lpstr>Calibri</vt:lpstr>
      <vt:lpstr>Times New Roman</vt:lpstr>
      <vt:lpstr>Wingdings</vt:lpstr>
      <vt:lpstr>Office Theme</vt:lpstr>
      <vt:lpstr>Programming Paradigms</vt:lpstr>
      <vt:lpstr>Introduction to Programming Paradigms</vt:lpstr>
      <vt:lpstr>Introduction to Programming Paradigms</vt:lpstr>
      <vt:lpstr>Introduction to Programming Paradigms</vt:lpstr>
      <vt:lpstr>Introduction to Programming Paradigms</vt:lpstr>
      <vt:lpstr>Good Code Principles</vt:lpstr>
      <vt:lpstr>Good Code Principles</vt:lpstr>
      <vt:lpstr>Good Code Principles</vt:lpstr>
      <vt:lpstr>Good Code Principles</vt:lpstr>
      <vt:lpstr>Good Code Principles</vt:lpstr>
      <vt:lpstr>Imperative Paradigm - Lập trình theo mệnh lệnh</vt:lpstr>
      <vt:lpstr>Declarative Paradigm – Lập trình khai báo</vt:lpstr>
      <vt:lpstr>Declarative Paradigm – Lập trình khai báo</vt:lpstr>
      <vt:lpstr>Object-Oriented Programming Paradigm</vt:lpstr>
      <vt:lpstr>Object-Oriented Programming Paradigm</vt:lpstr>
      <vt:lpstr>Event-Driven Programming Paradigm</vt:lpstr>
      <vt:lpstr>Event-Driven Programming Paradigm</vt:lpstr>
      <vt:lpstr>Concurrent Programming Paradigm</vt:lpstr>
      <vt:lpstr>Concurrent Programming Paradigm</vt:lpstr>
      <vt:lpstr>Concurrent Programming Paradigm</vt:lpstr>
      <vt:lpstr>Functional Programming (FP) – Lập trình hàm</vt:lpstr>
      <vt:lpstr>Functional Programming (FP) – Lập trình hàm</vt:lpstr>
      <vt:lpstr>Logic Programming Paradigm – Lập trình logic</vt:lpstr>
      <vt:lpstr>Logic Programming Paradigm – Lập trình logic</vt:lpstr>
      <vt:lpstr>Ưu và Nhược điểm của các Paradigms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 Hue</dc:creator>
  <cp:lastModifiedBy>Chu Hue</cp:lastModifiedBy>
  <cp:revision>15</cp:revision>
  <dcterms:created xsi:type="dcterms:W3CDTF">2025-08-25T09:05:00Z</dcterms:created>
  <dcterms:modified xsi:type="dcterms:W3CDTF">2025-09-04T14:46:26Z</dcterms:modified>
</cp:coreProperties>
</file>