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b7a9fbe33c44d7" /><Relationship Type="http://schemas.openxmlformats.org/officeDocument/2006/relationships/extended-properties" Target="/docProps/app.xml" Id="Rcd91d384709242b8" /><Relationship Type="http://schemas.openxmlformats.org/officeDocument/2006/relationships/officeDocument" Target="/ppt/presentation.xml" Id="R5d4e0c70509b4633" /></Relationships>
</file>

<file path=ppt/presentation.xml><?xml version="1.0" encoding="utf-8"?>
<p:presentation xmlns:p="http://schemas.openxmlformats.org/presentationml/2006/main">
  <p:sldMasterIdLst>
    <p:sldMasterId xmlns:r="http://schemas.openxmlformats.org/officeDocument/2006/relationships" id="2147483648" r:id="R10def22452ce4df7"/>
  </p:sldMasterIdLst>
  <p:notesMasterIdLst>
    <p:notesMasterId xmlns:r="http://schemas.openxmlformats.org/officeDocument/2006/relationships" r:id="Rdebff19b7d7c4dbf"/>
  </p:notesMasterIdLst>
  <p:sldIdLst>
    <p:sldId xmlns:r="http://schemas.openxmlformats.org/officeDocument/2006/relationships" id="256" r:id="Rc699902bcb314fb6"/>
    <p:sldId xmlns:r="http://schemas.openxmlformats.org/officeDocument/2006/relationships" id="257" r:id="R9f1c8acc58dd4126"/>
    <p:sldId xmlns:r="http://schemas.openxmlformats.org/officeDocument/2006/relationships" id="258" r:id="R8356993ef22348d6"/>
    <p:sldId xmlns:r="http://schemas.openxmlformats.org/officeDocument/2006/relationships" id="259" r:id="R7486ea8e62ea42a9"/>
    <p:sldId xmlns:r="http://schemas.openxmlformats.org/officeDocument/2006/relationships" id="260" r:id="Rc135ded9350b44e1"/>
    <p:sldId xmlns:r="http://schemas.openxmlformats.org/officeDocument/2006/relationships" id="261" r:id="R69fcc11270044300"/>
    <p:sldId xmlns:r="http://schemas.openxmlformats.org/officeDocument/2006/relationships" id="262" r:id="R4fcc959a77d44870"/>
    <p:sldId xmlns:r="http://schemas.openxmlformats.org/officeDocument/2006/relationships" id="263" r:id="R1445613c6da34ff6"/>
    <p:sldId xmlns:r="http://schemas.openxmlformats.org/officeDocument/2006/relationships" id="264" r:id="R2729bab0c0b44404"/>
    <p:sldId xmlns:r="http://schemas.openxmlformats.org/officeDocument/2006/relationships" id="265" r:id="R7250f9526fb442b2"/>
    <p:sldId xmlns:r="http://schemas.openxmlformats.org/officeDocument/2006/relationships" id="266" r:id="Rbf1a7218f0674ffb"/>
    <p:sldId xmlns:r="http://schemas.openxmlformats.org/officeDocument/2006/relationships" id="267" r:id="Rfda421954653446b"/>
    <p:sldId xmlns:r="http://schemas.openxmlformats.org/officeDocument/2006/relationships" id="268" r:id="R5aea3942cf904c1f"/>
    <p:sldId xmlns:r="http://schemas.openxmlformats.org/officeDocument/2006/relationships" id="269" r:id="R1d3d5a9b95724feb"/>
    <p:sldId xmlns:r="http://schemas.openxmlformats.org/officeDocument/2006/relationships" id="270" r:id="Rb0c106ec1c324dc8"/>
    <p:sldId xmlns:r="http://schemas.openxmlformats.org/officeDocument/2006/relationships" id="271" r:id="Rd973dc85fccc413c"/>
    <p:sldId xmlns:r="http://schemas.openxmlformats.org/officeDocument/2006/relationships" id="272" r:id="R878d7a8d0b6b4770"/>
    <p:sldId xmlns:r="http://schemas.openxmlformats.org/officeDocument/2006/relationships" id="273" r:id="Rc40613eef00f4a75"/>
    <p:sldId xmlns:r="http://schemas.openxmlformats.org/officeDocument/2006/relationships" id="274" r:id="R8e5b015ffbb14c2b"/>
    <p:sldId xmlns:r="http://schemas.openxmlformats.org/officeDocument/2006/relationships" id="275" r:id="R2eb13142bff14841"/>
    <p:sldId xmlns:r="http://schemas.openxmlformats.org/officeDocument/2006/relationships" id="276" r:id="R030092a814d2453a"/>
    <p:sldId xmlns:r="http://schemas.openxmlformats.org/officeDocument/2006/relationships" id="277" r:id="Rb788d7721b1a4f35"/>
    <p:sldId xmlns:r="http://schemas.openxmlformats.org/officeDocument/2006/relationships" id="278" r:id="R4c6e3438e78447d2"/>
    <p:sldId xmlns:r="http://schemas.openxmlformats.org/officeDocument/2006/relationships" id="279" r:id="Ra640652c0eca434d"/>
    <p:sldId xmlns:r="http://schemas.openxmlformats.org/officeDocument/2006/relationships" id="280" r:id="R6f6e1780071f4587"/>
    <p:sldId xmlns:r="http://schemas.openxmlformats.org/officeDocument/2006/relationships" id="281" r:id="R86c4644df52946dc"/>
    <p:sldId xmlns:r="http://schemas.openxmlformats.org/officeDocument/2006/relationships" id="282" r:id="Raa9855a6e71d41de"/>
    <p:sldId xmlns:r="http://schemas.openxmlformats.org/officeDocument/2006/relationships" id="283" r:id="R7206d6c861ba40b7"/>
    <p:sldId xmlns:r="http://schemas.openxmlformats.org/officeDocument/2006/relationships" id="284" r:id="R4273b7133a5c40b0"/>
    <p:sldId xmlns:r="http://schemas.openxmlformats.org/officeDocument/2006/relationships" id="285" r:id="Rd757011abc354f8a"/>
    <p:sldId xmlns:r="http://schemas.openxmlformats.org/officeDocument/2006/relationships" id="286" r:id="Rcae67413bc3a4dd2"/>
    <p:sldId xmlns:r="http://schemas.openxmlformats.org/officeDocument/2006/relationships" id="287" r:id="Rdf8cd88fc4a14bcf"/>
    <p:sldId xmlns:r="http://schemas.openxmlformats.org/officeDocument/2006/relationships" id="288" r:id="R62a830b8031b44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496a7d827b4db4" /><Relationship Type="http://schemas.openxmlformats.org/officeDocument/2006/relationships/slideMaster" Target="/ppt/slideMasters/slideMaster1.xml" Id="R10def22452ce4df7" /><Relationship Type="http://schemas.openxmlformats.org/officeDocument/2006/relationships/notesMaster" Target="/ppt/notesMasters/notesMaster1.xml" Id="Rdebff19b7d7c4dbf" /><Relationship Type="http://schemas.openxmlformats.org/officeDocument/2006/relationships/presProps" Target="/ppt/presProps.xml" Id="Reb07e158ac754784" /><Relationship Type="http://schemas.openxmlformats.org/officeDocument/2006/relationships/tableStyles" Target="/ppt/tableStyles.xml" Id="R5f5943f4e311473b" /><Relationship Type="http://schemas.openxmlformats.org/officeDocument/2006/relationships/slide" Target="/ppt/slides/slide1.xml" Id="Rc699902bcb314fb6" /><Relationship Type="http://schemas.openxmlformats.org/officeDocument/2006/relationships/slide" Target="/ppt/slides/slide2.xml" Id="R9f1c8acc58dd4126" /><Relationship Type="http://schemas.openxmlformats.org/officeDocument/2006/relationships/slide" Target="/ppt/slides/slide3.xml" Id="R8356993ef22348d6" /><Relationship Type="http://schemas.openxmlformats.org/officeDocument/2006/relationships/slide" Target="/ppt/slides/slide4.xml" Id="R7486ea8e62ea42a9" /><Relationship Type="http://schemas.openxmlformats.org/officeDocument/2006/relationships/slide" Target="/ppt/slides/slide5.xml" Id="Rc135ded9350b44e1" /><Relationship Type="http://schemas.openxmlformats.org/officeDocument/2006/relationships/slide" Target="/ppt/slides/slide6.xml" Id="R69fcc11270044300" /><Relationship Type="http://schemas.openxmlformats.org/officeDocument/2006/relationships/slide" Target="/ppt/slides/slide7.xml" Id="R4fcc959a77d44870" /><Relationship Type="http://schemas.openxmlformats.org/officeDocument/2006/relationships/slide" Target="/ppt/slides/slide8.xml" Id="R1445613c6da34ff6" /><Relationship Type="http://schemas.openxmlformats.org/officeDocument/2006/relationships/slide" Target="/ppt/slides/slide9.xml" Id="R2729bab0c0b44404" /><Relationship Type="http://schemas.openxmlformats.org/officeDocument/2006/relationships/slide" Target="/ppt/slides/slide10.xml" Id="R7250f9526fb442b2" /><Relationship Type="http://schemas.openxmlformats.org/officeDocument/2006/relationships/slide" Target="/ppt/slides/slide11.xml" Id="Rbf1a7218f0674ffb" /><Relationship Type="http://schemas.openxmlformats.org/officeDocument/2006/relationships/slide" Target="/ppt/slides/slide12.xml" Id="Rfda421954653446b" /><Relationship Type="http://schemas.openxmlformats.org/officeDocument/2006/relationships/slide" Target="/ppt/slides/slide13.xml" Id="R5aea3942cf904c1f" /><Relationship Type="http://schemas.openxmlformats.org/officeDocument/2006/relationships/slide" Target="/ppt/slides/slide14.xml" Id="R1d3d5a9b95724feb" /><Relationship Type="http://schemas.openxmlformats.org/officeDocument/2006/relationships/slide" Target="/ppt/slides/slide15.xml" Id="Rb0c106ec1c324dc8" /><Relationship Type="http://schemas.openxmlformats.org/officeDocument/2006/relationships/slide" Target="/ppt/slides/slide16.xml" Id="Rd973dc85fccc413c" /><Relationship Type="http://schemas.openxmlformats.org/officeDocument/2006/relationships/slide" Target="/ppt/slides/slide17.xml" Id="R878d7a8d0b6b4770" /><Relationship Type="http://schemas.openxmlformats.org/officeDocument/2006/relationships/slide" Target="/ppt/slides/slide18.xml" Id="Rc40613eef00f4a75" /><Relationship Type="http://schemas.openxmlformats.org/officeDocument/2006/relationships/slide" Target="/ppt/slides/slide19.xml" Id="R8e5b015ffbb14c2b" /><Relationship Type="http://schemas.openxmlformats.org/officeDocument/2006/relationships/slide" Target="/ppt/slides/slide20.xml" Id="R2eb13142bff14841" /><Relationship Type="http://schemas.openxmlformats.org/officeDocument/2006/relationships/slide" Target="/ppt/slides/slide21.xml" Id="R030092a814d2453a" /><Relationship Type="http://schemas.openxmlformats.org/officeDocument/2006/relationships/slide" Target="/ppt/slides/slide22.xml" Id="Rb788d7721b1a4f35" /><Relationship Type="http://schemas.openxmlformats.org/officeDocument/2006/relationships/slide" Target="/ppt/slides/slide23.xml" Id="R4c6e3438e78447d2" /><Relationship Type="http://schemas.openxmlformats.org/officeDocument/2006/relationships/slide" Target="/ppt/slides/slide24.xml" Id="Ra640652c0eca434d" /><Relationship Type="http://schemas.openxmlformats.org/officeDocument/2006/relationships/slide" Target="/ppt/slides/slide25.xml" Id="R6f6e1780071f4587" /><Relationship Type="http://schemas.openxmlformats.org/officeDocument/2006/relationships/slide" Target="/ppt/slides/slide26.xml" Id="R86c4644df52946dc" /><Relationship Type="http://schemas.openxmlformats.org/officeDocument/2006/relationships/slide" Target="/ppt/slides/slide27.xml" Id="Raa9855a6e71d41de" /><Relationship Type="http://schemas.openxmlformats.org/officeDocument/2006/relationships/slide" Target="/ppt/slides/slide28.xml" Id="R7206d6c861ba40b7" /><Relationship Type="http://schemas.openxmlformats.org/officeDocument/2006/relationships/slide" Target="/ppt/slides/slide29.xml" Id="R4273b7133a5c40b0" /><Relationship Type="http://schemas.openxmlformats.org/officeDocument/2006/relationships/slide" Target="/ppt/slides/slide30.xml" Id="Rd757011abc354f8a" /><Relationship Type="http://schemas.openxmlformats.org/officeDocument/2006/relationships/slide" Target="/ppt/slides/slide31.xml" Id="Rcae67413bc3a4dd2" /><Relationship Type="http://schemas.openxmlformats.org/officeDocument/2006/relationships/slide" Target="/ppt/slides/slide32.xml" Id="Rdf8cd88fc4a14bcf" /><Relationship Type="http://schemas.openxmlformats.org/officeDocument/2006/relationships/slide" Target="/ppt/slides/slide33.xml" Id="R62a830b8031b44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221b582fd647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d65ffa21764551" /><Relationship Type="http://schemas.openxmlformats.org/officeDocument/2006/relationships/notesMaster" Target="/ppt/notesMasters/notesMaster1.xml" Id="Re5cbef8679574d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baaa33151f4b69" /><Relationship Type="http://schemas.openxmlformats.org/officeDocument/2006/relationships/notesMaster" Target="/ppt/notesMasters/notesMaster1.xml" Id="R7704b5a4379841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31e4b920f44f63" /><Relationship Type="http://schemas.openxmlformats.org/officeDocument/2006/relationships/notesMaster" Target="/ppt/notesMasters/notesMaster1.xml" Id="R8fdfc7949fa74e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ac0aa4385f49ac" /><Relationship Type="http://schemas.openxmlformats.org/officeDocument/2006/relationships/notesMaster" Target="/ppt/notesMasters/notesMaster1.xml" Id="R72709c1c808347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315a83b6884fd8" /><Relationship Type="http://schemas.openxmlformats.org/officeDocument/2006/relationships/notesMaster" Target="/ppt/notesMasters/notesMaster1.xml" Id="R98a05efa54fd47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6068a1827b41ce" /><Relationship Type="http://schemas.openxmlformats.org/officeDocument/2006/relationships/notesMaster" Target="/ppt/notesMasters/notesMaster1.xml" Id="Rd7516fe2f6514d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99d35369946ee" /><Relationship Type="http://schemas.openxmlformats.org/officeDocument/2006/relationships/notesMaster" Target="/ppt/notesMasters/notesMaster1.xml" Id="Rf2c23b2581824b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51f0b1ec424a11" /><Relationship Type="http://schemas.openxmlformats.org/officeDocument/2006/relationships/notesMaster" Target="/ppt/notesMasters/notesMaster1.xml" Id="Rc226a45e282042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1243d8c8b44587" /><Relationship Type="http://schemas.openxmlformats.org/officeDocument/2006/relationships/notesMaster" Target="/ppt/notesMasters/notesMaster1.xml" Id="R6b83e908dfd646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a2e016ae0c4131" /><Relationship Type="http://schemas.openxmlformats.org/officeDocument/2006/relationships/notesMaster" Target="/ppt/notesMasters/notesMaster1.xml" Id="Re41f480bec9f44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853d64e94f4252" /><Relationship Type="http://schemas.openxmlformats.org/officeDocument/2006/relationships/notesMaster" Target="/ppt/notesMasters/notesMaster1.xml" Id="Rf52d04c2ee2d4e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e75acf246d4ab9" /><Relationship Type="http://schemas.openxmlformats.org/officeDocument/2006/relationships/notesMaster" Target="/ppt/notesMasters/notesMaster1.xml" Id="R6c28797c6cd142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6e62b3b09e43ad" /><Relationship Type="http://schemas.openxmlformats.org/officeDocument/2006/relationships/notesMaster" Target="/ppt/notesMasters/notesMaster1.xml" Id="R655111e40aba43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5c56c485ca4b9f" /><Relationship Type="http://schemas.openxmlformats.org/officeDocument/2006/relationships/notesMaster" Target="/ppt/notesMasters/notesMaster1.xml" Id="Ra927c95c34b448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6fbcb01ae84f8e" /><Relationship Type="http://schemas.openxmlformats.org/officeDocument/2006/relationships/notesMaster" Target="/ppt/notesMasters/notesMaster1.xml" Id="Rc0c12d4778974b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87dbfbd9a94883" /><Relationship Type="http://schemas.openxmlformats.org/officeDocument/2006/relationships/notesMaster" Target="/ppt/notesMasters/notesMaster1.xml" Id="Rab7de6d9406b44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21462cc9a64ca8" /><Relationship Type="http://schemas.openxmlformats.org/officeDocument/2006/relationships/notesMaster" Target="/ppt/notesMasters/notesMaster1.xml" Id="R2e0b7cc7795f4f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56493fa15b4093" /><Relationship Type="http://schemas.openxmlformats.org/officeDocument/2006/relationships/notesMaster" Target="/ppt/notesMasters/notesMaster1.xml" Id="R282a9276ccd646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af14476f544722" /><Relationship Type="http://schemas.openxmlformats.org/officeDocument/2006/relationships/notesMaster" Target="/ppt/notesMasters/notesMaster1.xml" Id="R857ffc58be6e40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1c0693947f4acb" /><Relationship Type="http://schemas.openxmlformats.org/officeDocument/2006/relationships/notesMaster" Target="/ppt/notesMasters/notesMaster1.xml" Id="Rf88e26dda4754a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470ee73fe54d6f" /><Relationship Type="http://schemas.openxmlformats.org/officeDocument/2006/relationships/notesMaster" Target="/ppt/notesMasters/notesMaster1.xml" Id="R97fad94406d342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bf990a36f774cd0" /><Relationship Type="http://schemas.openxmlformats.org/officeDocument/2006/relationships/notesMaster" Target="/ppt/notesMasters/notesMaster1.xml" Id="Rbce8a5938c1d43d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31157165104383" /><Relationship Type="http://schemas.openxmlformats.org/officeDocument/2006/relationships/notesMaster" Target="/ppt/notesMasters/notesMaster1.xml" Id="R0472a466fb1a4f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4fd62d525dd4694" /><Relationship Type="http://schemas.openxmlformats.org/officeDocument/2006/relationships/notesMaster" Target="/ppt/notesMasters/notesMaster1.xml" Id="Rffd8a871a2f149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2f620dde3b4eed" /><Relationship Type="http://schemas.openxmlformats.org/officeDocument/2006/relationships/notesMaster" Target="/ppt/notesMasters/notesMaster1.xml" Id="R0008cde47ec141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483684de9cd48d5" /><Relationship Type="http://schemas.openxmlformats.org/officeDocument/2006/relationships/notesMaster" Target="/ppt/notesMasters/notesMaster1.xml" Id="Ra1942265fd524b2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e3d6d67f404080" /><Relationship Type="http://schemas.openxmlformats.org/officeDocument/2006/relationships/notesMaster" Target="/ppt/notesMasters/notesMaster1.xml" Id="Rfc1edbcaac8e493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2c6e5f56a164f04" /><Relationship Type="http://schemas.openxmlformats.org/officeDocument/2006/relationships/notesMaster" Target="/ppt/notesMasters/notesMaster1.xml" Id="Rdf41b3b5c3a24e6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ba158145e94db7" /><Relationship Type="http://schemas.openxmlformats.org/officeDocument/2006/relationships/notesMaster" Target="/ppt/notesMasters/notesMaster1.xml" Id="Rf4d1a966c71843b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0ef314d363a4129" /><Relationship Type="http://schemas.openxmlformats.org/officeDocument/2006/relationships/notesMaster" Target="/ppt/notesMasters/notesMaster1.xml" Id="R90eed9dec9ef4a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1b3c4822eb8454a" /><Relationship Type="http://schemas.openxmlformats.org/officeDocument/2006/relationships/notesMaster" Target="/ppt/notesMasters/notesMaster1.xml" Id="R0ef4ead1050743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02779a3f777445d" /><Relationship Type="http://schemas.openxmlformats.org/officeDocument/2006/relationships/notesMaster" Target="/ppt/notesMasters/notesMaster1.xml" Id="R5241d198e7974e4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e2581ecd36e498c" /><Relationship Type="http://schemas.openxmlformats.org/officeDocument/2006/relationships/notesMaster" Target="/ppt/notesMasters/notesMaster1.xml" Id="R6b369747721647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Microsoft Learn – Object-oriented programming; System.ComponentModel.DataAnnotations; C# Corner – Data Annotations in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https://learn.microsoft.com/en-us/dotnet/csharp/fundamentals/object-oriented/objects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https://learn.microsoft.com/en-us/dotnet/csharp/fundamentals/tutorials/classes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https://learn.microsoft.com/en-us/dotnet/csharp/programming-guide/classes-and-structs/properties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https://learn.microsoft.com/en-us/dotnet/csharp/fundamentals/object-oriented/inheritance</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https://learn.microsoft.com/en-us/dotnet/csharp/fundamentals/object-oriented/polymorphism</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https://learn.microsoft.com/en-us/dotnet/csharp/advanced-topics/reflection-and-attributes/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https://learn.microsoft.com/en-us/dotnet/api/system.componentmodel.dataannotations.regularexpressionattribute</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https://learn.microsoft.com/en-us/dotnet/api/system.componentmodel.dataannotations.validator.tryvalidateobject</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https://learn.microsoft.com/en-us/dotnet/csharp/fundamentals/object-oriented/</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https://learn.microsoft.com/en-us/dotnet/api/system.componentmodel.dataannotations.ivalidatableobject</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https://learn.microsoft.com/en-us/dotnet/api/system.componentmodel.dataannotations.validationattribute</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https://learn.microsoft.com/en-us/ef/core/modeling/relationships/mapping-attributes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a:t>
            </a:r>
          </a:p>
          <a:p xmlns:a="http://schemas.openxmlformats.org/drawingml/2006/main">
            <a:r>
              <a:t>https://learn.microsoft.com/en-us/dotnet/api/system.componentmodel.dataannotations</a:t>
            </a:r>
          </a:p>
          <a:p xmlns:a="http://schemas.openxmlformats.org/drawingml/2006/main">
            <a:r>
              <a:t>https://www.c-sharpcorner.com/article/data-annotations-in-net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0f29174bc042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d0746c67c14742" /><Relationship Type="http://schemas.openxmlformats.org/officeDocument/2006/relationships/slideLayout" Target="/ppt/slideLayouts/slideLayout1.xml" Id="Ra196f975a93c4d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96f975a93c4d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ea7e0fbd6443c2" /><Relationship Type="http://schemas.openxmlformats.org/officeDocument/2006/relationships/notesSlide" Target="/ppt/notesSlides/notesSlide1.xml" Id="R9700d3941c1548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a385ffee874c64" /><Relationship Type="http://schemas.openxmlformats.org/officeDocument/2006/relationships/notesSlide" Target="/ppt/notesSlides/notesSlide2.xml" Id="R25cd3fbbfef944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3e2f521a1f420b" /><Relationship Type="http://schemas.openxmlformats.org/officeDocument/2006/relationships/notesSlide" Target="/ppt/notesSlides/notesSlide3.xml" Id="R2836d6a23beb4f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a686a3ecff4fd5" /><Relationship Type="http://schemas.openxmlformats.org/officeDocument/2006/relationships/notesSlide" Target="/ppt/notesSlides/notesSlide4.xml" Id="R67d868a221b54c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e9acfeb70f4845" /><Relationship Type="http://schemas.openxmlformats.org/officeDocument/2006/relationships/notesSlide" Target="/ppt/notesSlides/notesSlide5.xml" Id="R5aec8da60a894b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0db041f36e4331" /><Relationship Type="http://schemas.openxmlformats.org/officeDocument/2006/relationships/notesSlide" Target="/ppt/notesSlides/notesSlide6.xml" Id="Rf3dd57b4a39e4d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069634607345ce" /><Relationship Type="http://schemas.openxmlformats.org/officeDocument/2006/relationships/notesSlide" Target="/ppt/notesSlides/notesSlide7.xml" Id="R6e4a50aa937a4e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a3af2819594ab5" /><Relationship Type="http://schemas.openxmlformats.org/officeDocument/2006/relationships/notesSlide" Target="/ppt/notesSlides/notesSlide8.xml" Id="R503aa01938f14d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dd0bedfb5f44ab" /><Relationship Type="http://schemas.openxmlformats.org/officeDocument/2006/relationships/notesSlide" Target="/ppt/notesSlides/notesSlide9.xml" Id="Rcde9970a198446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aca00f61304807" /><Relationship Type="http://schemas.openxmlformats.org/officeDocument/2006/relationships/notesSlide" Target="/ppt/notesSlides/notesSlide10.xml" Id="Rdd6399aafe9947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b43eab5b724a6e" /><Relationship Type="http://schemas.openxmlformats.org/officeDocument/2006/relationships/notesSlide" Target="/ppt/notesSlides/notesSlide11.xml" Id="R2abca76b1eed4c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988a5ca8d04a94" /><Relationship Type="http://schemas.openxmlformats.org/officeDocument/2006/relationships/notesSlide" Target="/ppt/notesSlides/notesSlide12.xml" Id="Rac8ad24f72cb40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21cf2a4cae4a02" /><Relationship Type="http://schemas.openxmlformats.org/officeDocument/2006/relationships/notesSlide" Target="/ppt/notesSlides/notesSlide13.xml" Id="R970c7350187f4b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c3225e75a64ebc" /><Relationship Type="http://schemas.openxmlformats.org/officeDocument/2006/relationships/notesSlide" Target="/ppt/notesSlides/notesSlide14.xml" Id="Rb2649510197a42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6555fa7c71459f" /><Relationship Type="http://schemas.openxmlformats.org/officeDocument/2006/relationships/notesSlide" Target="/ppt/notesSlides/notesSlide15.xml" Id="R704a5833b9af4e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6c350bab9c41d1" /><Relationship Type="http://schemas.openxmlformats.org/officeDocument/2006/relationships/notesSlide" Target="/ppt/notesSlides/notesSlide16.xml" Id="R71d5a165801a4b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8b6cd67d714160" /><Relationship Type="http://schemas.openxmlformats.org/officeDocument/2006/relationships/notesSlide" Target="/ppt/notesSlides/notesSlide17.xml" Id="R467275f8298641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f925f3a9e074b40" /><Relationship Type="http://schemas.openxmlformats.org/officeDocument/2006/relationships/notesSlide" Target="/ppt/notesSlides/notesSlide18.xml" Id="R8bcad8c5f1064a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6ff7085bdf4e1e" /><Relationship Type="http://schemas.openxmlformats.org/officeDocument/2006/relationships/notesSlide" Target="/ppt/notesSlides/notesSlide19.xml" Id="Rcbdb1c3dd4e842f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facec611a24101" /><Relationship Type="http://schemas.openxmlformats.org/officeDocument/2006/relationships/notesSlide" Target="/ppt/notesSlides/notesSlide20.xml" Id="R17e2fd6e1db447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5a521acaaf948ba" /><Relationship Type="http://schemas.openxmlformats.org/officeDocument/2006/relationships/notesSlide" Target="/ppt/notesSlides/notesSlide21.xml" Id="R8cca90139fc648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47fb0e85964c7b" /><Relationship Type="http://schemas.openxmlformats.org/officeDocument/2006/relationships/notesSlide" Target="/ppt/notesSlides/notesSlide22.xml" Id="Rd86b5fab6c27462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0d455a9268a4f68" /><Relationship Type="http://schemas.openxmlformats.org/officeDocument/2006/relationships/notesSlide" Target="/ppt/notesSlides/notesSlide23.xml" Id="Rdd13ecd3b8c549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1375f4b12e14f23" /><Relationship Type="http://schemas.openxmlformats.org/officeDocument/2006/relationships/notesSlide" Target="/ppt/notesSlides/notesSlide24.xml" Id="R599780ae4b37481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e629c21555d4a74" /><Relationship Type="http://schemas.openxmlformats.org/officeDocument/2006/relationships/notesSlide" Target="/ppt/notesSlides/notesSlide25.xml" Id="R102d4f76e4e149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e135b42e48d4c86" /><Relationship Type="http://schemas.openxmlformats.org/officeDocument/2006/relationships/notesSlide" Target="/ppt/notesSlides/notesSlide26.xml" Id="Ra4f45784db0241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9e0fdd3ed254d31" /><Relationship Type="http://schemas.openxmlformats.org/officeDocument/2006/relationships/notesSlide" Target="/ppt/notesSlides/notesSlide27.xml" Id="Rb68f46996b224e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c10b92d4be64910" /><Relationship Type="http://schemas.openxmlformats.org/officeDocument/2006/relationships/notesSlide" Target="/ppt/notesSlides/notesSlide28.xml" Id="Rc5579fbf18f0463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b5f1262dd954628" /><Relationship Type="http://schemas.openxmlformats.org/officeDocument/2006/relationships/notesSlide" Target="/ppt/notesSlides/notesSlide29.xml" Id="R246bb4f8acbb47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4eb79d9f5b14748" /><Relationship Type="http://schemas.openxmlformats.org/officeDocument/2006/relationships/notesSlide" Target="/ppt/notesSlides/notesSlide30.xml" Id="R995fb62b5b5f4ca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37b4a32ebd04833" /><Relationship Type="http://schemas.openxmlformats.org/officeDocument/2006/relationships/notesSlide" Target="/ppt/notesSlides/notesSlide31.xml" Id="Rbe216f3b9d054d4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ff12560a5cd4e96" /><Relationship Type="http://schemas.openxmlformats.org/officeDocument/2006/relationships/notesSlide" Target="/ppt/notesSlides/notesSlide32.xml" Id="R75d001d259ca4a8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dec701511a2477c" /><Relationship Type="http://schemas.openxmlformats.org/officeDocument/2006/relationships/notesSlide" Target="/ppt/notesSlides/notesSlide33.xml" Id="R14889e87d602422e" /></Relationships>
</file>

<file path=ppt/slides/slide1.xml><?xml version="1.0" encoding="utf-8"?>
<p:sld xmlns:p="http://schemas.openxmlformats.org/presentationml/2006/main">
  <p:cSld>
    <p:bg>
      <p:bgPr>
        <a:solidFill xmlns:a="http://schemas.openxmlformats.org/drawingml/2006/main">
          <a:srgbClr val="123A6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104F04-94FF-4B27-B24F-417430645C73}"/>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E8793E"/>
          </a:solidFill>
          <a:ln xmlns:a="http://schemas.openxmlformats.org/drawingml/2006/main" w="9525">
            <a:solidFill>
              <a:srgbClr val="E8793E"/>
            </a:solidFill>
          </a:ln>
        </p:spPr>
      </p:sp>
      <p:sp>
        <p:nvSpPr>
          <p:cNvPr id="2" name="">
            <a:extLst xmlns:a="http://schemas.openxmlformats.org/drawingml/2006/main">
              <a:ext uri="{FF2B5EF4-FFF2-40B4-BE49-F238E27FC236}">
                <a16:creationId xmlns:a16="http://schemas.microsoft.com/office/drawing/2014/main" id="{55A5EF16-A1D4-487E-B542-A3BA6B9DBB90}"/>
              </a:ext>
            </a:extLst>
          </p:cNvPr>
          <p:cNvSpPr>
            <a:spLocks xmlns:a="http://schemas.openxmlformats.org/drawingml/2006/main" noGrp="1"/>
          </p:cNvSpPr>
          <p:nvPr/>
        </p:nvSpPr>
        <p:spPr>
          <a:xfrm xmlns:a="http://schemas.openxmlformats.org/drawingml/2006/main">
            <a:off x="685800" y="70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BFD7EA"/>
                </a:solidFill>
                <a:latin typeface="DejaVu Sans"/>
                <a:ea typeface="DejaVu Sans"/>
                <a:cs typeface="DejaVu Sans"/>
              </a:defRPr>
            </a:pPr>
            <a:r>
              <a:rPr sz="1350"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0CBECD93-C992-4172-B6C0-35E06448B1D8}"/>
              </a:ext>
            </a:extLst>
          </p:cNvPr>
          <p:cNvSpPr>
            <a:spLocks xmlns:a="http://schemas.openxmlformats.org/drawingml/2006/main" noGrp="1"/>
          </p:cNvSpPr>
          <p:nvPr/>
        </p:nvSpPr>
        <p:spPr>
          <a:xfrm xmlns:a="http://schemas.openxmlformats.org/drawingml/2006/main">
            <a:off x="685800" y="1200150"/>
            <a:ext cx="819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ÔN TẬP OOP, PROPERTY</a:t>
            </a:r>
          </a:p>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VÀ DATA ANNOTATIONS</a:t>
            </a:r>
          </a:p>
        </p:txBody>
      </p:sp>
      <p:sp>
        <p:nvSpPr>
          <p:cNvPr id="4" name="">
            <a:extLst xmlns:a="http://schemas.openxmlformats.org/drawingml/2006/main">
              <a:ext uri="{FF2B5EF4-FFF2-40B4-BE49-F238E27FC236}">
                <a16:creationId xmlns:a16="http://schemas.microsoft.com/office/drawing/2014/main" id="{96506E5F-1948-4713-9189-B4E518A222FD}"/>
              </a:ext>
            </a:extLst>
          </p:cNvPr>
          <p:cNvSpPr>
            <a:spLocks xmlns:a="http://schemas.openxmlformats.org/drawingml/2006/main" noGrp="1"/>
          </p:cNvSpPr>
          <p:nvPr/>
        </p:nvSpPr>
        <p:spPr>
          <a:xfrm xmlns:a="http://schemas.openxmlformats.org/drawingml/2006/main">
            <a:off x="723900" y="27813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DCEBFA"/>
                </a:solidFill>
                <a:latin typeface="DejaVu Sans"/>
                <a:ea typeface="DejaVu Sans"/>
                <a:cs typeface="DejaVu Sans"/>
              </a:defRPr>
            </a:pPr>
            <a:r>
              <a:rPr sz="1800" b="0">
                <a:solidFill>
                  <a:srgbClr val="DCEBFA"/>
                </a:solidFill>
                <a:latin typeface="DejaVu Sans"/>
                <a:ea typeface="DejaVu Sans"/>
                <a:cs typeface="DejaVu Sans"/>
              </a:rPr>
              <a:t>Thiết kế đối tượng có trạng thái hợp lệ và kiểm tra dữ liệu theo metadata</a:t>
            </a:r>
          </a:p>
        </p:txBody>
      </p:sp>
      <p:sp>
        <p:nvSpPr>
          <p:cNvPr id="5" name="">
            <a:extLst xmlns:a="http://schemas.openxmlformats.org/drawingml/2006/main">
              <a:ext uri="{FF2B5EF4-FFF2-40B4-BE49-F238E27FC236}">
                <a16:creationId xmlns:a16="http://schemas.microsoft.com/office/drawing/2014/main" id="{DD77CF26-67F5-4C7A-8D9D-EF3A39F58CB5}"/>
              </a:ext>
            </a:extLst>
          </p:cNvPr>
          <p:cNvSpPr>
            <a:spLocks xmlns:a="http://schemas.openxmlformats.org/drawingml/2006/main" noGrp="1"/>
          </p:cNvSpPr>
          <p:nvPr/>
        </p:nvSpPr>
        <p:spPr>
          <a:xfrm xmlns:a="http://schemas.openxmlformats.org/drawingml/2006/main">
            <a:off x="723900" y="3667125"/>
            <a:ext cx="10744200" cy="1485900"/>
          </a:xfrm>
          <a:prstGeom xmlns:a="http://schemas.openxmlformats.org/drawingml/2006/main" prst="roundRect">
            <a:avLst>
              <a:gd name="adj" fmla="val 5128"/>
            </a:avLst>
          </a:prstGeom>
          <a:solidFill xmlns:a="http://schemas.openxmlformats.org/drawingml/2006/main">
            <a:srgbClr val="194B76"/>
          </a:solidFill>
          <a:ln xmlns:a="http://schemas.openxmlformats.org/drawingml/2006/main" w="9525">
            <a:solidFill>
              <a:srgbClr val="2B6EA6"/>
            </a:solidFill>
          </a:ln>
        </p:spPr>
      </p:sp>
      <p:sp>
        <p:nvSpPr>
          <p:cNvPr id="6" name="">
            <a:extLst xmlns:a="http://schemas.openxmlformats.org/drawingml/2006/main">
              <a:ext uri="{FF2B5EF4-FFF2-40B4-BE49-F238E27FC236}">
                <a16:creationId xmlns:a16="http://schemas.microsoft.com/office/drawing/2014/main" id="{141EC24A-94B2-4141-BB08-145D43A9C699}"/>
              </a:ext>
            </a:extLst>
          </p:cNvPr>
          <p:cNvSpPr>
            <a:spLocks xmlns:a="http://schemas.openxmlformats.org/drawingml/2006/main" noGrp="1"/>
          </p:cNvSpPr>
          <p:nvPr/>
        </p:nvSpPr>
        <p:spPr>
          <a:xfrm xmlns:a="http://schemas.openxmlformats.org/drawingml/2006/main">
            <a:off x="990600" y="38481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BFE3D3"/>
                </a:solidFill>
                <a:latin typeface="DejaVu Sans"/>
                <a:ea typeface="DejaVu Sans"/>
                <a:cs typeface="DejaVu Sans"/>
              </a:defRPr>
            </a:pPr>
            <a:r>
              <a:rPr sz="1800" b="1">
                <a:solidFill>
                  <a:srgbClr val="BFE3D3"/>
                </a:solidFill>
                <a:latin typeface="DejaVu Sans"/>
                <a:ea typeface="DejaVu Sans"/>
                <a:cs typeface="DejaVu Sans"/>
              </a:rPr>
              <a:t>Mô hình</a:t>
            </a:r>
          </a:p>
        </p:txBody>
      </p:sp>
      <p:sp>
        <p:nvSpPr>
          <p:cNvPr id="7" name="">
            <a:extLst xmlns:a="http://schemas.openxmlformats.org/drawingml/2006/main">
              <a:ext uri="{FF2B5EF4-FFF2-40B4-BE49-F238E27FC236}">
                <a16:creationId xmlns:a16="http://schemas.microsoft.com/office/drawing/2014/main" id="{A9E9EFAD-FB14-41FF-9F6E-874375803E24}"/>
              </a:ext>
            </a:extLst>
          </p:cNvPr>
          <p:cNvSpPr>
            <a:spLocks xmlns:a="http://schemas.openxmlformats.org/drawingml/2006/main" noGrp="1"/>
          </p:cNvSpPr>
          <p:nvPr/>
        </p:nvSpPr>
        <p:spPr>
          <a:xfrm xmlns:a="http://schemas.openxmlformats.org/drawingml/2006/main">
            <a:off x="990600" y="41719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Class • Object • Encapsulation • Inheritance • Polymorphism</a:t>
            </a:r>
          </a:p>
        </p:txBody>
      </p:sp>
      <p:sp>
        <p:nvSpPr>
          <p:cNvPr id="8" name="">
            <a:extLst xmlns:a="http://schemas.openxmlformats.org/drawingml/2006/main">
              <a:ext uri="{FF2B5EF4-FFF2-40B4-BE49-F238E27FC236}">
                <a16:creationId xmlns:a16="http://schemas.microsoft.com/office/drawing/2014/main" id="{8F077D73-17C6-4CDB-A0A0-A5C487EE067A}"/>
              </a:ext>
            </a:extLst>
          </p:cNvPr>
          <p:cNvSpPr>
            <a:spLocks xmlns:a="http://schemas.openxmlformats.org/drawingml/2006/main" noGrp="1"/>
          </p:cNvSpPr>
          <p:nvPr/>
        </p:nvSpPr>
        <p:spPr>
          <a:xfrm xmlns:a="http://schemas.openxmlformats.org/drawingml/2006/main">
            <a:off x="6191250" y="38481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FFD7C2"/>
                </a:solidFill>
                <a:latin typeface="DejaVu Sans"/>
                <a:ea typeface="DejaVu Sans"/>
                <a:cs typeface="DejaVu Sans"/>
              </a:defRPr>
            </a:pPr>
            <a:r>
              <a:rPr sz="1800" b="1">
                <a:solidFill>
                  <a:srgbClr val="FFD7C2"/>
                </a:solidFill>
                <a:latin typeface="DejaVu Sans"/>
                <a:ea typeface="DejaVu Sans"/>
                <a:cs typeface="DejaVu Sans"/>
              </a:rPr>
              <a:t>Ràng buộc</a:t>
            </a:r>
          </a:p>
        </p:txBody>
      </p:sp>
      <p:sp>
        <p:nvSpPr>
          <p:cNvPr id="9" name="">
            <a:extLst xmlns:a="http://schemas.openxmlformats.org/drawingml/2006/main">
              <a:ext uri="{FF2B5EF4-FFF2-40B4-BE49-F238E27FC236}">
                <a16:creationId xmlns:a16="http://schemas.microsoft.com/office/drawing/2014/main" id="{082A264F-C9D0-41F0-B9E2-6859B83966CB}"/>
              </a:ext>
            </a:extLst>
          </p:cNvPr>
          <p:cNvSpPr>
            <a:spLocks xmlns:a="http://schemas.openxmlformats.org/drawingml/2006/main" noGrp="1"/>
          </p:cNvSpPr>
          <p:nvPr/>
        </p:nvSpPr>
        <p:spPr>
          <a:xfrm xmlns:a="http://schemas.openxmlformats.org/drawingml/2006/main">
            <a:off x="6191250" y="417195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Property validation • Attributes • Validator • Business rules</a:t>
            </a:r>
          </a:p>
        </p:txBody>
      </p:sp>
      <p:sp>
        <p:nvSpPr>
          <p:cNvPr id="10" name="">
            <a:extLst xmlns:a="http://schemas.openxmlformats.org/drawingml/2006/main">
              <a:ext uri="{FF2B5EF4-FFF2-40B4-BE49-F238E27FC236}">
                <a16:creationId xmlns:a16="http://schemas.microsoft.com/office/drawing/2014/main" id="{E9DBF733-AC9F-4A63-B9E8-4E014410C55B}"/>
              </a:ext>
            </a:extLst>
          </p:cNvPr>
          <p:cNvSpPr>
            <a:spLocks xmlns:a="http://schemas.openxmlformats.org/drawingml/2006/main" noGrp="1"/>
          </p:cNvSpPr>
          <p:nvPr/>
        </p:nvSpPr>
        <p:spPr>
          <a:xfrm xmlns:a="http://schemas.openxmlformats.org/drawingml/2006/main">
            <a:off x="723900" y="59245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Giảng viên: Chu Thị Minh Huệ</a:t>
            </a:r>
          </a:p>
        </p:txBody>
      </p:sp>
      <p:sp>
        <p:nvSpPr>
          <p:cNvPr id="11" name="">
            <a:extLst xmlns:a="http://schemas.openxmlformats.org/drawingml/2006/main">
              <a:ext uri="{FF2B5EF4-FFF2-40B4-BE49-F238E27FC236}">
                <a16:creationId xmlns:a16="http://schemas.microsoft.com/office/drawing/2014/main" id="{DA48ADE4-FA2E-4088-9D12-1044EFB8A386}"/>
              </a:ext>
            </a:extLst>
          </p:cNvPr>
          <p:cNvSpPr>
            <a:spLocks xmlns:a="http://schemas.openxmlformats.org/drawingml/2006/main" noGrp="1"/>
          </p:cNvSpPr>
          <p:nvPr/>
        </p:nvSpPr>
        <p:spPr>
          <a:xfrm xmlns:a="http://schemas.openxmlformats.org/drawingml/2006/main">
            <a:off x="723900" y="6229350"/>
            <a:ext cx="581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defRPr sz="1125" b="0">
                <a:solidFill>
                  <a:srgbClr val="BFD7EA"/>
                </a:solidFill>
                <a:latin typeface="DejaVu Sans"/>
                <a:ea typeface="DejaVu Sans"/>
                <a:cs typeface="DejaVu Sans"/>
              </a:defRPr>
            </a:pPr>
            <a:r>
              <a:rPr sz="1125" b="0">
                <a:solidFill>
                  <a:srgbClr val="BFD7EA"/>
                </a:solidFill>
                <a:latin typeface="DejaVu Sans"/>
                <a:ea typeface="DejaVu Sans"/>
                <a:cs typeface="DejaVu Sans"/>
              </a:rPr>
              <a:t>Học phần: Lập trình nâng cao với C#</a:t>
            </a:r>
          </a:p>
        </p:txBody>
      </p:sp>
    </p:spTree>
    <p:extLst>
      <p:ext uri="{BB962C8B-B14F-4D97-AF65-F5344CB8AC3E}">
        <p14:creationId xmlns:p14="http://schemas.microsoft.com/office/powerpoint/2010/main" val="149097030"/>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2C1980-74D2-471D-BF43-D568904A0C6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1974D0DC-47AD-4CB3-A6AB-AA5A0900DBB7}"/>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C0F09641-8F89-4784-B854-4FFF329E9FFF}"/>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Mục tiêu bài học</a:t>
            </a:r>
          </a:p>
        </p:txBody>
      </p:sp>
      <p:sp>
        <p:nvSpPr>
          <p:cNvPr id="4" name="">
            <a:extLst xmlns:a="http://schemas.openxmlformats.org/drawingml/2006/main">
              <a:ext uri="{FF2B5EF4-FFF2-40B4-BE49-F238E27FC236}">
                <a16:creationId xmlns:a16="http://schemas.microsoft.com/office/drawing/2014/main" id="{653011A1-4DFD-4BBD-8787-C038AA2A55C9}"/>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1BA72B5F-50D1-4A75-A595-3D25A1877E83}"/>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C198EB0D-009C-4F16-989F-54E8B99BE040}"/>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SAU BÀI HỌC, SINH VIÊN CÓ THỂ</a:t>
            </a:r>
          </a:p>
        </p:txBody>
      </p:sp>
      <p:sp>
        <p:nvSpPr>
          <p:cNvPr id="7" name="">
            <a:extLst xmlns:a="http://schemas.openxmlformats.org/drawingml/2006/main">
              <a:ext uri="{FF2B5EF4-FFF2-40B4-BE49-F238E27FC236}">
                <a16:creationId xmlns:a16="http://schemas.microsoft.com/office/drawing/2014/main" id="{4E41659D-AE9A-48F8-A685-74306DF80193}"/>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SẢN PHẨM CUỐI BUỔI</a:t>
            </a:r>
          </a:p>
        </p:txBody>
      </p:sp>
      <p:sp>
        <p:nvSpPr>
          <p:cNvPr id="8" name="">
            <a:extLst xmlns:a="http://schemas.openxmlformats.org/drawingml/2006/main">
              <a:ext uri="{FF2B5EF4-FFF2-40B4-BE49-F238E27FC236}">
                <a16:creationId xmlns:a16="http://schemas.microsoft.com/office/drawing/2014/main" id="{5FC0AB94-C082-49A1-885E-79B508B50002}"/>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54D53796-8AC7-47FF-8F5D-ADD2291B9F6D}"/>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CA7319E-E75D-41EB-9E07-03C6DBC8B5AC}"/>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Giải thích các nguyên lý OOP trong 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Thiết kế property có phạm vi truy cập phù hợp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Phân biệt validation trong setter và Data Annotations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Chủ động kiểm tra object bằng Validator</a:t>
            </a:r>
          </a:p>
        </p:txBody>
      </p:sp>
      <p:sp>
        <p:nvSpPr>
          <p:cNvPr id="11" name="">
            <a:extLst xmlns:a="http://schemas.openxmlformats.org/drawingml/2006/main">
              <a:ext uri="{FF2B5EF4-FFF2-40B4-BE49-F238E27FC236}">
                <a16:creationId xmlns:a16="http://schemas.microsoft.com/office/drawing/2014/main" id="{D765EA1F-347B-42FA-B18E-9D0955CD05BF}"/>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Một lớp Student hoàn chỉnh: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Trạng thái được đóng gói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Dữ liệu đầu vào có ràng buộc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Thông báo lỗi rõ ràng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kiểm tra quy tắc liên thuộc tính</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Sẵn sàng dùng ở WinForms và EF Core</a:t>
            </a:r>
          </a:p>
        </p:txBody>
      </p:sp>
      <p:sp>
        <p:nvSpPr>
          <p:cNvPr id="12" name="">
            <a:extLst xmlns:a="http://schemas.openxmlformats.org/drawingml/2006/main">
              <a:ext uri="{FF2B5EF4-FFF2-40B4-BE49-F238E27FC236}">
                <a16:creationId xmlns:a16="http://schemas.microsoft.com/office/drawing/2014/main" id="{B2169439-4023-4ABC-B137-F9C8D622E2F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06CBFB18-4241-4959-97B0-C692A51EE65C}"/>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554589111"/>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B259F5-A665-4FD8-BE6C-9C27D1C99519}"/>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628DF86-CDDE-4E28-9E70-4EBB350A80B4}"/>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12FE362B-D211-4EFA-B71C-B9BD9C439E3E}"/>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Mạch nội dung</a:t>
            </a:r>
          </a:p>
        </p:txBody>
      </p:sp>
      <p:sp>
        <p:nvSpPr>
          <p:cNvPr id="4" name="">
            <a:extLst xmlns:a="http://schemas.openxmlformats.org/drawingml/2006/main">
              <a:ext uri="{FF2B5EF4-FFF2-40B4-BE49-F238E27FC236}">
                <a16:creationId xmlns:a16="http://schemas.microsoft.com/office/drawing/2014/main" id="{1D51E8D5-53E2-4A40-B75A-8541D3AFDC1F}"/>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8BF517C2-5CE9-4982-8E2A-3D85BD4739A4}"/>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03</a:t>
            </a:r>
          </a:p>
        </p:txBody>
      </p:sp>
      <p:sp>
        <p:nvSpPr>
          <p:cNvPr id="6" name="">
            <a:extLst xmlns:a="http://schemas.openxmlformats.org/drawingml/2006/main">
              <a:ext uri="{FF2B5EF4-FFF2-40B4-BE49-F238E27FC236}">
                <a16:creationId xmlns:a16="http://schemas.microsoft.com/office/drawing/2014/main" id="{3369134D-2943-408C-A1DB-CB6CBC644355}"/>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PHẦN 1: MÔ HÌNH ĐỐI TƯỢNG</a:t>
            </a:r>
          </a:p>
        </p:txBody>
      </p:sp>
      <p:sp>
        <p:nvSpPr>
          <p:cNvPr id="7" name="">
            <a:extLst xmlns:a="http://schemas.openxmlformats.org/drawingml/2006/main">
              <a:ext uri="{FF2B5EF4-FFF2-40B4-BE49-F238E27FC236}">
                <a16:creationId xmlns:a16="http://schemas.microsoft.com/office/drawing/2014/main" id="{055004CC-5984-48C7-B0A8-2AD8A69C7C85}"/>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PHẦN 2: RÀNG BUỘC DỮ LIỆU</a:t>
            </a:r>
          </a:p>
        </p:txBody>
      </p:sp>
      <p:sp>
        <p:nvSpPr>
          <p:cNvPr id="8" name="">
            <a:extLst xmlns:a="http://schemas.openxmlformats.org/drawingml/2006/main">
              <a:ext uri="{FF2B5EF4-FFF2-40B4-BE49-F238E27FC236}">
                <a16:creationId xmlns:a16="http://schemas.microsoft.com/office/drawing/2014/main" id="{34F50B35-56B3-4635-97BE-3A854F66F3CC}"/>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FB28F9CE-A7F3-4426-812B-97B1A4A2F994}"/>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5633249F-1AD0-409E-A4E8-2FFB82AA4EF2}"/>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01  Class và object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02  Encapsulation và property</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03  Constructor và trạng thái hợp lệ</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04  Inheritance, polymorphism, abstraction</a:t>
            </a:r>
          </a:p>
        </p:txBody>
      </p:sp>
      <p:sp>
        <p:nvSpPr>
          <p:cNvPr id="11" name="">
            <a:extLst xmlns:a="http://schemas.openxmlformats.org/drawingml/2006/main">
              <a:ext uri="{FF2B5EF4-FFF2-40B4-BE49-F238E27FC236}">
                <a16:creationId xmlns:a16="http://schemas.microsoft.com/office/drawing/2014/main" id="{001BE83E-E241-4EEC-860B-8B692A921600}"/>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05  Validation trong property</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06  Attribute và metadata</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07  Data Annotations và Validator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08  Quy tắc nghiệp vụ và thực hành</a:t>
            </a:r>
          </a:p>
        </p:txBody>
      </p:sp>
      <p:sp>
        <p:nvSpPr>
          <p:cNvPr id="12" name="">
            <a:extLst xmlns:a="http://schemas.openxmlformats.org/drawingml/2006/main">
              <a:ext uri="{FF2B5EF4-FFF2-40B4-BE49-F238E27FC236}">
                <a16:creationId xmlns:a16="http://schemas.microsoft.com/office/drawing/2014/main" id="{F169AB08-A600-4532-96B0-AFBBAD8D734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E199A144-F8D0-4299-ACD0-C354D6C578E1}"/>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34197420"/>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1BE9A75-6DF0-4C13-A6D3-5D8796F5E2D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2272046E-8FEE-472C-B308-3A5D032CC8C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608AE550-7182-447F-8021-487B51D956F4}"/>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Ví dụ xuyên suốt: quản lý sinh viên</a:t>
            </a:r>
          </a:p>
        </p:txBody>
      </p:sp>
      <p:sp>
        <p:nvSpPr>
          <p:cNvPr id="4" name="">
            <a:extLst xmlns:a="http://schemas.openxmlformats.org/drawingml/2006/main">
              <a:ext uri="{FF2B5EF4-FFF2-40B4-BE49-F238E27FC236}">
                <a16:creationId xmlns:a16="http://schemas.microsoft.com/office/drawing/2014/main" id="{B099A030-D58D-41FF-93A8-4D7AB7EAD534}"/>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3E3268C7-E02E-4DEE-A8EB-3917A203D31A}"/>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04</a:t>
            </a:r>
          </a:p>
        </p:txBody>
      </p:sp>
      <p:sp>
        <p:nvSpPr>
          <p:cNvPr id="6" name="">
            <a:extLst xmlns:a="http://schemas.openxmlformats.org/drawingml/2006/main">
              <a:ext uri="{FF2B5EF4-FFF2-40B4-BE49-F238E27FC236}">
                <a16:creationId xmlns:a16="http://schemas.microsoft.com/office/drawing/2014/main" id="{70074B29-66FF-4A72-A045-3098D2445CAC}"/>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ĐỐI TƯỢNG TRUNG TÂM</a:t>
            </a:r>
          </a:p>
        </p:txBody>
      </p:sp>
      <p:sp>
        <p:nvSpPr>
          <p:cNvPr id="7" name="">
            <a:extLst xmlns:a="http://schemas.openxmlformats.org/drawingml/2006/main">
              <a:ext uri="{FF2B5EF4-FFF2-40B4-BE49-F238E27FC236}">
                <a16:creationId xmlns:a16="http://schemas.microsoft.com/office/drawing/2014/main" id="{D4D6AA8E-8B68-480F-8A19-E93C095102B8}"/>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CÁC CHỨC NĂNG PHÁT TRIỂN DẦN</a:t>
            </a:r>
          </a:p>
        </p:txBody>
      </p:sp>
      <p:sp>
        <p:nvSpPr>
          <p:cNvPr id="8" name="">
            <a:extLst xmlns:a="http://schemas.openxmlformats.org/drawingml/2006/main">
              <a:ext uri="{FF2B5EF4-FFF2-40B4-BE49-F238E27FC236}">
                <a16:creationId xmlns:a16="http://schemas.microsoft.com/office/drawing/2014/main" id="{03E52A34-FAA0-43FA-A4BE-CE9C129970BD}"/>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0E2D160C-2AB3-4C68-AFFC-FD82393A9F66}"/>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AA6D6F17-98AD-4943-99A2-663AF282B137}"/>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Student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StudentId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FullName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DateOfBirth</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Email</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Major</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Score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Status</a:t>
            </a:r>
          </a:p>
        </p:txBody>
      </p:sp>
      <p:sp>
        <p:nvSpPr>
          <p:cNvPr id="11" name="">
            <a:extLst xmlns:a="http://schemas.openxmlformats.org/drawingml/2006/main">
              <a:ext uri="{FF2B5EF4-FFF2-40B4-BE49-F238E27FC236}">
                <a16:creationId xmlns:a16="http://schemas.microsoft.com/office/drawing/2014/main" id="{36AE54FA-411D-4F1C-890B-5CE9009155EE}"/>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Tạo và cập nhật sinh viên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Kiểm tra dữ liệu nhập</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Tính tuổi và xếp loại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Lưu danh sách sinh viên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Tìm kiếm và lọc sinh viên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Đăng ký học phần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Mở rộng sang WinForms và EF Core</a:t>
            </a:r>
          </a:p>
        </p:txBody>
      </p:sp>
      <p:sp>
        <p:nvSpPr>
          <p:cNvPr id="12" name="">
            <a:extLst xmlns:a="http://schemas.openxmlformats.org/drawingml/2006/main">
              <a:ext uri="{FF2B5EF4-FFF2-40B4-BE49-F238E27FC236}">
                <a16:creationId xmlns:a16="http://schemas.microsoft.com/office/drawing/2014/main" id="{E610B72C-479F-4A49-895A-0948D3F4BDF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2D4501B9-F833-4432-90C5-53E4A21DC1C7}"/>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382549648"/>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36398B-47FE-4092-9AB1-B33693ACD972}"/>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37EB634-B669-4292-80DB-6C6C956C5604}"/>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A80FAACB-6558-4A3F-AF9D-753EA10D92EA}"/>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Class và object</a:t>
            </a:r>
          </a:p>
        </p:txBody>
      </p:sp>
      <p:sp>
        <p:nvSpPr>
          <p:cNvPr id="4" name="">
            <a:extLst xmlns:a="http://schemas.openxmlformats.org/drawingml/2006/main">
              <a:ext uri="{FF2B5EF4-FFF2-40B4-BE49-F238E27FC236}">
                <a16:creationId xmlns:a16="http://schemas.microsoft.com/office/drawing/2014/main" id="{AE97DFF9-FEEB-4900-B42D-CA5488E7ED5B}"/>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7F86C9C9-45B9-410E-A776-58480B962060}"/>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05</a:t>
            </a:r>
          </a:p>
        </p:txBody>
      </p:sp>
      <p:sp>
        <p:nvSpPr>
          <p:cNvPr id="6" name="">
            <a:extLst xmlns:a="http://schemas.openxmlformats.org/drawingml/2006/main">
              <a:ext uri="{FF2B5EF4-FFF2-40B4-BE49-F238E27FC236}">
                <a16:creationId xmlns:a16="http://schemas.microsoft.com/office/drawing/2014/main" id="{D3649F83-AD3F-4D11-929C-BB150D38F8FE}"/>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CLASS</a:t>
            </a:r>
          </a:p>
        </p:txBody>
      </p:sp>
      <p:sp>
        <p:nvSpPr>
          <p:cNvPr id="7" name="">
            <a:extLst xmlns:a="http://schemas.openxmlformats.org/drawingml/2006/main">
              <a:ext uri="{FF2B5EF4-FFF2-40B4-BE49-F238E27FC236}">
                <a16:creationId xmlns:a16="http://schemas.microsoft.com/office/drawing/2014/main" id="{67B6F1A5-05E1-4A97-9210-3B5903249FE7}"/>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OBJECT</a:t>
            </a:r>
          </a:p>
        </p:txBody>
      </p:sp>
      <p:sp>
        <p:nvSpPr>
          <p:cNvPr id="8" name="">
            <a:extLst xmlns:a="http://schemas.openxmlformats.org/drawingml/2006/main">
              <a:ext uri="{FF2B5EF4-FFF2-40B4-BE49-F238E27FC236}">
                <a16:creationId xmlns:a16="http://schemas.microsoft.com/office/drawing/2014/main" id="{7A74367C-8527-4B11-8C43-F0979FF0D133}"/>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9B04B3B5-0490-42B9-9AD3-F87F3BFFC2FF}"/>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70624E2E-CD3A-4FBB-9027-9F51505B5045}"/>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Bản thiết kế mô tả:</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Dữ liệu qua field hoặc property</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Hành vi qua method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Quy tắc duy trì trạng thái hợp lệ</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Một class có thể tạo nhiều object.</a:t>
            </a:r>
          </a:p>
        </p:txBody>
      </p:sp>
      <p:sp>
        <p:nvSpPr>
          <p:cNvPr id="11" name="">
            <a:extLst xmlns:a="http://schemas.openxmlformats.org/drawingml/2006/main">
              <a:ext uri="{FF2B5EF4-FFF2-40B4-BE49-F238E27FC236}">
                <a16:creationId xmlns:a16="http://schemas.microsoft.com/office/drawing/2014/main" id="{E2F6E901-1B3B-4695-8A03-09BDFE759703}"/>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Một thể hiện cụ thể của class: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giá trị riêng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Được tạo bằng new</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vòng đời trong bộ nhớ</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Tương tác qua public members</a:t>
            </a:r>
          </a:p>
        </p:txBody>
      </p:sp>
      <p:sp>
        <p:nvSpPr>
          <p:cNvPr id="12" name="">
            <a:extLst xmlns:a="http://schemas.openxmlformats.org/drawingml/2006/main">
              <a:ext uri="{FF2B5EF4-FFF2-40B4-BE49-F238E27FC236}">
                <a16:creationId xmlns:a16="http://schemas.microsoft.com/office/drawing/2014/main" id="{39B43FF6-8104-4237-8462-515767A2283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8AA9A50-3498-4FDA-BB80-B1C882BBA44B}"/>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2016967641"/>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A4F487C-99E1-4D67-AE67-3BE413A587D7}"/>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CB8EC147-D48A-4C1A-B9EE-B60854F53965}"/>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72612BCA-824D-46A1-AB81-D8EF5C2DD756}"/>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Từ mô hình đến class</a:t>
            </a:r>
          </a:p>
        </p:txBody>
      </p:sp>
      <p:sp>
        <p:nvSpPr>
          <p:cNvPr id="4" name="">
            <a:extLst xmlns:a="http://schemas.openxmlformats.org/drawingml/2006/main">
              <a:ext uri="{FF2B5EF4-FFF2-40B4-BE49-F238E27FC236}">
                <a16:creationId xmlns:a16="http://schemas.microsoft.com/office/drawing/2014/main" id="{49F5F0B8-C638-4B20-849B-EB6E9F77B45E}"/>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DE30C97E-F1A8-4099-8293-2F323CFAAEB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06</a:t>
            </a:r>
          </a:p>
        </p:txBody>
      </p:sp>
      <p:sp>
        <p:nvSpPr>
          <p:cNvPr id="6" name="">
            <a:extLst xmlns:a="http://schemas.openxmlformats.org/drawingml/2006/main">
              <a:ext uri="{FF2B5EF4-FFF2-40B4-BE49-F238E27FC236}">
                <a16:creationId xmlns:a16="http://schemas.microsoft.com/office/drawing/2014/main" id="{FBCCB319-3B25-4D06-9C0E-48D7B1CCE7D6}"/>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Class Student gom dữ liệu và hành vi thuộc cùng một đối tượng.</a:t>
            </a:r>
          </a:p>
        </p:txBody>
      </p:sp>
      <p:sp>
        <p:nvSpPr>
          <p:cNvPr id="7" name="">
            <a:extLst xmlns:a="http://schemas.openxmlformats.org/drawingml/2006/main">
              <a:ext uri="{FF2B5EF4-FFF2-40B4-BE49-F238E27FC236}">
                <a16:creationId xmlns:a16="http://schemas.microsoft.com/office/drawing/2014/main" id="{F32C26E1-4486-4621-9E32-DF2654E366B6}"/>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92A32D0C-B06F-4C9E-97A0-F07445694A14}"/>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FullName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double Score { get; set;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bool IsPassed()</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=&gt; Score &gt;= 5.0;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student = new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Id = "SV000001",</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FullName = "Nguyễn An",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Score = 8.2</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0B949148-ED7F-40C3-91DF-40D44B0911C3}"/>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6C8FD583-D0FC-47BC-814C-95B8355C9551}"/>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90393328-2088-4675-A165-774F2D42C269}"/>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Property mô tả trạng thái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Method mô tả hành vi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new tạo object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initializer gán dữ liệu khi khởi tạo</a:t>
            </a:r>
          </a:p>
        </p:txBody>
      </p:sp>
      <p:sp>
        <p:nvSpPr>
          <p:cNvPr id="12" name="">
            <a:extLst xmlns:a="http://schemas.openxmlformats.org/drawingml/2006/main">
              <a:ext uri="{FF2B5EF4-FFF2-40B4-BE49-F238E27FC236}">
                <a16:creationId xmlns:a16="http://schemas.microsoft.com/office/drawing/2014/main" id="{7E8A8723-00C1-4EE4-BBB0-20CCB3DDF54D}"/>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CBF52A17-05F4-4353-9378-285B3E9840A2}"/>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546128741"/>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0104378-C6E9-4DB2-BDF4-B31FFFD0DC5A}"/>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04B0A8B-983E-4B1F-97D1-8062F9D21BDB}"/>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ECEEDC99-0E86-4572-919C-03CD2BD92368}"/>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Bốn nguyên lý OOP</a:t>
            </a:r>
          </a:p>
        </p:txBody>
      </p:sp>
      <p:sp>
        <p:nvSpPr>
          <p:cNvPr id="4" name="">
            <a:extLst xmlns:a="http://schemas.openxmlformats.org/drawingml/2006/main">
              <a:ext uri="{FF2B5EF4-FFF2-40B4-BE49-F238E27FC236}">
                <a16:creationId xmlns:a16="http://schemas.microsoft.com/office/drawing/2014/main" id="{F493E506-5099-4F11-97CD-60200788F422}"/>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AD213E45-6E34-4CC1-97AC-D5AF332823D2}"/>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07</a:t>
            </a:r>
          </a:p>
        </p:txBody>
      </p:sp>
      <p:sp>
        <p:nvSpPr>
          <p:cNvPr id="6" name="">
            <a:extLst xmlns:a="http://schemas.openxmlformats.org/drawingml/2006/main">
              <a:ext uri="{FF2B5EF4-FFF2-40B4-BE49-F238E27FC236}">
                <a16:creationId xmlns:a16="http://schemas.microsoft.com/office/drawing/2014/main" id="{DEB9BA38-468D-436A-AC43-70061B37ABE2}"/>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ĐÓNG GÓI VÀ TRỪU TƯỢNG</a:t>
            </a:r>
          </a:p>
        </p:txBody>
      </p:sp>
      <p:sp>
        <p:nvSpPr>
          <p:cNvPr id="7" name="">
            <a:extLst xmlns:a="http://schemas.openxmlformats.org/drawingml/2006/main">
              <a:ext uri="{FF2B5EF4-FFF2-40B4-BE49-F238E27FC236}">
                <a16:creationId xmlns:a16="http://schemas.microsoft.com/office/drawing/2014/main" id="{4275D12E-1FC2-4556-A692-83C7110B809E}"/>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KẾ THỪA VÀ ĐA HÌNH</a:t>
            </a:r>
          </a:p>
        </p:txBody>
      </p:sp>
      <p:sp>
        <p:nvSpPr>
          <p:cNvPr id="8" name="">
            <a:extLst xmlns:a="http://schemas.openxmlformats.org/drawingml/2006/main">
              <a:ext uri="{FF2B5EF4-FFF2-40B4-BE49-F238E27FC236}">
                <a16:creationId xmlns:a16="http://schemas.microsoft.com/office/drawing/2014/main" id="{707AA71A-216E-4E5F-8B2B-06A1CB8FFD5B}"/>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2F43AA64-3432-4D90-9C1E-7790FEC7136A}"/>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15FD35F6-7DF0-4484-BFB0-6202AA01FAD0}"/>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Encapsulation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Che giấu chi tiết, kiểm soát cách dữ liệu thay đổi.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Abstraction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Chỉ công khai những thao tác cần thiết qua interface hoặc abstract class.</a:t>
            </a:r>
          </a:p>
        </p:txBody>
      </p:sp>
      <p:sp>
        <p:nvSpPr>
          <p:cNvPr id="11" name="">
            <a:extLst xmlns:a="http://schemas.openxmlformats.org/drawingml/2006/main">
              <a:ext uri="{FF2B5EF4-FFF2-40B4-BE49-F238E27FC236}">
                <a16:creationId xmlns:a16="http://schemas.microsoft.com/office/drawing/2014/main" id="{6417DFE4-A4D9-4C9A-A005-C871EC86BBE1}"/>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Inheritance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Tạo kiểu chuyên biệt từ kiểu tổng quát.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Polymorphism</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Cùng lời gọi method nhưng hành vi phụ thuộc kiểu object thực tế.</a:t>
            </a:r>
          </a:p>
        </p:txBody>
      </p:sp>
      <p:sp>
        <p:nvSpPr>
          <p:cNvPr id="12" name="">
            <a:extLst xmlns:a="http://schemas.openxmlformats.org/drawingml/2006/main">
              <a:ext uri="{FF2B5EF4-FFF2-40B4-BE49-F238E27FC236}">
                <a16:creationId xmlns:a16="http://schemas.microsoft.com/office/drawing/2014/main" id="{50F1D6FD-3D41-462B-80F9-947BC90BEF8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B180D360-4640-4A12-8539-9BAA2765FE62}"/>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698479131"/>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D32C7-1C8C-46DD-A968-4694B2C59211}"/>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61204176-6E0C-4B14-9E7B-244B5CEA0C56}"/>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7A21D8E2-B7C7-48EE-A269-66F98F068E5D}"/>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Encapsulation bảo vệ trạng thái</a:t>
            </a:r>
          </a:p>
        </p:txBody>
      </p:sp>
      <p:sp>
        <p:nvSpPr>
          <p:cNvPr id="4" name="">
            <a:extLst xmlns:a="http://schemas.openxmlformats.org/drawingml/2006/main">
              <a:ext uri="{FF2B5EF4-FFF2-40B4-BE49-F238E27FC236}">
                <a16:creationId xmlns:a16="http://schemas.microsoft.com/office/drawing/2014/main" id="{A426A902-4FBD-48FA-A694-9234FA995C50}"/>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AAFA31C7-227A-416C-978F-000C9F9234B2}"/>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08</a:t>
            </a:r>
          </a:p>
        </p:txBody>
      </p:sp>
      <p:sp>
        <p:nvSpPr>
          <p:cNvPr id="6" name="">
            <a:extLst xmlns:a="http://schemas.openxmlformats.org/drawingml/2006/main">
              <a:ext uri="{FF2B5EF4-FFF2-40B4-BE49-F238E27FC236}">
                <a16:creationId xmlns:a16="http://schemas.microsoft.com/office/drawing/2014/main" id="{6842F57E-0D1D-429D-BF42-2B234E987D5C}"/>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Student tự kiểm soát việc thay đổi điểm thay vì công khai field.</a:t>
            </a:r>
          </a:p>
        </p:txBody>
      </p:sp>
      <p:sp>
        <p:nvSpPr>
          <p:cNvPr id="7" name="">
            <a:extLst xmlns:a="http://schemas.openxmlformats.org/drawingml/2006/main">
              <a:ext uri="{FF2B5EF4-FFF2-40B4-BE49-F238E27FC236}">
                <a16:creationId xmlns:a16="http://schemas.microsoft.com/office/drawing/2014/main" id="{4B3290EF-D3F9-46A3-86F8-966AE5CE515B}"/>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4015F64E-D294-476F-B025-F6670F1F6193}"/>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private double score;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double Score =&gt; score;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void UpdateScore(double newScore)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(newScore &lt; 0 || newScore &gt; 10)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throw new ArgumentOutOfRangeException(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nameof(newScore),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"Điểm phải từ 0 đến 10");</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score = newScore;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ACA8C7FA-84C4-433F-9CB0-C20E39AF8988}"/>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F8E97D5B-8E51-4356-B20B-A29F5996554A}"/>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2DB8A25F-1916-421D-A99E-065E12541493}"/>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Field score đặt private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Bên ngoài chỉ đọc Score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Thay đổi qua UpdateScore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Student luôn bảo vệ miền điểm</a:t>
            </a:r>
          </a:p>
        </p:txBody>
      </p:sp>
      <p:sp>
        <p:nvSpPr>
          <p:cNvPr id="12" name="">
            <a:extLst xmlns:a="http://schemas.openxmlformats.org/drawingml/2006/main">
              <a:ext uri="{FF2B5EF4-FFF2-40B4-BE49-F238E27FC236}">
                <a16:creationId xmlns:a16="http://schemas.microsoft.com/office/drawing/2014/main" id="{68A71545-FA62-458B-96A6-D3909332D14F}"/>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48E3A1BA-4BDB-4565-8605-202DB820FCA2}"/>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2120449558"/>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1224B4-3A41-4102-BB97-78959B854844}"/>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6193C302-3E2A-4972-8FFC-EE3266178248}"/>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268CB54C-493B-4B01-AF01-84F19B7DB2AA}"/>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Field và property</a:t>
            </a:r>
          </a:p>
        </p:txBody>
      </p:sp>
      <p:sp>
        <p:nvSpPr>
          <p:cNvPr id="4" name="">
            <a:extLst xmlns:a="http://schemas.openxmlformats.org/drawingml/2006/main">
              <a:ext uri="{FF2B5EF4-FFF2-40B4-BE49-F238E27FC236}">
                <a16:creationId xmlns:a16="http://schemas.microsoft.com/office/drawing/2014/main" id="{A9BE5B68-7971-4F02-8C55-8FCF38A7BDB2}"/>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B764056B-73E1-4F87-A067-0A1584D161D4}"/>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09</a:t>
            </a:r>
          </a:p>
        </p:txBody>
      </p:sp>
      <p:sp>
        <p:nvSpPr>
          <p:cNvPr id="6" name="">
            <a:extLst xmlns:a="http://schemas.openxmlformats.org/drawingml/2006/main">
              <a:ext uri="{FF2B5EF4-FFF2-40B4-BE49-F238E27FC236}">
                <a16:creationId xmlns:a16="http://schemas.microsoft.com/office/drawing/2014/main" id="{278A7B0F-363A-4D84-B915-7EB76DFFC132}"/>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FIELD</a:t>
            </a:r>
          </a:p>
        </p:txBody>
      </p:sp>
      <p:sp>
        <p:nvSpPr>
          <p:cNvPr id="7" name="">
            <a:extLst xmlns:a="http://schemas.openxmlformats.org/drawingml/2006/main">
              <a:ext uri="{FF2B5EF4-FFF2-40B4-BE49-F238E27FC236}">
                <a16:creationId xmlns:a16="http://schemas.microsoft.com/office/drawing/2014/main" id="{F1780FDF-12B5-408B-9EA5-532B8DF4F1E8}"/>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PROPERTY</a:t>
            </a:r>
          </a:p>
        </p:txBody>
      </p:sp>
      <p:sp>
        <p:nvSpPr>
          <p:cNvPr id="8" name="">
            <a:extLst xmlns:a="http://schemas.openxmlformats.org/drawingml/2006/main">
              <a:ext uri="{FF2B5EF4-FFF2-40B4-BE49-F238E27FC236}">
                <a16:creationId xmlns:a16="http://schemas.microsoft.com/office/drawing/2014/main" id="{AA46939C-C8B9-4940-8EB4-33372974C538}"/>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1FDD9301-C2EF-46DB-9F20-3B4078D0A60D}"/>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1343D6FE-A935-4062-80DC-E2C4B258F8BA}"/>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private string fullName =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private double score;</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Dữ liệu lưu trữ nội bộ</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Thường đặt private</a:t>
            </a:r>
          </a:p>
        </p:txBody>
      </p:sp>
      <p:sp>
        <p:nvSpPr>
          <p:cNvPr id="11" name="">
            <a:extLst xmlns:a="http://schemas.openxmlformats.org/drawingml/2006/main">
              <a:ext uri="{FF2B5EF4-FFF2-40B4-BE49-F238E27FC236}">
                <a16:creationId xmlns:a16="http://schemas.microsoft.com/office/drawing/2014/main" id="{32869325-3C4F-4485-940B-D6164CC71EA9}"/>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string FullName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get =&gt; fullName;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set =&gt; fullName = value;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Giao diện truy cập có kiểm soát</a:t>
            </a:r>
          </a:p>
        </p:txBody>
      </p:sp>
      <p:sp>
        <p:nvSpPr>
          <p:cNvPr id="12" name="">
            <a:extLst xmlns:a="http://schemas.openxmlformats.org/drawingml/2006/main">
              <a:ext uri="{FF2B5EF4-FFF2-40B4-BE49-F238E27FC236}">
                <a16:creationId xmlns:a16="http://schemas.microsoft.com/office/drawing/2014/main" id="{A329E425-7947-4B46-9683-1CC8306FE8E0}"/>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FFDD1A6A-F7E4-4F9D-9C1E-62C508B64DBA}"/>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266443184"/>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21EB48C-1DB0-4DB4-A55B-3A60F8A41B49}"/>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4D212605-A1FD-4D6A-B8CA-63A32BFAA9FA}"/>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C3AA12BE-4F89-438D-8D92-333BA99839EE}"/>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Auto-property và phạm vi truy cập</a:t>
            </a:r>
          </a:p>
        </p:txBody>
      </p:sp>
      <p:sp>
        <p:nvSpPr>
          <p:cNvPr id="4" name="">
            <a:extLst xmlns:a="http://schemas.openxmlformats.org/drawingml/2006/main">
              <a:ext uri="{FF2B5EF4-FFF2-40B4-BE49-F238E27FC236}">
                <a16:creationId xmlns:a16="http://schemas.microsoft.com/office/drawing/2014/main" id="{45587773-66B1-4948-BDBC-ED78F9254BDC}"/>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F95E6A0-1D6A-403B-B9A8-0CF8FBA43652}"/>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39DDCD48-5B42-4673-91A3-23E66A4C0BE2}"/>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CÁC DẠNG THƯỜNG DÙNG</a:t>
            </a:r>
          </a:p>
        </p:txBody>
      </p:sp>
      <p:sp>
        <p:nvSpPr>
          <p:cNvPr id="7" name="">
            <a:extLst xmlns:a="http://schemas.openxmlformats.org/drawingml/2006/main">
              <a:ext uri="{FF2B5EF4-FFF2-40B4-BE49-F238E27FC236}">
                <a16:creationId xmlns:a16="http://schemas.microsoft.com/office/drawing/2014/main" id="{B4F9EC4E-C6FB-454A-9B88-75B4B934559A}"/>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Ý NGHĨA THIẾT KẾ</a:t>
            </a:r>
          </a:p>
        </p:txBody>
      </p:sp>
      <p:sp>
        <p:nvSpPr>
          <p:cNvPr id="8" name="">
            <a:extLst xmlns:a="http://schemas.openxmlformats.org/drawingml/2006/main">
              <a:ext uri="{FF2B5EF4-FFF2-40B4-BE49-F238E27FC236}">
                <a16:creationId xmlns:a16="http://schemas.microsoft.com/office/drawing/2014/main" id="{781CFAE7-1C6C-4A09-B7D0-1014D4759EDC}"/>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AB760D36-F4B7-402C-B57D-F130F52611FE}"/>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65EBD028-E3B5-4DB6-B7F5-A32386533A4F}"/>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string Name { get; set; } = "";</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string Id { get; init; } = "";</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decimal Price { get; private set; }</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DateTime CreatedAt { get;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 DateTime.Now;</a:t>
            </a:r>
          </a:p>
        </p:txBody>
      </p:sp>
      <p:sp>
        <p:nvSpPr>
          <p:cNvPr id="11" name="">
            <a:extLst xmlns:a="http://schemas.openxmlformats.org/drawingml/2006/main">
              <a:ext uri="{FF2B5EF4-FFF2-40B4-BE49-F238E27FC236}">
                <a16:creationId xmlns:a16="http://schemas.microsoft.com/office/drawing/2014/main" id="{ED0F7B7C-FB18-4DE2-B554-91ADFE33BFEB}"/>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get; set;  Cho phép đọc và ghi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get; init;  Chỉ gán khi khởi tạo</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private set  Chỉ class được phép ghi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get;  Chỉ đọc từ bên ngoài</a:t>
            </a:r>
          </a:p>
        </p:txBody>
      </p:sp>
      <p:sp>
        <p:nvSpPr>
          <p:cNvPr id="12" name="">
            <a:extLst xmlns:a="http://schemas.openxmlformats.org/drawingml/2006/main">
              <a:ext uri="{FF2B5EF4-FFF2-40B4-BE49-F238E27FC236}">
                <a16:creationId xmlns:a16="http://schemas.microsoft.com/office/drawing/2014/main" id="{E20E68D0-77A2-4098-82D1-D73D77F0ECD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573FAF8F-4901-4BE4-BC6A-273EE87DDC84}"/>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72077303"/>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C3ECA8F-DA00-4EEB-A73B-9BEC157FF3A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16BBB7A4-3B6A-4C51-99C2-B836BED56C44}"/>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51C97251-9419-41B6-A5B7-AD2E02082A44}"/>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Validation trong property setter</a:t>
            </a:r>
          </a:p>
        </p:txBody>
      </p:sp>
      <p:sp>
        <p:nvSpPr>
          <p:cNvPr id="4" name="">
            <a:extLst xmlns:a="http://schemas.openxmlformats.org/drawingml/2006/main">
              <a:ext uri="{FF2B5EF4-FFF2-40B4-BE49-F238E27FC236}">
                <a16:creationId xmlns:a16="http://schemas.microsoft.com/office/drawing/2014/main" id="{B75E9C8B-C580-42E4-BAE8-767797556841}"/>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938E7BAB-CAEC-431F-BBE4-E3AE520D09CC}"/>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CB71C4C2-C6B8-4ACC-B466-A91529E54514}"/>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Setter có thể từ chối giá trị làm object rơi vào trạng thái không hợp lệ.</a:t>
            </a:r>
          </a:p>
        </p:txBody>
      </p:sp>
      <p:sp>
        <p:nvSpPr>
          <p:cNvPr id="7" name="">
            <a:extLst xmlns:a="http://schemas.openxmlformats.org/drawingml/2006/main">
              <a:ext uri="{FF2B5EF4-FFF2-40B4-BE49-F238E27FC236}">
                <a16:creationId xmlns:a16="http://schemas.microsoft.com/office/drawing/2014/main" id="{E0BD0534-D96A-4DB8-988E-703B1ADDC871}"/>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5A9BDD4E-6BC9-419C-A685-DC30C8252E4B}"/>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private double score;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double Score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get =&gt; score;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set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(value &lt; 0 || value &gt; 10)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throw new ArgumentOutOfRangeException(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nameof(value),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"Điểm phải từ 0 đến 10");</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score = value;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99A6212C-838E-4C9B-A010-ED8185C042F4}"/>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7C332CE3-26CC-4A79-93CD-B29647A08432}"/>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9E1E57CC-E4C3-4644-9178-67DDDB899D4F}"/>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Kiểm tra diễn ra ngay khi gán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tồn tại object có điểm sai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Phù hợp invariant quan trọng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Cần xử lý exception ở nơi gọi</a:t>
            </a:r>
          </a:p>
        </p:txBody>
      </p:sp>
      <p:sp>
        <p:nvSpPr>
          <p:cNvPr id="12" name="">
            <a:extLst xmlns:a="http://schemas.openxmlformats.org/drawingml/2006/main">
              <a:ext uri="{FF2B5EF4-FFF2-40B4-BE49-F238E27FC236}">
                <a16:creationId xmlns:a16="http://schemas.microsoft.com/office/drawing/2014/main" id="{7A0A0885-03E6-4A13-86AC-8C39C373DCF2}"/>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E189F3DE-0181-407D-BEA0-22D42A7F820F}"/>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8841482"/>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54B16C4-BB44-4CD9-A435-D7CD55273EA0}"/>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DE225662-D941-4867-951F-AB3E5E03C178}"/>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DB347C27-7219-4A1D-B107-20BCA319AA22}"/>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Constructor thiết lập trạng thái ban đầu</a:t>
            </a:r>
          </a:p>
        </p:txBody>
      </p:sp>
      <p:sp>
        <p:nvSpPr>
          <p:cNvPr id="4" name="">
            <a:extLst xmlns:a="http://schemas.openxmlformats.org/drawingml/2006/main">
              <a:ext uri="{FF2B5EF4-FFF2-40B4-BE49-F238E27FC236}">
                <a16:creationId xmlns:a16="http://schemas.microsoft.com/office/drawing/2014/main" id="{BE5DA499-D95E-417E-AD0B-97187B4E65F1}"/>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EEACBB8-B0F0-446F-91A8-C4B3A0B4B47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781E42DC-CC17-454E-AFA9-15CF463FA0E8}"/>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Constructor nhận dữ liệu bắt buộc và bảo đảm Student hợp lệ ngay khi được tạo.</a:t>
            </a:r>
          </a:p>
        </p:txBody>
      </p:sp>
      <p:sp>
        <p:nvSpPr>
          <p:cNvPr id="7" name="">
            <a:extLst xmlns:a="http://schemas.openxmlformats.org/drawingml/2006/main">
              <a:ext uri="{FF2B5EF4-FFF2-40B4-BE49-F238E27FC236}">
                <a16:creationId xmlns:a16="http://schemas.microsoft.com/office/drawing/2014/main" id="{8105FEC8-578A-4019-A82E-8291BA0A83C6}"/>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E75AFE9B-562A-4CE6-82EF-B20E4C976784}"/>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07"/>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StudentId { get;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FullName { get; private set;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Major { get; private set;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string studentId, string fullName, string major)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(string.IsNullOrWhiteSpace(studentId))</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throw new ArgumentException("Thiếu mã SV");</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(string.IsNullOrWhiteSpace(fullName))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throw new ArgumentException("Thiếu họ tên");</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StudentId = studentId;</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FullName = fullName; Major = major;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835B9829-E84C-475D-A210-71F440E2E406}"/>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98CF3AFD-B4DC-466B-9F08-6416C1AB7DC4}"/>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C192AA6F-1966-4364-9380-C4603F600DA7}"/>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Mã và họ tên là bắt buộc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StudentId chỉ đọc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hợp lệ ngay khi tạo</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Constructor không thực hiện nhập xuất</a:t>
            </a:r>
          </a:p>
        </p:txBody>
      </p:sp>
      <p:sp>
        <p:nvSpPr>
          <p:cNvPr id="12" name="">
            <a:extLst xmlns:a="http://schemas.openxmlformats.org/drawingml/2006/main">
              <a:ext uri="{FF2B5EF4-FFF2-40B4-BE49-F238E27FC236}">
                <a16:creationId xmlns:a16="http://schemas.microsoft.com/office/drawing/2014/main" id="{B8FDAC55-BFB2-47EF-82C9-58581864C5ED}"/>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25A7AB2-3179-480B-B1CA-D68E6ED5FA58}"/>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454126371"/>
      </p:ext>
    </p:extLst>
  </p:cSld>
</p:sld>
</file>

<file path=ppt/slides/slide1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E46CA6-09CA-41A6-9EA4-17BC1C673B41}"/>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FB102DC5-BA79-4FD3-9528-87EDDC6840C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2F812BE1-84F6-4076-898D-5605D04B49F0}"/>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Inheritance và override</a:t>
            </a:r>
          </a:p>
        </p:txBody>
      </p:sp>
      <p:sp>
        <p:nvSpPr>
          <p:cNvPr id="4" name="">
            <a:extLst xmlns:a="http://schemas.openxmlformats.org/drawingml/2006/main">
              <a:ext uri="{FF2B5EF4-FFF2-40B4-BE49-F238E27FC236}">
                <a16:creationId xmlns:a16="http://schemas.microsoft.com/office/drawing/2014/main" id="{C64A46FB-321F-4676-B51E-375061337A19}"/>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672B0D7D-9109-4D74-A5DE-CB39E5B9B9BE}"/>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9F29B063-36C3-4A92-8ABA-8F81F5283CEC}"/>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Student và Lecturer dùng chung dữ liệu cơ bản từ Person.</a:t>
            </a:r>
          </a:p>
        </p:txBody>
      </p:sp>
      <p:sp>
        <p:nvSpPr>
          <p:cNvPr id="7" name="">
            <a:extLst xmlns:a="http://schemas.openxmlformats.org/drawingml/2006/main">
              <a:ext uri="{FF2B5EF4-FFF2-40B4-BE49-F238E27FC236}">
                <a16:creationId xmlns:a16="http://schemas.microsoft.com/office/drawing/2014/main" id="{BA2CCCDB-8F71-48E8-B952-D6189648A371}"/>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8B02C29B-2DDC-409C-ACAE-3C1EEE3D8602}"/>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abstract class Person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FullName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abstract string GetRole();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 : Person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Major { get; set; }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override string GetRole()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=&gt; $"Sinh viên ngành {Major}";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A6B60608-9CDD-46D9-A8AA-FB7FE38D3ED4}"/>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42329849-1D29-428C-9D35-0F37B49A1755}"/>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308B6804-1DE4-447D-8FE6-7C7EAB1D61A4}"/>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Student is-a Person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Person chứa dữ liệu dùng chung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GetRole là hành vi đa hình</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lạm dụng kế thừa</a:t>
            </a:r>
          </a:p>
        </p:txBody>
      </p:sp>
      <p:sp>
        <p:nvSpPr>
          <p:cNvPr id="12" name="">
            <a:extLst xmlns:a="http://schemas.openxmlformats.org/drawingml/2006/main">
              <a:ext uri="{FF2B5EF4-FFF2-40B4-BE49-F238E27FC236}">
                <a16:creationId xmlns:a16="http://schemas.microsoft.com/office/drawing/2014/main" id="{50689B9D-AD87-41D7-93BA-EEDB46CFF2CA}"/>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05546585-8F84-4E5C-966E-826CB766846F}"/>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457786522"/>
      </p:ext>
    </p:extLst>
  </p:cSld>
</p:sld>
</file>

<file path=ppt/slides/slide1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049B01-DD82-4245-8EFA-751913A875A0}"/>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740BF072-F2A9-4C30-92F0-FE26C3F2D90A}"/>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A6301F76-8361-41F3-BC31-3AF756E949B1}"/>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Polymorphism qua kiểu cơ sở</a:t>
            </a:r>
          </a:p>
        </p:txBody>
      </p:sp>
      <p:sp>
        <p:nvSpPr>
          <p:cNvPr id="4" name="">
            <a:extLst xmlns:a="http://schemas.openxmlformats.org/drawingml/2006/main">
              <a:ext uri="{FF2B5EF4-FFF2-40B4-BE49-F238E27FC236}">
                <a16:creationId xmlns:a16="http://schemas.microsoft.com/office/drawing/2014/main" id="{B3E76583-F95D-45C4-8674-9006B99B91D4}"/>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CBB126AE-7368-4082-A260-E38E5096AD5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47B56699-BBDF-429B-BE5C-D4FD5A12AB55}"/>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Danh sách Person có thể chứa Student và Lecturer rồi gọi cùng một method.</a:t>
            </a:r>
          </a:p>
        </p:txBody>
      </p:sp>
      <p:sp>
        <p:nvSpPr>
          <p:cNvPr id="7" name="">
            <a:extLst xmlns:a="http://schemas.openxmlformats.org/drawingml/2006/main">
              <a:ext uri="{FF2B5EF4-FFF2-40B4-BE49-F238E27FC236}">
                <a16:creationId xmlns:a16="http://schemas.microsoft.com/office/drawing/2014/main" id="{6B964FD8-892C-4AE4-A6ED-ACA189772CEB}"/>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46B7AE72-393D-441A-A576-F7AF0C4520BA}"/>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List&lt;Person&gt; people = new()</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new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Id = "SV000001", FullName = "An",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Major = "Software Engineering"</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new Lecturer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Id = "GV001", FullName = "Cô Huệ",</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Department = "Information Technology"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foreach (Person person in people)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Console.WriteLine(person.GetRole());</a:t>
            </a:r>
          </a:p>
        </p:txBody>
      </p:sp>
      <p:sp>
        <p:nvSpPr>
          <p:cNvPr id="9" name="">
            <a:extLst xmlns:a="http://schemas.openxmlformats.org/drawingml/2006/main">
              <a:ext uri="{FF2B5EF4-FFF2-40B4-BE49-F238E27FC236}">
                <a16:creationId xmlns:a16="http://schemas.microsoft.com/office/drawing/2014/main" id="{7C08F92E-0D6F-4993-9F88-F94E2370B630}"/>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DC096972-B244-492D-80F8-2267D4D1F08F}"/>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570D394E-14DB-4459-97A4-F03160828FEC}"/>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Biến có kiểu Person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thực tế có thể khác nhau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Runtime chọn method override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cần if theo từng loại người</a:t>
            </a:r>
          </a:p>
        </p:txBody>
      </p:sp>
      <p:sp>
        <p:nvSpPr>
          <p:cNvPr id="12" name="">
            <a:extLst xmlns:a="http://schemas.openxmlformats.org/drawingml/2006/main">
              <a:ext uri="{FF2B5EF4-FFF2-40B4-BE49-F238E27FC236}">
                <a16:creationId xmlns:a16="http://schemas.microsoft.com/office/drawing/2014/main" id="{79A3A350-7636-4350-9245-4A975C95E5BE}"/>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D766461-E03F-46CA-9864-EB62A6095D6E}"/>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620536273"/>
      </p:ext>
    </p:extLst>
  </p:cSld>
</p:sld>
</file>

<file path=ppt/slides/slide1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BBB3DB7-62E0-4FE5-8F24-FD9EE565EB1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DF1E82F8-DEE7-47EF-A989-563CE38B8F54}"/>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BBE08A9C-F1C1-48DD-A9B5-B91F7991EE15}"/>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Abstract class và interface</a:t>
            </a:r>
          </a:p>
        </p:txBody>
      </p:sp>
      <p:sp>
        <p:nvSpPr>
          <p:cNvPr id="4" name="">
            <a:extLst xmlns:a="http://schemas.openxmlformats.org/drawingml/2006/main">
              <a:ext uri="{FF2B5EF4-FFF2-40B4-BE49-F238E27FC236}">
                <a16:creationId xmlns:a16="http://schemas.microsoft.com/office/drawing/2014/main" id="{267C7BB2-CF0F-45CD-92BB-A0D77FBC006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46D5441-45CA-495C-A8FC-DB1692ECC40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53822278-1604-4FA9-879E-F93777E1BEA0}"/>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ABSTRACT CLASS</a:t>
            </a:r>
          </a:p>
        </p:txBody>
      </p:sp>
      <p:sp>
        <p:nvSpPr>
          <p:cNvPr id="7" name="">
            <a:extLst xmlns:a="http://schemas.openxmlformats.org/drawingml/2006/main">
              <a:ext uri="{FF2B5EF4-FFF2-40B4-BE49-F238E27FC236}">
                <a16:creationId xmlns:a16="http://schemas.microsoft.com/office/drawing/2014/main" id="{42C9790A-E1E0-4F4E-A48A-BF7595A69AE4}"/>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INTERFACE</a:t>
            </a:r>
          </a:p>
        </p:txBody>
      </p:sp>
      <p:sp>
        <p:nvSpPr>
          <p:cNvPr id="8" name="">
            <a:extLst xmlns:a="http://schemas.openxmlformats.org/drawingml/2006/main">
              <a:ext uri="{FF2B5EF4-FFF2-40B4-BE49-F238E27FC236}">
                <a16:creationId xmlns:a16="http://schemas.microsoft.com/office/drawing/2014/main" id="{013DD29D-F4C4-46E2-A955-AD0E9807E5F8}"/>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42992D3B-7B7D-4B8B-98EF-E56631147548}"/>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6077C940-97F4-4799-BBB9-AE267EF26044}"/>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thể chứa state và constructor</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abstract và concrete members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Một class chỉ kế thừa một class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Dùng cho các kiểu cùng họ</a:t>
            </a:r>
          </a:p>
        </p:txBody>
      </p:sp>
      <p:sp>
        <p:nvSpPr>
          <p:cNvPr id="11" name="">
            <a:extLst xmlns:a="http://schemas.openxmlformats.org/drawingml/2006/main">
              <a:ext uri="{FF2B5EF4-FFF2-40B4-BE49-F238E27FC236}">
                <a16:creationId xmlns:a16="http://schemas.microsoft.com/office/drawing/2014/main" id="{767AB0C1-189F-4029-9C09-47D77599CDAD}"/>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Mô tả một năng lực hoặc hợp đồng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Một class cài đặt nhiều interface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Hỗ trợ thay thế implementation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Thuận lợi cho kiểm thử và DI</a:t>
            </a:r>
          </a:p>
        </p:txBody>
      </p:sp>
      <p:sp>
        <p:nvSpPr>
          <p:cNvPr id="12" name="">
            <a:extLst xmlns:a="http://schemas.openxmlformats.org/drawingml/2006/main">
              <a:ext uri="{FF2B5EF4-FFF2-40B4-BE49-F238E27FC236}">
                <a16:creationId xmlns:a16="http://schemas.microsoft.com/office/drawing/2014/main" id="{6C2F5E07-F118-4C46-AE08-2D3F0F6E94CF}"/>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FD855165-964C-4D3E-AD03-CBC3CC36C66B}"/>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79844077"/>
      </p:ext>
    </p:extLst>
  </p:cSld>
</p:sld>
</file>

<file path=ppt/slides/slide1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5224E5-24A8-4597-8D78-46B486D0AE05}"/>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927786BE-0358-41A2-BB15-6D618B1C85A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44FA36FD-1096-4B92-A987-5099C51BD759}"/>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Composition và inheritance</a:t>
            </a:r>
          </a:p>
        </p:txBody>
      </p:sp>
      <p:sp>
        <p:nvSpPr>
          <p:cNvPr id="4" name="">
            <a:extLst xmlns:a="http://schemas.openxmlformats.org/drawingml/2006/main">
              <a:ext uri="{FF2B5EF4-FFF2-40B4-BE49-F238E27FC236}">
                <a16:creationId xmlns:a16="http://schemas.microsoft.com/office/drawing/2014/main" id="{1B030F51-9ACA-4A67-A128-EE9BE2FAFE2A}"/>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B0F0F1FB-EBE7-4333-9F57-5FDA0361D073}"/>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38C2DFD0-CE34-41F4-8C11-B6C5317BB75D}"/>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COMPOSITION</a:t>
            </a:r>
          </a:p>
        </p:txBody>
      </p:sp>
      <p:sp>
        <p:nvSpPr>
          <p:cNvPr id="7" name="">
            <a:extLst xmlns:a="http://schemas.openxmlformats.org/drawingml/2006/main">
              <a:ext uri="{FF2B5EF4-FFF2-40B4-BE49-F238E27FC236}">
                <a16:creationId xmlns:a16="http://schemas.microsoft.com/office/drawing/2014/main" id="{C94E22E4-ACF6-4601-B611-F62B83BC776A}"/>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INHERITANCE</a:t>
            </a:r>
          </a:p>
        </p:txBody>
      </p:sp>
      <p:sp>
        <p:nvSpPr>
          <p:cNvPr id="8" name="">
            <a:extLst xmlns:a="http://schemas.openxmlformats.org/drawingml/2006/main">
              <a:ext uri="{FF2B5EF4-FFF2-40B4-BE49-F238E27FC236}">
                <a16:creationId xmlns:a16="http://schemas.microsoft.com/office/drawing/2014/main" id="{4BB8F924-63C9-4643-877D-B2AEFA7C8D41}"/>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D1928571-6186-446D-9099-942A56DE8F13}"/>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155715A-B714-41D5-81BD-0338DD3BF6BD}"/>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class StudentService</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private readonly IStudentRepository repo;</a:t>
            </a:r>
          </a:p>
          <a:p xmlns:a="http://schemas.openxmlformats.org/drawingml/2006/main">
            <a:r>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public StudentService(IStudentRepository repo)</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this.repo = repo;</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    }</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a:t>
            </a:r>
          </a:p>
        </p:txBody>
      </p:sp>
      <p:sp>
        <p:nvSpPr>
          <p:cNvPr id="11" name="">
            <a:extLst xmlns:a="http://schemas.openxmlformats.org/drawingml/2006/main">
              <a:ext uri="{FF2B5EF4-FFF2-40B4-BE49-F238E27FC236}">
                <a16:creationId xmlns:a16="http://schemas.microsoft.com/office/drawing/2014/main" id="{A421D3A8-3856-48D5-9E7F-CE14C99AAF9B}"/>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Ưu tiên composition khi đối tượng chỉ cần sử dụng một năng lực.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Chỉ dùng inheritance khi quan hệ is-a ổn định và kiểu con thực sự thay thế được kiểu cha.</a:t>
            </a:r>
          </a:p>
        </p:txBody>
      </p:sp>
      <p:sp>
        <p:nvSpPr>
          <p:cNvPr id="12" name="">
            <a:extLst xmlns:a="http://schemas.openxmlformats.org/drawingml/2006/main">
              <a:ext uri="{FF2B5EF4-FFF2-40B4-BE49-F238E27FC236}">
                <a16:creationId xmlns:a16="http://schemas.microsoft.com/office/drawing/2014/main" id="{583D0F74-59CC-44F5-A516-3F0D5DC45288}"/>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67F2994-77AC-4F1D-A659-FAD5F855F3D1}"/>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843286693"/>
      </p:ext>
    </p:extLst>
  </p:cSld>
</p:sld>
</file>

<file path=ppt/slides/slide1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E5A598-7EA4-4667-B828-DA48CDEB983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B36453E-97F4-48AD-A6F0-E5901507026A}"/>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B26F54E0-B959-4599-8AE4-4F5CFBC1D170}"/>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Vì sao cần validation?</a:t>
            </a:r>
          </a:p>
        </p:txBody>
      </p:sp>
      <p:sp>
        <p:nvSpPr>
          <p:cNvPr id="4" name="">
            <a:extLst xmlns:a="http://schemas.openxmlformats.org/drawingml/2006/main">
              <a:ext uri="{FF2B5EF4-FFF2-40B4-BE49-F238E27FC236}">
                <a16:creationId xmlns:a16="http://schemas.microsoft.com/office/drawing/2014/main" id="{1A4086C6-119F-469D-ACBF-46DD4C28932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FC809B21-F4EA-4F05-B52D-37FD8CF4A30D}"/>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4315323B-2B2F-40BF-A479-542EF8E13E10}"/>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DỮ LIỆU KHÔNG HỢP LỆ</a:t>
            </a:r>
          </a:p>
        </p:txBody>
      </p:sp>
      <p:sp>
        <p:nvSpPr>
          <p:cNvPr id="7" name="">
            <a:extLst xmlns:a="http://schemas.openxmlformats.org/drawingml/2006/main">
              <a:ext uri="{FF2B5EF4-FFF2-40B4-BE49-F238E27FC236}">
                <a16:creationId xmlns:a16="http://schemas.microsoft.com/office/drawing/2014/main" id="{6B6B45D3-562A-4E43-9E28-2CD3CC440B1D}"/>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HẬU QUẢ</a:t>
            </a:r>
          </a:p>
        </p:txBody>
      </p:sp>
      <p:sp>
        <p:nvSpPr>
          <p:cNvPr id="8" name="">
            <a:extLst xmlns:a="http://schemas.openxmlformats.org/drawingml/2006/main">
              <a:ext uri="{FF2B5EF4-FFF2-40B4-BE49-F238E27FC236}">
                <a16:creationId xmlns:a16="http://schemas.microsoft.com/office/drawing/2014/main" id="{E9336D23-B134-4FFA-B999-F428EA763BB9}"/>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FD9D558B-5606-43EB-870E-B23FEEC888E0}"/>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640D8FC-630F-4E78-BD07-06E771451EEC}"/>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Mã sinh viên để trống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Điểm ngoài khoảng 0–10</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Email sai định dạng</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Ngày sinh ở tương lai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Mã lớp không tồn tại</a:t>
            </a:r>
          </a:p>
        </p:txBody>
      </p:sp>
      <p:sp>
        <p:nvSpPr>
          <p:cNvPr id="11" name="">
            <a:extLst xmlns:a="http://schemas.openxmlformats.org/drawingml/2006/main">
              <a:ext uri="{FF2B5EF4-FFF2-40B4-BE49-F238E27FC236}">
                <a16:creationId xmlns:a16="http://schemas.microsoft.com/office/drawing/2014/main" id="{20C76760-5C40-497C-AAAA-E92D28524A1D}"/>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Object có trạng thái sai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Lỗi lan tới tầng nghiệp vụ</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Ghi dữ liệu bẩn vào database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Giao diện khó giải thích lỗi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Báo cáo và truy vấn thiếu tin cậy</a:t>
            </a:r>
          </a:p>
        </p:txBody>
      </p:sp>
      <p:sp>
        <p:nvSpPr>
          <p:cNvPr id="12" name="">
            <a:extLst xmlns:a="http://schemas.openxmlformats.org/drawingml/2006/main">
              <a:ext uri="{FF2B5EF4-FFF2-40B4-BE49-F238E27FC236}">
                <a16:creationId xmlns:a16="http://schemas.microsoft.com/office/drawing/2014/main" id="{5416E1D5-C174-4F98-B742-38F339BAE05B}"/>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C79F43E1-FE10-43D6-A14A-98CDDAB34F8A}"/>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962754072"/>
      </p:ext>
    </p:extLst>
  </p:cSld>
</p:sld>
</file>

<file path=ppt/slides/slide1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82E8B3C-1A27-44F8-B2E3-3F124A63EEF7}"/>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489D065-0849-411F-94BD-F4A94AE9C829}"/>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5CF31967-472C-4A11-A14D-B416CF45CD4E}"/>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Ba tầng kiểm tra dữ liệu</a:t>
            </a:r>
          </a:p>
        </p:txBody>
      </p:sp>
      <p:sp>
        <p:nvSpPr>
          <p:cNvPr id="4" name="">
            <a:extLst xmlns:a="http://schemas.openxmlformats.org/drawingml/2006/main">
              <a:ext uri="{FF2B5EF4-FFF2-40B4-BE49-F238E27FC236}">
                <a16:creationId xmlns:a16="http://schemas.microsoft.com/office/drawing/2014/main" id="{5BFB3799-C4C5-4F5C-809C-C8F3BFC4E591}"/>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971BA29F-DC5B-4EF8-9BFF-E34E0DDBDA1D}"/>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BCC3794E-50BC-4CCA-A28E-EC1D687E43EA}"/>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RÀNG BUỘC CẤU TRÚC</a:t>
            </a:r>
          </a:p>
        </p:txBody>
      </p:sp>
      <p:sp>
        <p:nvSpPr>
          <p:cNvPr id="7" name="">
            <a:extLst xmlns:a="http://schemas.openxmlformats.org/drawingml/2006/main">
              <a:ext uri="{FF2B5EF4-FFF2-40B4-BE49-F238E27FC236}">
                <a16:creationId xmlns:a16="http://schemas.microsoft.com/office/drawing/2014/main" id="{0E19D4F3-FBF4-4A85-8418-2967E99078F8}"/>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QUY TẮC NGHIỆP VỤ</a:t>
            </a:r>
          </a:p>
        </p:txBody>
      </p:sp>
      <p:sp>
        <p:nvSpPr>
          <p:cNvPr id="8" name="">
            <a:extLst xmlns:a="http://schemas.openxmlformats.org/drawingml/2006/main">
              <a:ext uri="{FF2B5EF4-FFF2-40B4-BE49-F238E27FC236}">
                <a16:creationId xmlns:a16="http://schemas.microsoft.com/office/drawing/2014/main" id="{D4252B83-A32B-44BE-A9FD-C0CA2617E332}"/>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26F1B80A-5639-4A9C-B6A9-A35A8114FB76}"/>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96CDC4DF-883C-4B6F-B32F-B02730FD93F4}"/>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Property hoặc Data Annotations:</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Bắt buộc nhập</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Độ dài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Khoảng giá trị</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Định dạng email, điện thoại, mã</a:t>
            </a:r>
          </a:p>
        </p:txBody>
      </p:sp>
      <p:sp>
        <p:nvSpPr>
          <p:cNvPr id="11" name="">
            <a:extLst xmlns:a="http://schemas.openxmlformats.org/drawingml/2006/main">
              <a:ext uri="{FF2B5EF4-FFF2-40B4-BE49-F238E27FC236}">
                <a16:creationId xmlns:a16="http://schemas.microsoft.com/office/drawing/2014/main" id="{CA0876DD-7AFF-464A-8449-4364FD6996D7}"/>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Business layer hoặc domain model: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đăng ký quá 24 tín chỉ</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Chỉ mượn tối đa 3 cuốn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mượn khi đang bị khóa</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Mã sinh viên phải duy nhất</a:t>
            </a:r>
          </a:p>
        </p:txBody>
      </p:sp>
      <p:sp>
        <p:nvSpPr>
          <p:cNvPr id="12" name="">
            <a:extLst xmlns:a="http://schemas.openxmlformats.org/drawingml/2006/main">
              <a:ext uri="{FF2B5EF4-FFF2-40B4-BE49-F238E27FC236}">
                <a16:creationId xmlns:a16="http://schemas.microsoft.com/office/drawing/2014/main" id="{19D83178-AD6F-47E2-A24F-A4771D3B7EEC}"/>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5BC72A8B-7E78-41A0-A66B-F99B82DEF0D8}"/>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58525236"/>
      </p:ext>
    </p:extLst>
  </p:cSld>
</p:sld>
</file>

<file path=ppt/slides/slide1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19D73EE-DAEB-44B9-A87F-7AADAE32EBA4}"/>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F57BC92E-45C1-4DE2-8F46-25A212AD870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B10D24F6-B114-454B-8FDF-43654A4649C9}"/>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Attribute và metadata</a:t>
            </a:r>
          </a:p>
        </p:txBody>
      </p:sp>
      <p:sp>
        <p:nvSpPr>
          <p:cNvPr id="4" name="">
            <a:extLst xmlns:a="http://schemas.openxmlformats.org/drawingml/2006/main">
              <a:ext uri="{FF2B5EF4-FFF2-40B4-BE49-F238E27FC236}">
                <a16:creationId xmlns:a16="http://schemas.microsoft.com/office/drawing/2014/main" id="{A1849D19-6FB0-4986-9224-7470644B79B6}"/>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1F517098-CFE5-42BA-B985-F1BCF9EC223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19</a:t>
            </a:r>
          </a:p>
        </p:txBody>
      </p:sp>
      <p:sp>
        <p:nvSpPr>
          <p:cNvPr id="6" name="">
            <a:extLst xmlns:a="http://schemas.openxmlformats.org/drawingml/2006/main">
              <a:ext uri="{FF2B5EF4-FFF2-40B4-BE49-F238E27FC236}">
                <a16:creationId xmlns:a16="http://schemas.microsoft.com/office/drawing/2014/main" id="{359580C3-0C2B-4F79-9DFF-9C38D5290366}"/>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ATTRIBUTE LÀ GÌ?</a:t>
            </a:r>
          </a:p>
        </p:txBody>
      </p:sp>
      <p:sp>
        <p:nvSpPr>
          <p:cNvPr id="7" name="">
            <a:extLst xmlns:a="http://schemas.openxmlformats.org/drawingml/2006/main">
              <a:ext uri="{FF2B5EF4-FFF2-40B4-BE49-F238E27FC236}">
                <a16:creationId xmlns:a16="http://schemas.microsoft.com/office/drawing/2014/main" id="{385CD55F-E002-4981-8510-5F20710A74F3}"/>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CÚ PHÁP</a:t>
            </a:r>
          </a:p>
        </p:txBody>
      </p:sp>
      <p:sp>
        <p:nvSpPr>
          <p:cNvPr id="8" name="">
            <a:extLst xmlns:a="http://schemas.openxmlformats.org/drawingml/2006/main">
              <a:ext uri="{FF2B5EF4-FFF2-40B4-BE49-F238E27FC236}">
                <a16:creationId xmlns:a16="http://schemas.microsoft.com/office/drawing/2014/main" id="{F3BC15DE-EC55-4D10-8322-64935ED60E44}"/>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212A02AA-A712-4C0C-B58E-7868F73C616C}"/>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47226A6-1010-4C1A-B4CE-492AB17311BF}"/>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Attribute gắn metadata vào class, property, method hoặc parameter.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Framework có thể đọc metadata bằng reflection và thực hiện validation, mapping hoặc hiển thị.</a:t>
            </a:r>
          </a:p>
        </p:txBody>
      </p:sp>
      <p:sp>
        <p:nvSpPr>
          <p:cNvPr id="11" name="">
            <a:extLst xmlns:a="http://schemas.openxmlformats.org/drawingml/2006/main">
              <a:ext uri="{FF2B5EF4-FFF2-40B4-BE49-F238E27FC236}">
                <a16:creationId xmlns:a16="http://schemas.microsoft.com/office/drawing/2014/main" id="{FBB6670D-B7A7-44AE-9B29-3830D3FE12BD}"/>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[Required]</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[StringLength(100)]</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[Range(0, 10)]</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[EmailAddress]</a:t>
            </a:r>
          </a:p>
          <a:p xmlns:a="http://schemas.openxmlformats.org/drawingml/2006/main">
            <a:pPr>
              <a:defRPr sz="1500" b="0">
                <a:solidFill>
                  <a:srgbClr val="172B3A"/>
                </a:solidFill>
                <a:latin typeface="DejaVu Sans Mono"/>
                <a:ea typeface="DejaVu Sans Mono"/>
                <a:cs typeface="DejaVu Sans Mono"/>
              </a:defRPr>
            </a:pPr>
            <a:r>
              <a:rPr sz="1500" b="0">
                <a:solidFill>
                  <a:srgbClr val="172B3A"/>
                </a:solidFill>
                <a:latin typeface="DejaVu Sans Mono"/>
                <a:ea typeface="DejaVu Sans Mono"/>
                <a:cs typeface="DejaVu Sans Mono"/>
              </a:rPr>
              <a:t>public string Email { get; set; } = "";</a:t>
            </a:r>
          </a:p>
        </p:txBody>
      </p:sp>
      <p:sp>
        <p:nvSpPr>
          <p:cNvPr id="12" name="">
            <a:extLst xmlns:a="http://schemas.openxmlformats.org/drawingml/2006/main">
              <a:ext uri="{FF2B5EF4-FFF2-40B4-BE49-F238E27FC236}">
                <a16:creationId xmlns:a16="http://schemas.microsoft.com/office/drawing/2014/main" id="{C7A58BE8-5C15-4390-8D2F-2536C7DBE9B8}"/>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E0A05BE-D785-40BF-A099-8EA5BAE32D0D}"/>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469308735"/>
      </p:ext>
    </p:extLst>
  </p:cSld>
</p:sld>
</file>

<file path=ppt/slides/slide2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EAE8D61-F6B6-4F81-A4D5-CBA6CF7FA29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60C01E94-CC3D-471A-ADCB-07FDDDCC9F05}"/>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6B3232FD-A163-4BA4-A9D7-28750173994A}"/>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Chuẩn bị sử dụng Data Annotations</a:t>
            </a:r>
          </a:p>
        </p:txBody>
      </p:sp>
      <p:sp>
        <p:nvSpPr>
          <p:cNvPr id="4" name="">
            <a:extLst xmlns:a="http://schemas.openxmlformats.org/drawingml/2006/main">
              <a:ext uri="{FF2B5EF4-FFF2-40B4-BE49-F238E27FC236}">
                <a16:creationId xmlns:a16="http://schemas.microsoft.com/office/drawing/2014/main" id="{7DE716B0-9BE6-4DFB-B56B-0D35A122EC7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1753927C-5484-430B-97EB-7DB0A1D82494}"/>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20</a:t>
            </a:r>
          </a:p>
        </p:txBody>
      </p:sp>
      <p:sp>
        <p:nvSpPr>
          <p:cNvPr id="6" name="">
            <a:extLst xmlns:a="http://schemas.openxmlformats.org/drawingml/2006/main">
              <a:ext uri="{FF2B5EF4-FFF2-40B4-BE49-F238E27FC236}">
                <a16:creationId xmlns:a16="http://schemas.microsoft.com/office/drawing/2014/main" id="{815F4752-86D1-4B59-90DB-CED151984286}"/>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Các validation attributes nằm trong System.ComponentModel.DataAnnotations.</a:t>
            </a:r>
          </a:p>
        </p:txBody>
      </p:sp>
      <p:sp>
        <p:nvSpPr>
          <p:cNvPr id="7" name="">
            <a:extLst xmlns:a="http://schemas.openxmlformats.org/drawingml/2006/main">
              <a:ext uri="{FF2B5EF4-FFF2-40B4-BE49-F238E27FC236}">
                <a16:creationId xmlns:a16="http://schemas.microsoft.com/office/drawing/2014/main" id="{F31CEA21-8DB7-4107-9ECA-B9DA35B603CF}"/>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FA3F1F41-DA51-488A-B8B9-807A5C061BA0}"/>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using System.ComponentModel.DataAnnotations;</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[Required]</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[Range(0, 10)]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double Score { get; set;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F943F40C-6375-4C8A-A96E-53DC58578C08}"/>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CA029D9F-8EED-4E08-878B-4C6776472D81}"/>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748BE8C3-5D26-4515-8347-B5E3B82D2A3B}"/>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sẵn trong .NET hiện đại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Attribute đặt ngay trên member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thể cấu hình ErrorMessage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Cần framework hoặc Validator thực thi</a:t>
            </a:r>
          </a:p>
        </p:txBody>
      </p:sp>
      <p:sp>
        <p:nvSpPr>
          <p:cNvPr id="12" name="">
            <a:extLst xmlns:a="http://schemas.openxmlformats.org/drawingml/2006/main">
              <a:ext uri="{FF2B5EF4-FFF2-40B4-BE49-F238E27FC236}">
                <a16:creationId xmlns:a16="http://schemas.microsoft.com/office/drawing/2014/main" id="{A1C44A7A-10A1-4AF2-B6A2-B354E7AF40BD}"/>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1F1CD721-498C-48BD-8A0E-1DEE887220F2}"/>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042724821"/>
      </p:ext>
    </p:extLst>
  </p:cSld>
</p:sld>
</file>

<file path=ppt/slides/slide2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2A01B7-C17E-4FD4-8309-7B8923D7D3A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D7DB5A85-D942-4BE6-BD79-F051011F11E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B7803294-7632-4619-A3F2-40C31A9E3BE2}"/>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Các annotation thường dùng</a:t>
            </a:r>
          </a:p>
        </p:txBody>
      </p:sp>
      <p:sp>
        <p:nvSpPr>
          <p:cNvPr id="4" name="">
            <a:extLst xmlns:a="http://schemas.openxmlformats.org/drawingml/2006/main">
              <a:ext uri="{FF2B5EF4-FFF2-40B4-BE49-F238E27FC236}">
                <a16:creationId xmlns:a16="http://schemas.microsoft.com/office/drawing/2014/main" id="{2C91726A-8283-486C-AFC1-53845E26AC2B}"/>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0EC89EE9-7E2B-4D1E-A44B-DE1DC1DE7835}"/>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C7EDAED2-53D5-4DED-A38C-6B6B99605DD6}"/>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KIỂM TRA GIÁ TRỊ</a:t>
            </a:r>
          </a:p>
        </p:txBody>
      </p:sp>
      <p:sp>
        <p:nvSpPr>
          <p:cNvPr id="7" name="">
            <a:extLst xmlns:a="http://schemas.openxmlformats.org/drawingml/2006/main">
              <a:ext uri="{FF2B5EF4-FFF2-40B4-BE49-F238E27FC236}">
                <a16:creationId xmlns:a16="http://schemas.microsoft.com/office/drawing/2014/main" id="{BA0E4BF6-9175-438B-907B-5FC08FDDBD9A}"/>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HIỂN THỊ VÀ MAPPING</a:t>
            </a:r>
          </a:p>
        </p:txBody>
      </p:sp>
      <p:sp>
        <p:nvSpPr>
          <p:cNvPr id="8" name="">
            <a:extLst xmlns:a="http://schemas.openxmlformats.org/drawingml/2006/main">
              <a:ext uri="{FF2B5EF4-FFF2-40B4-BE49-F238E27FC236}">
                <a16:creationId xmlns:a16="http://schemas.microsoft.com/office/drawing/2014/main" id="{024B689D-049F-4201-8ED8-C186C77DF06C}"/>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4B99A63C-9A23-40DA-BE95-8853925A8782}"/>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B3920E4F-E023-4C8C-B0EF-0B9CA4DA4358}"/>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[Required]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[StringLength]  [MinLength]  [MaxLength]</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[Range]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[EmailAddress]  [Phone]  [Url]</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[RegularExpression]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[Compare]  [CustomValidation]</a:t>
            </a:r>
          </a:p>
        </p:txBody>
      </p:sp>
      <p:sp>
        <p:nvSpPr>
          <p:cNvPr id="11" name="">
            <a:extLst xmlns:a="http://schemas.openxmlformats.org/drawingml/2006/main">
              <a:ext uri="{FF2B5EF4-FFF2-40B4-BE49-F238E27FC236}">
                <a16:creationId xmlns:a16="http://schemas.microsoft.com/office/drawing/2014/main" id="{034C5F5C-CF34-42AF-BFC6-4725A6EA3B9F}"/>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[Display]  [DisplayFormat]</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[DataType]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[Key]</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[Column]  [Table]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[NotMapped]</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[ForeignKey]</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[ConcurrencyCheck]  [Timestamp]</a:t>
            </a:r>
          </a:p>
        </p:txBody>
      </p:sp>
      <p:sp>
        <p:nvSpPr>
          <p:cNvPr id="12" name="">
            <a:extLst xmlns:a="http://schemas.openxmlformats.org/drawingml/2006/main">
              <a:ext uri="{FF2B5EF4-FFF2-40B4-BE49-F238E27FC236}">
                <a16:creationId xmlns:a16="http://schemas.microsoft.com/office/drawing/2014/main" id="{50187E0A-785B-44B4-9E4A-3F8E04ACD085}"/>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601E1D9F-08FB-4D5B-974A-913F5809040D}"/>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298958064"/>
      </p:ext>
    </p:extLst>
  </p:cSld>
</p:sld>
</file>

<file path=ppt/slides/slide2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7BD80B-0810-4E4D-82FA-3D1601E0913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6D894719-393D-4142-869B-E164DD47135C}"/>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E7A24D4F-5E9E-4D09-AFD8-59593EDF34D7}"/>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Mô hình Student với Data Annotations</a:t>
            </a:r>
          </a:p>
        </p:txBody>
      </p:sp>
      <p:sp>
        <p:nvSpPr>
          <p:cNvPr id="4" name="">
            <a:extLst xmlns:a="http://schemas.openxmlformats.org/drawingml/2006/main">
              <a:ext uri="{FF2B5EF4-FFF2-40B4-BE49-F238E27FC236}">
                <a16:creationId xmlns:a16="http://schemas.microsoft.com/office/drawing/2014/main" id="{05D9F195-3F49-4095-A5D5-9885BD29763B}"/>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3C4476CB-2ACC-4F44-B056-6D8707A1BC58}"/>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031CA14A-CF2C-4D8F-A4C4-F94E0BA85271}"/>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Mỗi ràng buộc nằm gần property mà nó mô tả.</a:t>
            </a:r>
          </a:p>
        </p:txBody>
      </p:sp>
      <p:sp>
        <p:nvSpPr>
          <p:cNvPr id="7" name="">
            <a:extLst xmlns:a="http://schemas.openxmlformats.org/drawingml/2006/main">
              <a:ext uri="{FF2B5EF4-FFF2-40B4-BE49-F238E27FC236}">
                <a16:creationId xmlns:a16="http://schemas.microsoft.com/office/drawing/2014/main" id="{B86BDFF1-5828-445D-9357-5432049AB745}"/>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2FCAD990-1681-446E-89DF-5F98A3BFAA0C}"/>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[Required(ErrorMessage = "Phải nhập mã SV")]</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[StringLength(8, MinimumLength = 8)]</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[Required(ErrorMessage = "Phải nhập họ tên")]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[StringLength(100, MinimumLength = 3)]</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FullName { get; set; }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[Range(0, 10,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ErrorMessage = "Điểm phải từ 0 đến 10")]</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double Score { get; set;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837590FD-A4BA-4DD3-BFBB-6327E04A1A60}"/>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E1F25B90-58C7-412A-84C3-85948E35356C}"/>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2C39EA4E-6DDB-45E3-850C-9C7FB1A868FE}"/>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Required kiểm tra giá trị thiếu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StringLength kiểm tra độ dài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Range kiểm tra miền số</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ErrorMessage hướng dẫn người dùng</a:t>
            </a:r>
          </a:p>
        </p:txBody>
      </p:sp>
      <p:sp>
        <p:nvSpPr>
          <p:cNvPr id="12" name="">
            <a:extLst xmlns:a="http://schemas.openxmlformats.org/drawingml/2006/main">
              <a:ext uri="{FF2B5EF4-FFF2-40B4-BE49-F238E27FC236}">
                <a16:creationId xmlns:a16="http://schemas.microsoft.com/office/drawing/2014/main" id="{0E095CBE-1888-4515-A6B6-75C6C9B1A163}"/>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E9327E37-3875-4B5B-95AD-6889ADBDDB74}"/>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613035934"/>
      </p:ext>
    </p:extLst>
  </p:cSld>
</p:sld>
</file>

<file path=ppt/slides/slide2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F743DE-5062-418D-BF50-370BBF7760C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23664C3-2C77-4889-AC45-EBC7129DB8FC}"/>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44BC0EDB-F14F-4A91-91A1-398E9F5C3217}"/>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Ràng buộc định dạng bằng annotation</a:t>
            </a:r>
          </a:p>
        </p:txBody>
      </p:sp>
      <p:sp>
        <p:nvSpPr>
          <p:cNvPr id="4" name="">
            <a:extLst xmlns:a="http://schemas.openxmlformats.org/drawingml/2006/main">
              <a:ext uri="{FF2B5EF4-FFF2-40B4-BE49-F238E27FC236}">
                <a16:creationId xmlns:a16="http://schemas.microsoft.com/office/drawing/2014/main" id="{9C5E67EC-C9B9-4B7F-AE34-2B66EE77A916}"/>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5D323358-4E48-4959-B35E-E39B81088E7C}"/>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23</a:t>
            </a:r>
          </a:p>
        </p:txBody>
      </p:sp>
      <p:sp>
        <p:nvSpPr>
          <p:cNvPr id="6" name="">
            <a:extLst xmlns:a="http://schemas.openxmlformats.org/drawingml/2006/main">
              <a:ext uri="{FF2B5EF4-FFF2-40B4-BE49-F238E27FC236}">
                <a16:creationId xmlns:a16="http://schemas.microsoft.com/office/drawing/2014/main" id="{7EBF273E-1C00-43FF-84BD-6CFD6253A74E}"/>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RegularExpressionAttribute áp dụng một Regex cho giá trị property.</a:t>
            </a:r>
          </a:p>
        </p:txBody>
      </p:sp>
      <p:sp>
        <p:nvSpPr>
          <p:cNvPr id="7" name="">
            <a:extLst xmlns:a="http://schemas.openxmlformats.org/drawingml/2006/main">
              <a:ext uri="{FF2B5EF4-FFF2-40B4-BE49-F238E27FC236}">
                <a16:creationId xmlns:a16="http://schemas.microsoft.com/office/drawing/2014/main" id="{51AF1C2A-EBF1-483A-B352-686CE9610564}"/>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5C2AC08F-2355-4C0D-ACE4-582838C53FE5}"/>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[RegularExpression(</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@"^SV\d{6}$",</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ErrorMessage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"Mã SV gồm SV và 6 chữ số")]</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Id { get; set; } =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[EmailAddress(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ErrorMessage = "Email không hợp lệ")]</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string Email { get; set; } =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3D4834DD-03CA-4C96-8F48-39649904F912}"/>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7C921EE5-5AAA-4BE9-831E-440850F6BBFF}"/>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D263B1FB-003C-481F-B106-D693610C4088}"/>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 và $ khóa toàn bộ chuỗi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\d{6} yêu cầu sáu chữ số</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Dạy Regex chi tiết ở Bài 3</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EmailAddress phù hợp kiểm tra thông thường</a:t>
            </a:r>
          </a:p>
        </p:txBody>
      </p:sp>
      <p:sp>
        <p:nvSpPr>
          <p:cNvPr id="12" name="">
            <a:extLst xmlns:a="http://schemas.openxmlformats.org/drawingml/2006/main">
              <a:ext uri="{FF2B5EF4-FFF2-40B4-BE49-F238E27FC236}">
                <a16:creationId xmlns:a16="http://schemas.microsoft.com/office/drawing/2014/main" id="{C62891DC-0A5F-4C5D-B691-C0C0589B439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BD880C61-D7EE-4550-B6E2-A2DD3039AEF8}"/>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869808700"/>
      </p:ext>
    </p:extLst>
  </p:cSld>
</p:sld>
</file>

<file path=ppt/slides/slide2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252C3F0-7BDE-4447-AD32-05EFF22B7F2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AD53DA1-114B-4C62-A228-ED464C077A07}"/>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51D73EFE-86B2-43F2-80E5-74DD158FBC56}"/>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Chủ động kiểm tra object bằng Validator</a:t>
            </a:r>
          </a:p>
        </p:txBody>
      </p:sp>
      <p:sp>
        <p:nvSpPr>
          <p:cNvPr id="4" name="">
            <a:extLst xmlns:a="http://schemas.openxmlformats.org/drawingml/2006/main">
              <a:ext uri="{FF2B5EF4-FFF2-40B4-BE49-F238E27FC236}">
                <a16:creationId xmlns:a16="http://schemas.microsoft.com/office/drawing/2014/main" id="{87826FC8-1E28-43D1-965B-EBCB9BEF0EB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A0A94DE7-78BC-43EC-B153-77F31F03C51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24</a:t>
            </a:r>
          </a:p>
        </p:txBody>
      </p:sp>
      <p:sp>
        <p:nvSpPr>
          <p:cNvPr id="6" name="">
            <a:extLst xmlns:a="http://schemas.openxmlformats.org/drawingml/2006/main">
              <a:ext uri="{FF2B5EF4-FFF2-40B4-BE49-F238E27FC236}">
                <a16:creationId xmlns:a16="http://schemas.microsoft.com/office/drawing/2014/main" id="{62A85492-38A4-4137-8AF8-E3491D6A62BB}"/>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Trong Console hoặc WinForms, chương trình có thể gọi Validator.TryValidateObject.</a:t>
            </a:r>
          </a:p>
        </p:txBody>
      </p:sp>
      <p:sp>
        <p:nvSpPr>
          <p:cNvPr id="7" name="">
            <a:extLst xmlns:a="http://schemas.openxmlformats.org/drawingml/2006/main">
              <a:ext uri="{FF2B5EF4-FFF2-40B4-BE49-F238E27FC236}">
                <a16:creationId xmlns:a16="http://schemas.microsoft.com/office/drawing/2014/main" id="{79F2D3AB-363C-419E-8FEE-824ADC4CEA0B}"/>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CC53B9B1-BCD5-4393-87D9-E5D5C4E13A12}"/>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context = new ValidationContext(student);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var errors = new List&lt;ValidationResult&gt;();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bool isValid = Validator.TryValidateObject(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student,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context,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validateAllProperties: true);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if (!isValid)</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foreach (ValidationResult error in errors)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Console.WriteLine(error.ErrorMessage);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8F5B15AC-076D-4F5A-B84B-E1E74046A0E2}"/>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01A82B35-33C2-4A4F-822E-73211FC3726F}"/>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CF6A8A5D-F288-44A5-BFDB-79B796AC51C1}"/>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Kết quả trả về bool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errors chứa mọi lỗi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true kiểm tra toàn bộ property</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Annotation không tự chạy trong mọi loại ứng dụng</a:t>
            </a:r>
          </a:p>
        </p:txBody>
      </p:sp>
      <p:sp>
        <p:nvSpPr>
          <p:cNvPr id="12" name="">
            <a:extLst xmlns:a="http://schemas.openxmlformats.org/drawingml/2006/main">
              <a:ext uri="{FF2B5EF4-FFF2-40B4-BE49-F238E27FC236}">
                <a16:creationId xmlns:a16="http://schemas.microsoft.com/office/drawing/2014/main" id="{5A971066-5BEE-4A98-A9E7-32E8E5A972A1}"/>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BD2571EC-EC2B-45DC-8D36-A285630B019C}"/>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853137601"/>
      </p:ext>
    </p:extLst>
  </p:cSld>
</p:sld>
</file>

<file path=ppt/slides/slide2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55F754A-231E-42EA-B2C4-A74DDDF5396F}"/>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1141B2DA-8095-4243-A524-7990A6FA1B4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8958EB44-A7E7-411A-B2BF-FBA01884B685}"/>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Gom lỗi theo property</a:t>
            </a:r>
          </a:p>
        </p:txBody>
      </p:sp>
      <p:sp>
        <p:nvSpPr>
          <p:cNvPr id="4" name="">
            <a:extLst xmlns:a="http://schemas.openxmlformats.org/drawingml/2006/main">
              <a:ext uri="{FF2B5EF4-FFF2-40B4-BE49-F238E27FC236}">
                <a16:creationId xmlns:a16="http://schemas.microsoft.com/office/drawing/2014/main" id="{130E5C9C-26EC-478D-AF84-F9F9E75D58A4}"/>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66830865-D31E-41EB-9FAE-47B57B88BDD1}"/>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25</a:t>
            </a:r>
          </a:p>
        </p:txBody>
      </p:sp>
      <p:sp>
        <p:nvSpPr>
          <p:cNvPr id="6" name="">
            <a:extLst xmlns:a="http://schemas.openxmlformats.org/drawingml/2006/main">
              <a:ext uri="{FF2B5EF4-FFF2-40B4-BE49-F238E27FC236}">
                <a16:creationId xmlns:a16="http://schemas.microsoft.com/office/drawing/2014/main" id="{C9E0E78F-D526-4C6E-BF70-E06C81F3609B}"/>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MemberNames giúp giao diện đặt thông báo cạnh đúng ô nhập liệu.</a:t>
            </a:r>
          </a:p>
        </p:txBody>
      </p:sp>
      <p:sp>
        <p:nvSpPr>
          <p:cNvPr id="7" name="">
            <a:extLst xmlns:a="http://schemas.openxmlformats.org/drawingml/2006/main">
              <a:ext uri="{FF2B5EF4-FFF2-40B4-BE49-F238E27FC236}">
                <a16:creationId xmlns:a16="http://schemas.microsoft.com/office/drawing/2014/main" id="{5678BB94-9B3B-4F5D-B20D-F8988E2D5890}"/>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76BA0C6F-DA46-4E30-8AB0-20FF2FF87C33}"/>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Dictionary&lt;string, List&lt;string&gt;&gt; errorMap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.SelectMany(e =&gt; e.MemberNames</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.DefaultIfEmpty("Object")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.Select(member =&gt; new</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Member = member,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Message = e.ErrorMessage ?? "Lỗi"</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.GroupBy(x =&gt; x.Member)</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.ToDictionary(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 =&gt; g.Key,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g =&gt; g.Select(x =&gt; x.Message).ToList());</a:t>
            </a:r>
          </a:p>
        </p:txBody>
      </p:sp>
      <p:sp>
        <p:nvSpPr>
          <p:cNvPr id="9" name="">
            <a:extLst xmlns:a="http://schemas.openxmlformats.org/drawingml/2006/main">
              <a:ext uri="{FF2B5EF4-FFF2-40B4-BE49-F238E27FC236}">
                <a16:creationId xmlns:a16="http://schemas.microsoft.com/office/drawing/2014/main" id="{68F88B04-8B7B-49E2-8FD0-15612FEE8F79}"/>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0C2889B-49EE-46F7-A579-D719F983370D}"/>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B4E3F2F7-310A-4A91-A2A2-0664188A45EB}"/>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69"/>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MemberNames chỉ ra property lỗi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Có thể liên kết với ErrorProvider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LINQ sẽ học chi tiết ở Bài 3</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hiển thị exception kỹ thuật cho người dùng</a:t>
            </a:r>
          </a:p>
        </p:txBody>
      </p:sp>
      <p:sp>
        <p:nvSpPr>
          <p:cNvPr id="12" name="">
            <a:extLst xmlns:a="http://schemas.openxmlformats.org/drawingml/2006/main">
              <a:ext uri="{FF2B5EF4-FFF2-40B4-BE49-F238E27FC236}">
                <a16:creationId xmlns:a16="http://schemas.microsoft.com/office/drawing/2014/main" id="{F36CE0E0-1586-4355-AD1F-28504576C6BA}"/>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43B0A756-4B41-482E-B9D9-B1626DA831C9}"/>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311140509"/>
      </p:ext>
    </p:extLst>
  </p:cSld>
</p:sld>
</file>

<file path=ppt/slides/slide2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DC6006-421F-459D-996B-F26B1BA71AB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493C8E5-6E27-4627-A656-48BE55CE99D2}"/>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35739A40-4495-4CF4-827A-B13AC71995AD}"/>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Quy tắc liên thuộc tính</a:t>
            </a:r>
          </a:p>
        </p:txBody>
      </p:sp>
      <p:sp>
        <p:nvSpPr>
          <p:cNvPr id="4" name="">
            <a:extLst xmlns:a="http://schemas.openxmlformats.org/drawingml/2006/main">
              <a:ext uri="{FF2B5EF4-FFF2-40B4-BE49-F238E27FC236}">
                <a16:creationId xmlns:a16="http://schemas.microsoft.com/office/drawing/2014/main" id="{B9C0EE03-ADE7-4E50-8EE2-3F3A36C0B50F}"/>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7A6FA6A8-CA60-493D-84D7-22451D5EA179}"/>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26</a:t>
            </a:r>
          </a:p>
        </p:txBody>
      </p:sp>
      <p:sp>
        <p:nvSpPr>
          <p:cNvPr id="6" name="">
            <a:extLst xmlns:a="http://schemas.openxmlformats.org/drawingml/2006/main">
              <a:ext uri="{FF2B5EF4-FFF2-40B4-BE49-F238E27FC236}">
                <a16:creationId xmlns:a16="http://schemas.microsoft.com/office/drawing/2014/main" id="{66B33B17-D774-4459-A94C-EB894F8D91C5}"/>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IValidatableObject phù hợp khi một quy tắc cần đọc nhiều property.</a:t>
            </a:r>
          </a:p>
        </p:txBody>
      </p:sp>
      <p:sp>
        <p:nvSpPr>
          <p:cNvPr id="7" name="">
            <a:extLst xmlns:a="http://schemas.openxmlformats.org/drawingml/2006/main">
              <a:ext uri="{FF2B5EF4-FFF2-40B4-BE49-F238E27FC236}">
                <a16:creationId xmlns:a16="http://schemas.microsoft.com/office/drawing/2014/main" id="{3DC8D970-2B51-4792-A9B1-5EF62E24B47B}"/>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D284DB07-7720-452E-87CD-CCCC16E3D287}"/>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Enrollment : IValidatableObject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DateTime StartDate { get; set;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DateTime EndDate { get; set; }</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IEnumerable&lt;ValidationResult&gt; Validate(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ValidationContext context)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(EndDate &lt; StartDate)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yield return new ValidationResult(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"Ngày kết thúc phải sau ngày bắt đầu",</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new[] { nameof(EndDate)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p:txBody>
      </p:sp>
      <p:sp>
        <p:nvSpPr>
          <p:cNvPr id="9" name="">
            <a:extLst xmlns:a="http://schemas.openxmlformats.org/drawingml/2006/main">
              <a:ext uri="{FF2B5EF4-FFF2-40B4-BE49-F238E27FC236}">
                <a16:creationId xmlns:a16="http://schemas.microsoft.com/office/drawing/2014/main" id="{470D1D1C-A6B1-4CC6-87D6-A92576FF0252}"/>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6D5ECFD9-279F-49D7-A1B1-CADF6550837F}"/>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ABFAB717-7AA4-44B3-BCD3-C90E950C3CEE}"/>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Kiểm tra nhiều property cùng lúc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Trả về một hoặc nhiều lỗi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Gắn lỗi với member liên quan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Không thay thế các quy tắc nghiệp vụ phức tạp</a:t>
            </a:r>
          </a:p>
        </p:txBody>
      </p:sp>
      <p:sp>
        <p:nvSpPr>
          <p:cNvPr id="12" name="">
            <a:extLst xmlns:a="http://schemas.openxmlformats.org/drawingml/2006/main">
              <a:ext uri="{FF2B5EF4-FFF2-40B4-BE49-F238E27FC236}">
                <a16:creationId xmlns:a16="http://schemas.microsoft.com/office/drawing/2014/main" id="{441F8F6A-61BD-40CA-BDE4-B90D484F8E96}"/>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8BC992E9-61D4-45B1-9BDC-3A04526BB491}"/>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913870499"/>
      </p:ext>
    </p:extLst>
  </p:cSld>
</p:sld>
</file>

<file path=ppt/slides/slide2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137BB0-4278-4B10-8841-2F86882091D6}"/>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541D6CA0-1C9E-45EE-A007-510F1FE56647}"/>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FED98C63-B880-44B1-AC4C-4635A8660C38}"/>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Tạo validation attribute tùy chỉnh</a:t>
            </a:r>
          </a:p>
        </p:txBody>
      </p:sp>
      <p:sp>
        <p:nvSpPr>
          <p:cNvPr id="4" name="">
            <a:extLst xmlns:a="http://schemas.openxmlformats.org/drawingml/2006/main">
              <a:ext uri="{FF2B5EF4-FFF2-40B4-BE49-F238E27FC236}">
                <a16:creationId xmlns:a16="http://schemas.microsoft.com/office/drawing/2014/main" id="{F98B3F13-E7DB-48AF-8FA6-901A04789B40}"/>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2A5C09E4-B9AA-4DAD-8B40-8979DFE6B1CD}"/>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27</a:t>
            </a:r>
          </a:p>
        </p:txBody>
      </p:sp>
      <p:sp>
        <p:nvSpPr>
          <p:cNvPr id="6" name="">
            <a:extLst xmlns:a="http://schemas.openxmlformats.org/drawingml/2006/main">
              <a:ext uri="{FF2B5EF4-FFF2-40B4-BE49-F238E27FC236}">
                <a16:creationId xmlns:a16="http://schemas.microsoft.com/office/drawing/2014/main" id="{916BF79C-4647-4A15-A342-627D45BF493D}"/>
              </a:ext>
            </a:extLst>
          </p:cNvPr>
          <p:cNvSpPr>
            <a:spLocks xmlns:a="http://schemas.openxmlformats.org/drawingml/2006/main" noGrp="1"/>
          </p:cNvSpPr>
          <p:nvPr/>
        </p:nvSpPr>
        <p:spPr>
          <a:xfrm xmlns:a="http://schemas.openxmlformats.org/drawingml/2006/main">
            <a:off x="609600" y="10668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Kế thừa ValidationAttribute khi một quy tắc được tái sử dụng ở nhiều model.</a:t>
            </a:r>
          </a:p>
        </p:txBody>
      </p:sp>
      <p:sp>
        <p:nvSpPr>
          <p:cNvPr id="7" name="">
            <a:extLst xmlns:a="http://schemas.openxmlformats.org/drawingml/2006/main">
              <a:ext uri="{FF2B5EF4-FFF2-40B4-BE49-F238E27FC236}">
                <a16:creationId xmlns:a16="http://schemas.microsoft.com/office/drawing/2014/main" id="{8C9E54B6-7DB4-4F9A-8708-D703F2F9AD2D}"/>
              </a:ext>
            </a:extLst>
          </p:cNvPr>
          <p:cNvSpPr>
            <a:spLocks xmlns:a="http://schemas.openxmlformats.org/drawingml/2006/main" noGrp="1"/>
          </p:cNvSpPr>
          <p:nvPr/>
        </p:nvSpPr>
        <p:spPr>
          <a:xfrm xmlns:a="http://schemas.openxmlformats.org/drawingml/2006/main">
            <a:off x="552450" y="1714500"/>
            <a:ext cx="6953250" cy="4191000"/>
          </a:xfrm>
          <a:prstGeom xmlns:a="http://schemas.openxmlformats.org/drawingml/2006/main" prst="roundRect">
            <a:avLst>
              <a:gd name="adj" fmla="val 1818"/>
            </a:avLst>
          </a:prstGeom>
          <a:solidFill xmlns:a="http://schemas.openxmlformats.org/drawingml/2006/main">
            <a:srgbClr val="102534"/>
          </a:solidFill>
          <a:ln xmlns:a="http://schemas.openxmlformats.org/drawingml/2006/main" w="9525">
            <a:solidFill>
              <a:srgbClr val="102534"/>
            </a:solidFill>
          </a:ln>
        </p:spPr>
      </p:sp>
      <p:sp>
        <p:nvSpPr>
          <p:cNvPr id="8" name="">
            <a:extLst xmlns:a="http://schemas.openxmlformats.org/drawingml/2006/main">
              <a:ext uri="{FF2B5EF4-FFF2-40B4-BE49-F238E27FC236}">
                <a16:creationId xmlns:a16="http://schemas.microsoft.com/office/drawing/2014/main" id="{DDC0EFCA-8C99-4C3B-B49C-108C0A9B2FDD}"/>
              </a:ext>
            </a:extLst>
          </p:cNvPr>
          <p:cNvSpPr>
            <a:spLocks xmlns:a="http://schemas.openxmlformats.org/drawingml/2006/main" noGrp="1"/>
          </p:cNvSpPr>
          <p:nvPr/>
        </p:nvSpPr>
        <p:spPr>
          <a:xfrm xmlns:a="http://schemas.openxmlformats.org/drawingml/2006/main">
            <a:off x="781050" y="1905000"/>
            <a:ext cx="6515100" cy="3790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class NotFutureDateAttribute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 ValidationAttribute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public override bool IsValid(object? value)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if (value is null) return true;</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return value is DateTime date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&amp;&amp; date.Date &lt;= DateTime.Today;</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a:t>
            </a:r>
          </a:p>
          <a:p xmlns:a="http://schemas.openxmlformats.org/drawingml/2006/main">
            <a:r>
              <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[NotFutureDate(</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    ErrorMessage = "Ngày sinh không ở tương lai")]</a:t>
            </a:r>
          </a:p>
          <a:p xmlns:a="http://schemas.openxmlformats.org/drawingml/2006/main">
            <a:pPr>
              <a:defRPr sz="1500" b="0">
                <a:solidFill>
                  <a:srgbClr val="E8F4FB"/>
                </a:solidFill>
                <a:latin typeface="DejaVu Sans Mono"/>
                <a:ea typeface="DejaVu Sans Mono"/>
                <a:cs typeface="DejaVu Sans Mono"/>
              </a:defRPr>
            </a:pPr>
            <a:r>
              <a:rPr sz="1500" b="0">
                <a:solidFill>
                  <a:srgbClr val="E8F4FB"/>
                </a:solidFill>
                <a:latin typeface="DejaVu Sans Mono"/>
                <a:ea typeface="DejaVu Sans Mono"/>
                <a:cs typeface="DejaVu Sans Mono"/>
              </a:rPr>
              <a:t>public DateTime DateOfBirth { get; set; }</a:t>
            </a:r>
          </a:p>
        </p:txBody>
      </p:sp>
      <p:sp>
        <p:nvSpPr>
          <p:cNvPr id="9" name="">
            <a:extLst xmlns:a="http://schemas.openxmlformats.org/drawingml/2006/main">
              <a:ext uri="{FF2B5EF4-FFF2-40B4-BE49-F238E27FC236}">
                <a16:creationId xmlns:a16="http://schemas.microsoft.com/office/drawing/2014/main" id="{A7258C49-6655-41B3-A12A-D8B1F6115B78}"/>
              </a:ext>
            </a:extLst>
          </p:cNvPr>
          <p:cNvSpPr>
            <a:spLocks xmlns:a="http://schemas.openxmlformats.org/drawingml/2006/main" noGrp="1"/>
          </p:cNvSpPr>
          <p:nvPr/>
        </p:nvSpPr>
        <p:spPr>
          <a:xfrm xmlns:a="http://schemas.openxmlformats.org/drawingml/2006/main">
            <a:off x="7772400" y="1714500"/>
            <a:ext cx="3867150" cy="4191000"/>
          </a:xfrm>
          <a:prstGeom xmlns:a="http://schemas.openxmlformats.org/drawingml/2006/main" prst="roundRect">
            <a:avLst>
              <a:gd name="adj" fmla="val 1970"/>
            </a:avLst>
          </a:prstGeom>
          <a:solidFill xmlns:a="http://schemas.openxmlformats.org/drawingml/2006/main">
            <a:srgbClr val="FFFFFF"/>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E71E737A-EE90-4562-9A57-AA68C0BC447E}"/>
              </a:ext>
            </a:extLst>
          </p:cNvPr>
          <p:cNvSpPr>
            <a:spLocks xmlns:a="http://schemas.openxmlformats.org/drawingml/2006/main" noGrp="1"/>
          </p:cNvSpPr>
          <p:nvPr/>
        </p:nvSpPr>
        <p:spPr>
          <a:xfrm xmlns:a="http://schemas.openxmlformats.org/drawingml/2006/main">
            <a:off x="8020050" y="18859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GHI NHỚ</a:t>
            </a:r>
          </a:p>
        </p:txBody>
      </p:sp>
      <p:sp>
        <p:nvSpPr>
          <p:cNvPr id="11" name="">
            <a:extLst xmlns:a="http://schemas.openxmlformats.org/drawingml/2006/main">
              <a:ext uri="{FF2B5EF4-FFF2-40B4-BE49-F238E27FC236}">
                <a16:creationId xmlns:a16="http://schemas.microsoft.com/office/drawing/2014/main" id="{89E444EB-08AD-44BF-BAF3-E53F23CD2C66}"/>
              </a:ext>
            </a:extLst>
          </p:cNvPr>
          <p:cNvSpPr>
            <a:spLocks xmlns:a="http://schemas.openxmlformats.org/drawingml/2006/main" noGrp="1"/>
          </p:cNvSpPr>
          <p:nvPr/>
        </p:nvSpPr>
        <p:spPr>
          <a:xfrm xmlns:a="http://schemas.openxmlformats.org/drawingml/2006/main">
            <a:off x="8020050" y="2305050"/>
            <a:ext cx="323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Kế thừa ValidationAttribute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null có thể giao cho Required</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Tái sử dụng cho nhiều model</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Viết unit test cho attribute</a:t>
            </a:r>
          </a:p>
        </p:txBody>
      </p:sp>
      <p:sp>
        <p:nvSpPr>
          <p:cNvPr id="12" name="">
            <a:extLst xmlns:a="http://schemas.openxmlformats.org/drawingml/2006/main">
              <a:ext uri="{FF2B5EF4-FFF2-40B4-BE49-F238E27FC236}">
                <a16:creationId xmlns:a16="http://schemas.microsoft.com/office/drawing/2014/main" id="{3934E16C-C404-4954-9450-76A9D9CDA688}"/>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EA2AC4D6-83B4-4120-9475-BB5973237159}"/>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801899559"/>
      </p:ext>
    </p:extLst>
  </p:cSld>
</p:sld>
</file>

<file path=ppt/slides/slide2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6A7F423-23EF-4F6B-B05D-C17ECD4BFBB3}"/>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0F700A5D-9BC5-4E06-A01D-83C8E95E2218}"/>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A5DCE7A1-06E1-4BD6-B779-9A894A209896}"/>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Data Annotations và business rules</a:t>
            </a:r>
          </a:p>
        </p:txBody>
      </p:sp>
      <p:sp>
        <p:nvSpPr>
          <p:cNvPr id="4" name="">
            <a:extLst xmlns:a="http://schemas.openxmlformats.org/drawingml/2006/main">
              <a:ext uri="{FF2B5EF4-FFF2-40B4-BE49-F238E27FC236}">
                <a16:creationId xmlns:a16="http://schemas.microsoft.com/office/drawing/2014/main" id="{1C2365C3-168A-4F4D-A877-4FB79C1813C5}"/>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AD129E5E-569A-466D-A4C7-08B9F87A01CD}"/>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28</a:t>
            </a:r>
          </a:p>
        </p:txBody>
      </p:sp>
      <p:sp>
        <p:nvSpPr>
          <p:cNvPr id="6" name="">
            <a:extLst xmlns:a="http://schemas.openxmlformats.org/drawingml/2006/main">
              <a:ext uri="{FF2B5EF4-FFF2-40B4-BE49-F238E27FC236}">
                <a16:creationId xmlns:a16="http://schemas.microsoft.com/office/drawing/2014/main" id="{676FCA19-A345-4E41-8998-208789DD7A2B}"/>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PHÙ HỢP VỚI ANNOTATION</a:t>
            </a:r>
          </a:p>
        </p:txBody>
      </p:sp>
      <p:sp>
        <p:nvSpPr>
          <p:cNvPr id="7" name="">
            <a:extLst xmlns:a="http://schemas.openxmlformats.org/drawingml/2006/main">
              <a:ext uri="{FF2B5EF4-FFF2-40B4-BE49-F238E27FC236}">
                <a16:creationId xmlns:a16="http://schemas.microsoft.com/office/drawing/2014/main" id="{897280CF-DCDF-4CFC-B64A-44F4D60783D7}"/>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NÊN ĐẶT Ở BUSINESS LAYER</a:t>
            </a:r>
          </a:p>
        </p:txBody>
      </p:sp>
      <p:sp>
        <p:nvSpPr>
          <p:cNvPr id="8" name="">
            <a:extLst xmlns:a="http://schemas.openxmlformats.org/drawingml/2006/main">
              <a:ext uri="{FF2B5EF4-FFF2-40B4-BE49-F238E27FC236}">
                <a16:creationId xmlns:a16="http://schemas.microsoft.com/office/drawing/2014/main" id="{1FBCCE1F-6CDC-463F-AC3B-EFDDDFAA3B24}"/>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0373A2F2-786A-4535-82B3-A03EFD7FBCE7}"/>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FFF2E9"/>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8BE2E129-EF04-4C11-B8EE-52420C8BF7E3}"/>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Required, length, range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Format email, phone, mã</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So sánh hai trường đơn giản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Metadata hiển thị</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Mapping cơ bản cho EF Core</a:t>
            </a:r>
          </a:p>
        </p:txBody>
      </p:sp>
      <p:sp>
        <p:nvSpPr>
          <p:cNvPr id="11" name="">
            <a:extLst xmlns:a="http://schemas.openxmlformats.org/drawingml/2006/main">
              <a:ext uri="{FF2B5EF4-FFF2-40B4-BE49-F238E27FC236}">
                <a16:creationId xmlns:a16="http://schemas.microsoft.com/office/drawing/2014/main" id="{1AF5E8D0-6D63-4402-8BF0-F11D34B06FEC}"/>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Kiểm tra trùng trong database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Quy tắc phụ thuộc người dùng hiện tại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Tính hạn mức hoặc chính sách</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Kiểm tra qua nhiều aggregate</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Quy tắc thường xuyên thay đổi</a:t>
            </a:r>
          </a:p>
        </p:txBody>
      </p:sp>
      <p:sp>
        <p:nvSpPr>
          <p:cNvPr id="12" name="">
            <a:extLst xmlns:a="http://schemas.openxmlformats.org/drawingml/2006/main">
              <a:ext uri="{FF2B5EF4-FFF2-40B4-BE49-F238E27FC236}">
                <a16:creationId xmlns:a16="http://schemas.microsoft.com/office/drawing/2014/main" id="{233018BF-F089-42E7-B8D0-15AE3B3AA016}"/>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B955585E-93AF-4B2E-8B98-C6F3AE304587}"/>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670057460"/>
      </p:ext>
    </p:extLst>
  </p:cSld>
</p:sld>
</file>

<file path=ppt/slides/slide2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E24BF6-A0B6-4F48-8657-AC5B1A8E708C}"/>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C1249DB7-D8E9-409D-B938-FC50B408DCCD}"/>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052139C2-E45C-4CEC-90FF-10822A9D6265}"/>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Property validation và Data Annotations</a:t>
            </a:r>
          </a:p>
        </p:txBody>
      </p:sp>
      <p:sp>
        <p:nvSpPr>
          <p:cNvPr id="4" name="">
            <a:extLst xmlns:a="http://schemas.openxmlformats.org/drawingml/2006/main">
              <a:ext uri="{FF2B5EF4-FFF2-40B4-BE49-F238E27FC236}">
                <a16:creationId xmlns:a16="http://schemas.microsoft.com/office/drawing/2014/main" id="{02AAAF9F-D839-4D5D-8DFC-C3C3818521D9}"/>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87E75017-B9AA-4E9A-96E2-F5A1CB35DF53}"/>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29</a:t>
            </a:r>
          </a:p>
        </p:txBody>
      </p:sp>
      <p:sp>
        <p:nvSpPr>
          <p:cNvPr id="6" name="">
            <a:extLst xmlns:a="http://schemas.openxmlformats.org/drawingml/2006/main">
              <a:ext uri="{FF2B5EF4-FFF2-40B4-BE49-F238E27FC236}">
                <a16:creationId xmlns:a16="http://schemas.microsoft.com/office/drawing/2014/main" id="{F909560F-7413-4A39-9BB8-0B7F0FB49FF9}"/>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PROPERTY HOẶC CONSTRUCTOR</a:t>
            </a:r>
          </a:p>
        </p:txBody>
      </p:sp>
      <p:sp>
        <p:nvSpPr>
          <p:cNvPr id="7" name="">
            <a:extLst xmlns:a="http://schemas.openxmlformats.org/drawingml/2006/main">
              <a:ext uri="{FF2B5EF4-FFF2-40B4-BE49-F238E27FC236}">
                <a16:creationId xmlns:a16="http://schemas.microsoft.com/office/drawing/2014/main" id="{C0A95401-2FC0-4C7D-9B18-D489DC153122}"/>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DATA ANNOTATIONS</a:t>
            </a:r>
          </a:p>
        </p:txBody>
      </p:sp>
      <p:sp>
        <p:nvSpPr>
          <p:cNvPr id="8" name="">
            <a:extLst xmlns:a="http://schemas.openxmlformats.org/drawingml/2006/main">
              <a:ext uri="{FF2B5EF4-FFF2-40B4-BE49-F238E27FC236}">
                <a16:creationId xmlns:a16="http://schemas.microsoft.com/office/drawing/2014/main" id="{8CE9239E-6507-4692-B653-B4379EF0C661}"/>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01F70A64-1558-43D2-8C67-5E54A71D8A9B}"/>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2F1726E4-DDE1-4AFD-BC3D-8553BB31358D}"/>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Bảo vệ invariant của chính object.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Kiểm tra ngay khi gán.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Có thể ném exception.</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Phù hợp quy tắc luôn đúng trong mọi ngữ cảnh.</a:t>
            </a:r>
          </a:p>
        </p:txBody>
      </p:sp>
      <p:sp>
        <p:nvSpPr>
          <p:cNvPr id="11" name="">
            <a:extLst xmlns:a="http://schemas.openxmlformats.org/drawingml/2006/main">
              <a:ext uri="{FF2B5EF4-FFF2-40B4-BE49-F238E27FC236}">
                <a16:creationId xmlns:a16="http://schemas.microsoft.com/office/drawing/2014/main" id="{98B93D0D-5026-4975-A752-F3FE22905732}"/>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Mô tả ràng buộc bằng metadata.</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Cho phép gom nhiều lỗi.</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Framework có thể tự đọc.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Phù hợp dữ liệu nhập và model binding.</a:t>
            </a:r>
          </a:p>
        </p:txBody>
      </p:sp>
      <p:sp>
        <p:nvSpPr>
          <p:cNvPr id="12" name="">
            <a:extLst xmlns:a="http://schemas.openxmlformats.org/drawingml/2006/main">
              <a:ext uri="{FF2B5EF4-FFF2-40B4-BE49-F238E27FC236}">
                <a16:creationId xmlns:a16="http://schemas.microsoft.com/office/drawing/2014/main" id="{480B177E-2E2E-4677-8FD1-E939DC651E8E}"/>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CA3A3663-77BD-4137-B5AF-386CC34ED562}"/>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526115630"/>
      </p:ext>
    </p:extLst>
  </p:cSld>
</p:sld>
</file>

<file path=ppt/slides/slide3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943381E-3846-47FE-9E5D-DE79C305737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FB3BB9C-7E5F-4192-A182-3A55427B6A0B}"/>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THỰC HÀNH</a:t>
            </a:r>
          </a:p>
        </p:txBody>
      </p:sp>
      <p:sp>
        <p:nvSpPr>
          <p:cNvPr id="3" name="">
            <a:extLst xmlns:a="http://schemas.openxmlformats.org/drawingml/2006/main">
              <a:ext uri="{FF2B5EF4-FFF2-40B4-BE49-F238E27FC236}">
                <a16:creationId xmlns:a16="http://schemas.microsoft.com/office/drawing/2014/main" id="{C8CFA31F-1BBB-416C-ABF1-CA6D50C47C1B}"/>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Thực hành 1: hoàn thiện lớp Student</a:t>
            </a:r>
          </a:p>
        </p:txBody>
      </p:sp>
      <p:sp>
        <p:nvSpPr>
          <p:cNvPr id="4" name="">
            <a:extLst xmlns:a="http://schemas.openxmlformats.org/drawingml/2006/main">
              <a:ext uri="{FF2B5EF4-FFF2-40B4-BE49-F238E27FC236}">
                <a16:creationId xmlns:a16="http://schemas.microsoft.com/office/drawing/2014/main" id="{180F2BE8-3C9D-4D06-A522-2C4371864803}"/>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E8793E"/>
          </a:solidFill>
          <a:ln xmlns:a="http://schemas.openxmlformats.org/drawingml/2006/main" w="9525">
            <a:solidFill>
              <a:srgbClr val="E8793E"/>
            </a:solidFill>
          </a:ln>
        </p:spPr>
      </p:sp>
      <p:sp>
        <p:nvSpPr>
          <p:cNvPr id="5" name="">
            <a:extLst xmlns:a="http://schemas.openxmlformats.org/drawingml/2006/main">
              <a:ext uri="{FF2B5EF4-FFF2-40B4-BE49-F238E27FC236}">
                <a16:creationId xmlns:a16="http://schemas.microsoft.com/office/drawing/2014/main" id="{DFBEAD92-94AF-4FB8-A341-8233B91D5B26}"/>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30</a:t>
            </a:r>
          </a:p>
        </p:txBody>
      </p:sp>
      <p:sp>
        <p:nvSpPr>
          <p:cNvPr id="6" name="">
            <a:extLst xmlns:a="http://schemas.openxmlformats.org/drawingml/2006/main">
              <a:ext uri="{FF2B5EF4-FFF2-40B4-BE49-F238E27FC236}">
                <a16:creationId xmlns:a16="http://schemas.microsoft.com/office/drawing/2014/main" id="{78B9DC9A-7CDB-4BBB-8F3E-193F87F81C5A}"/>
              </a:ext>
            </a:extLst>
          </p:cNvPr>
          <p:cNvSpPr>
            <a:spLocks xmlns:a="http://schemas.openxmlformats.org/drawingml/2006/main" noGrp="1"/>
          </p:cNvSpPr>
          <p:nvPr/>
        </p:nvSpPr>
        <p:spPr>
          <a:xfrm xmlns:a="http://schemas.openxmlformats.org/drawingml/2006/main">
            <a:off x="552450" y="1181100"/>
            <a:ext cx="11087100" cy="41719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D7DEE8"/>
            </a:solidFill>
          </a:ln>
        </p:spPr>
      </p:sp>
      <p:sp>
        <p:nvSpPr>
          <p:cNvPr id="7" name="">
            <a:extLst xmlns:a="http://schemas.openxmlformats.org/drawingml/2006/main">
              <a:ext uri="{FF2B5EF4-FFF2-40B4-BE49-F238E27FC236}">
                <a16:creationId xmlns:a16="http://schemas.microsoft.com/office/drawing/2014/main" id="{D4943C68-9171-46F2-9BB8-6C4BD7020AC7}"/>
              </a:ext>
            </a:extLst>
          </p:cNvPr>
          <p:cNvSpPr>
            <a:spLocks xmlns:a="http://schemas.openxmlformats.org/drawingml/2006/main" noGrp="1"/>
          </p:cNvSpPr>
          <p:nvPr/>
        </p:nvSpPr>
        <p:spPr>
          <a:xfrm xmlns:a="http://schemas.openxmlformats.org/drawingml/2006/main">
            <a:off x="838200" y="1390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NHIỆM VỤ</a:t>
            </a:r>
          </a:p>
        </p:txBody>
      </p:sp>
      <p:sp>
        <p:nvSpPr>
          <p:cNvPr id="8" name="">
            <a:extLst xmlns:a="http://schemas.openxmlformats.org/drawingml/2006/main">
              <a:ext uri="{FF2B5EF4-FFF2-40B4-BE49-F238E27FC236}">
                <a16:creationId xmlns:a16="http://schemas.microsoft.com/office/drawing/2014/main" id="{E4B97967-5A17-4689-AEE6-10BA71B9D6C1}"/>
              </a:ext>
            </a:extLst>
          </p:cNvPr>
          <p:cNvSpPr>
            <a:spLocks xmlns:a="http://schemas.openxmlformats.org/drawingml/2006/main" noGrp="1"/>
          </p:cNvSpPr>
          <p:nvPr/>
        </p:nvSpPr>
        <p:spPr>
          <a:xfrm xmlns:a="http://schemas.openxmlformats.org/drawingml/2006/main">
            <a:off x="838200" y="180975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Xây dựng lớp Student gồm Id, FullName, DateOfBirth, Email, Major và Score. Dùng Data Annotations để kiểm tra bắt buộc nhập, độ dài, khoảng điểm, email, mã sinh viên và ngày sinh.</a:t>
            </a:r>
          </a:p>
        </p:txBody>
      </p:sp>
      <p:sp>
        <p:nvSpPr>
          <p:cNvPr id="9" name="">
            <a:extLst xmlns:a="http://schemas.openxmlformats.org/drawingml/2006/main">
              <a:ext uri="{FF2B5EF4-FFF2-40B4-BE49-F238E27FC236}">
                <a16:creationId xmlns:a16="http://schemas.microsoft.com/office/drawing/2014/main" id="{EF1D05DE-34B6-4BDD-A8FD-2F9787D13ACB}"/>
              </a:ext>
            </a:extLst>
          </p:cNvPr>
          <p:cNvSpPr>
            <a:spLocks xmlns:a="http://schemas.openxmlformats.org/drawingml/2006/main" noGrp="1"/>
          </p:cNvSpPr>
          <p:nvPr/>
        </p:nvSpPr>
        <p:spPr>
          <a:xfrm xmlns:a="http://schemas.openxmlformats.org/drawingml/2006/main">
            <a:off x="838200" y="3886200"/>
            <a:ext cx="10287000" cy="1047750"/>
          </a:xfrm>
          <a:prstGeom xmlns:a="http://schemas.openxmlformats.org/drawingml/2006/main" prst="roundRect">
            <a:avLst>
              <a:gd name="adj" fmla="val 7273"/>
            </a:avLst>
          </a:prstGeom>
          <a:solidFill xmlns:a="http://schemas.openxmlformats.org/drawingml/2006/main">
            <a:srgbClr val="FFF2E9"/>
          </a:solidFill>
          <a:ln xmlns:a="http://schemas.openxmlformats.org/drawingml/2006/main" w="9525">
            <a:solidFill>
              <a:srgbClr val="F0C5AA"/>
            </a:solidFill>
          </a:ln>
        </p:spPr>
      </p:sp>
      <p:sp>
        <p:nvSpPr>
          <p:cNvPr id="10" name="">
            <a:extLst xmlns:a="http://schemas.openxmlformats.org/drawingml/2006/main">
              <a:ext uri="{FF2B5EF4-FFF2-40B4-BE49-F238E27FC236}">
                <a16:creationId xmlns:a16="http://schemas.microsoft.com/office/drawing/2014/main" id="{E97D900A-2734-4121-B4E9-D379902A96D9}"/>
              </a:ext>
            </a:extLst>
          </p:cNvPr>
          <p:cNvSpPr>
            <a:spLocks xmlns:a="http://schemas.openxmlformats.org/drawingml/2006/main" noGrp="1"/>
          </p:cNvSpPr>
          <p:nvPr/>
        </p:nvSpPr>
        <p:spPr>
          <a:xfrm xmlns:a="http://schemas.openxmlformats.org/drawingml/2006/main">
            <a:off x="1066800" y="39624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9B451C"/>
                </a:solidFill>
                <a:latin typeface="DejaVu Sans"/>
                <a:ea typeface="DejaVu Sans"/>
                <a:cs typeface="DejaVu Sans"/>
              </a:defRPr>
            </a:pPr>
            <a:r>
              <a:rPr sz="1800" b="1">
                <a:solidFill>
                  <a:srgbClr val="9B451C"/>
                </a:solidFill>
                <a:latin typeface="DejaVu Sans"/>
                <a:ea typeface="DejaVu Sans"/>
                <a:cs typeface="DejaVu Sans"/>
              </a:rPr>
              <a:t>Tiêu chí hoàn thành</a:t>
            </a:r>
          </a:p>
        </p:txBody>
      </p:sp>
      <p:sp>
        <p:nvSpPr>
          <p:cNvPr id="11" name="">
            <a:extLst xmlns:a="http://schemas.openxmlformats.org/drawingml/2006/main">
              <a:ext uri="{FF2B5EF4-FFF2-40B4-BE49-F238E27FC236}">
                <a16:creationId xmlns:a16="http://schemas.microsoft.com/office/drawing/2014/main" id="{C898084F-C280-4164-BEA9-59DB736822F7}"/>
              </a:ext>
            </a:extLst>
          </p:cNvPr>
          <p:cNvSpPr>
            <a:spLocks xmlns:a="http://schemas.openxmlformats.org/drawingml/2006/main" noGrp="1"/>
          </p:cNvSpPr>
          <p:nvPr/>
        </p:nvSpPr>
        <p:spPr>
          <a:xfrm xmlns:a="http://schemas.openxmlformats.org/drawingml/2006/main">
            <a:off x="1066800" y="42862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28"/>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Tạo ít nhất 5 object, trong đó có 3 object sai. Gọi Validator và in đầy đủ property cùng thông báo lỗi.</a:t>
            </a:r>
          </a:p>
        </p:txBody>
      </p:sp>
      <p:sp>
        <p:nvSpPr>
          <p:cNvPr id="12" name="">
            <a:extLst xmlns:a="http://schemas.openxmlformats.org/drawingml/2006/main">
              <a:ext uri="{FF2B5EF4-FFF2-40B4-BE49-F238E27FC236}">
                <a16:creationId xmlns:a16="http://schemas.microsoft.com/office/drawing/2014/main" id="{FE56766A-330E-4DDD-8B99-C40ABC15FF3A}"/>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FB5BB3EB-38A0-4EF3-9C6E-D39E4813EFF8}"/>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641386930"/>
      </p:ext>
    </p:extLst>
  </p:cSld>
</p:sld>
</file>

<file path=ppt/slides/slide3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374DE5-05D4-4F0C-88D9-373A9424B010}"/>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D22924EC-B019-47BD-8B2C-7C7316B0D383}"/>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THỰC HÀNH</a:t>
            </a:r>
          </a:p>
        </p:txBody>
      </p:sp>
      <p:sp>
        <p:nvSpPr>
          <p:cNvPr id="3" name="">
            <a:extLst xmlns:a="http://schemas.openxmlformats.org/drawingml/2006/main">
              <a:ext uri="{FF2B5EF4-FFF2-40B4-BE49-F238E27FC236}">
                <a16:creationId xmlns:a16="http://schemas.microsoft.com/office/drawing/2014/main" id="{A6ADBD25-6399-4C0C-91F3-4AC282952ADA}"/>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Thực hành 2: đăng ký học phần</a:t>
            </a:r>
          </a:p>
        </p:txBody>
      </p:sp>
      <p:sp>
        <p:nvSpPr>
          <p:cNvPr id="4" name="">
            <a:extLst xmlns:a="http://schemas.openxmlformats.org/drawingml/2006/main">
              <a:ext uri="{FF2B5EF4-FFF2-40B4-BE49-F238E27FC236}">
                <a16:creationId xmlns:a16="http://schemas.microsoft.com/office/drawing/2014/main" id="{5F9C57F8-54F8-46B8-884B-44248D211A98}"/>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E8793E"/>
          </a:solidFill>
          <a:ln xmlns:a="http://schemas.openxmlformats.org/drawingml/2006/main" w="9525">
            <a:solidFill>
              <a:srgbClr val="E8793E"/>
            </a:solidFill>
          </a:ln>
        </p:spPr>
      </p:sp>
      <p:sp>
        <p:nvSpPr>
          <p:cNvPr id="5" name="">
            <a:extLst xmlns:a="http://schemas.openxmlformats.org/drawingml/2006/main">
              <a:ext uri="{FF2B5EF4-FFF2-40B4-BE49-F238E27FC236}">
                <a16:creationId xmlns:a16="http://schemas.microsoft.com/office/drawing/2014/main" id="{3D465B67-68F8-44EB-A63E-EB5FE5B9C01C}"/>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31</a:t>
            </a:r>
          </a:p>
        </p:txBody>
      </p:sp>
      <p:sp>
        <p:nvSpPr>
          <p:cNvPr id="6" name="">
            <a:extLst xmlns:a="http://schemas.openxmlformats.org/drawingml/2006/main">
              <a:ext uri="{FF2B5EF4-FFF2-40B4-BE49-F238E27FC236}">
                <a16:creationId xmlns:a16="http://schemas.microsoft.com/office/drawing/2014/main" id="{FF97AF92-4A1D-4289-BFD6-08A6125562F2}"/>
              </a:ext>
            </a:extLst>
          </p:cNvPr>
          <p:cNvSpPr>
            <a:spLocks xmlns:a="http://schemas.openxmlformats.org/drawingml/2006/main" noGrp="1"/>
          </p:cNvSpPr>
          <p:nvPr/>
        </p:nvSpPr>
        <p:spPr>
          <a:xfrm xmlns:a="http://schemas.openxmlformats.org/drawingml/2006/main">
            <a:off x="552450" y="1181100"/>
            <a:ext cx="11087100" cy="41719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D7DEE8"/>
            </a:solidFill>
          </a:ln>
        </p:spPr>
      </p:sp>
      <p:sp>
        <p:nvSpPr>
          <p:cNvPr id="7" name="">
            <a:extLst xmlns:a="http://schemas.openxmlformats.org/drawingml/2006/main">
              <a:ext uri="{FF2B5EF4-FFF2-40B4-BE49-F238E27FC236}">
                <a16:creationId xmlns:a16="http://schemas.microsoft.com/office/drawing/2014/main" id="{14E56659-300D-46EF-8287-53699FE78ADD}"/>
              </a:ext>
            </a:extLst>
          </p:cNvPr>
          <p:cNvSpPr>
            <a:spLocks xmlns:a="http://schemas.openxmlformats.org/drawingml/2006/main" noGrp="1"/>
          </p:cNvSpPr>
          <p:nvPr/>
        </p:nvSpPr>
        <p:spPr>
          <a:xfrm xmlns:a="http://schemas.openxmlformats.org/drawingml/2006/main">
            <a:off x="838200" y="13906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NHIỆM VỤ</a:t>
            </a:r>
          </a:p>
        </p:txBody>
      </p:sp>
      <p:sp>
        <p:nvSpPr>
          <p:cNvPr id="8" name="">
            <a:extLst xmlns:a="http://schemas.openxmlformats.org/drawingml/2006/main">
              <a:ext uri="{FF2B5EF4-FFF2-40B4-BE49-F238E27FC236}">
                <a16:creationId xmlns:a16="http://schemas.microsoft.com/office/drawing/2014/main" id="{2E1DF4E0-8C67-48A8-9D50-E89511C8D03F}"/>
              </a:ext>
            </a:extLst>
          </p:cNvPr>
          <p:cNvSpPr>
            <a:spLocks xmlns:a="http://schemas.openxmlformats.org/drawingml/2006/main" noGrp="1"/>
          </p:cNvSpPr>
          <p:nvPr/>
        </p:nvSpPr>
        <p:spPr>
          <a:xfrm xmlns:a="http://schemas.openxmlformats.org/drawingml/2006/main">
            <a:off x="838200" y="180975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172B3A"/>
                </a:solidFill>
                <a:latin typeface="DejaVu Sans"/>
                <a:ea typeface="DejaVu Sans"/>
                <a:cs typeface="DejaVu Sans"/>
              </a:defRPr>
            </a:pPr>
            <a:r>
              <a:rPr sz="1800" b="1">
                <a:solidFill>
                  <a:srgbClr val="172B3A"/>
                </a:solidFill>
                <a:latin typeface="DejaVu Sans"/>
                <a:ea typeface="DejaVu Sans"/>
                <a:cs typeface="DejaVu Sans"/>
              </a:rPr>
              <a:t>Xây dựng lớp Course và Enrollment. Một sinh viên đăng ký một học phần ở một học kỳ. Kiểm tra mã học phần, số tín chỉ, ngày đăng ký và trạng thái đăng ký.</a:t>
            </a:r>
          </a:p>
        </p:txBody>
      </p:sp>
      <p:sp>
        <p:nvSpPr>
          <p:cNvPr id="9" name="">
            <a:extLst xmlns:a="http://schemas.openxmlformats.org/drawingml/2006/main">
              <a:ext uri="{FF2B5EF4-FFF2-40B4-BE49-F238E27FC236}">
                <a16:creationId xmlns:a16="http://schemas.microsoft.com/office/drawing/2014/main" id="{393432D2-3BBD-485F-B040-377DEE304689}"/>
              </a:ext>
            </a:extLst>
          </p:cNvPr>
          <p:cNvSpPr>
            <a:spLocks xmlns:a="http://schemas.openxmlformats.org/drawingml/2006/main" noGrp="1"/>
          </p:cNvSpPr>
          <p:nvPr/>
        </p:nvSpPr>
        <p:spPr>
          <a:xfrm xmlns:a="http://schemas.openxmlformats.org/drawingml/2006/main">
            <a:off x="838200" y="3886200"/>
            <a:ext cx="10287000" cy="1047750"/>
          </a:xfrm>
          <a:prstGeom xmlns:a="http://schemas.openxmlformats.org/drawingml/2006/main" prst="roundRect">
            <a:avLst>
              <a:gd name="adj" fmla="val 7273"/>
            </a:avLst>
          </a:prstGeom>
          <a:solidFill xmlns:a="http://schemas.openxmlformats.org/drawingml/2006/main">
            <a:srgbClr val="FFF2E9"/>
          </a:solidFill>
          <a:ln xmlns:a="http://schemas.openxmlformats.org/drawingml/2006/main" w="9525">
            <a:solidFill>
              <a:srgbClr val="F0C5AA"/>
            </a:solidFill>
          </a:ln>
        </p:spPr>
      </p:sp>
      <p:sp>
        <p:nvSpPr>
          <p:cNvPr id="10" name="">
            <a:extLst xmlns:a="http://schemas.openxmlformats.org/drawingml/2006/main">
              <a:ext uri="{FF2B5EF4-FFF2-40B4-BE49-F238E27FC236}">
                <a16:creationId xmlns:a16="http://schemas.microsoft.com/office/drawing/2014/main" id="{39105307-D7AB-4FFF-8CA8-94D41A6E8D48}"/>
              </a:ext>
            </a:extLst>
          </p:cNvPr>
          <p:cNvSpPr>
            <a:spLocks xmlns:a="http://schemas.openxmlformats.org/drawingml/2006/main" noGrp="1"/>
          </p:cNvSpPr>
          <p:nvPr/>
        </p:nvSpPr>
        <p:spPr>
          <a:xfrm xmlns:a="http://schemas.openxmlformats.org/drawingml/2006/main">
            <a:off x="1066800" y="39624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1800" b="1">
                <a:solidFill>
                  <a:srgbClr val="9B451C"/>
                </a:solidFill>
                <a:latin typeface="DejaVu Sans"/>
                <a:ea typeface="DejaVu Sans"/>
                <a:cs typeface="DejaVu Sans"/>
              </a:defRPr>
            </a:pPr>
            <a:r>
              <a:rPr sz="1800" b="1">
                <a:solidFill>
                  <a:srgbClr val="9B451C"/>
                </a:solidFill>
                <a:latin typeface="DejaVu Sans"/>
                <a:ea typeface="DejaVu Sans"/>
                <a:cs typeface="DejaVu Sans"/>
              </a:rPr>
              <a:t>Tiêu chí hoàn thành</a:t>
            </a:r>
          </a:p>
        </p:txBody>
      </p:sp>
      <p:sp>
        <p:nvSpPr>
          <p:cNvPr id="11" name="">
            <a:extLst xmlns:a="http://schemas.openxmlformats.org/drawingml/2006/main">
              <a:ext uri="{FF2B5EF4-FFF2-40B4-BE49-F238E27FC236}">
                <a16:creationId xmlns:a16="http://schemas.microsoft.com/office/drawing/2014/main" id="{B2B97DCC-B837-401B-A6AC-3F77B5D5033D}"/>
              </a:ext>
            </a:extLst>
          </p:cNvPr>
          <p:cNvSpPr>
            <a:spLocks xmlns:a="http://schemas.openxmlformats.org/drawingml/2006/main" noGrp="1"/>
          </p:cNvSpPr>
          <p:nvPr/>
        </p:nvSpPr>
        <p:spPr>
          <a:xfrm xmlns:a="http://schemas.openxmlformats.org/drawingml/2006/main">
            <a:off x="1066800" y="42862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28"/>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Phân biệt rõ quy tắc nào nằm trong property, quy tắc nào dùng annotation và quy tắc nào phải đặt ở StudentService hoặc EnrollmentService.</a:t>
            </a:r>
          </a:p>
        </p:txBody>
      </p:sp>
      <p:sp>
        <p:nvSpPr>
          <p:cNvPr id="12" name="">
            <a:extLst xmlns:a="http://schemas.openxmlformats.org/drawingml/2006/main">
              <a:ext uri="{FF2B5EF4-FFF2-40B4-BE49-F238E27FC236}">
                <a16:creationId xmlns:a16="http://schemas.microsoft.com/office/drawing/2014/main" id="{56B52FBB-F23C-4C92-8E4C-52A122BE080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2389C07-F3BE-4055-93FC-6B5FC721D354}"/>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542089917"/>
      </p:ext>
    </p:extLst>
  </p:cSld>
</p:sld>
</file>

<file path=ppt/slides/slide3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292A72-A758-4F33-BA77-0BE48E1BC058}"/>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A3B17CE1-FF81-4ADF-944E-325C64128D88}"/>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CE8213D1-74F3-4005-8AFD-EE43CFFAC001}"/>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Tự kiểm tra nhanh</a:t>
            </a:r>
          </a:p>
        </p:txBody>
      </p:sp>
      <p:sp>
        <p:nvSpPr>
          <p:cNvPr id="4" name="">
            <a:extLst xmlns:a="http://schemas.openxmlformats.org/drawingml/2006/main">
              <a:ext uri="{FF2B5EF4-FFF2-40B4-BE49-F238E27FC236}">
                <a16:creationId xmlns:a16="http://schemas.microsoft.com/office/drawing/2014/main" id="{84B18FB4-A607-4B82-8134-C6EA2E083DC1}"/>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7B456939-6A4B-468E-9B08-9475DFE05A97}"/>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32</a:t>
            </a:r>
          </a:p>
        </p:txBody>
      </p:sp>
      <p:sp>
        <p:nvSpPr>
          <p:cNvPr id="6" name="">
            <a:extLst xmlns:a="http://schemas.openxmlformats.org/drawingml/2006/main">
              <a:ext uri="{FF2B5EF4-FFF2-40B4-BE49-F238E27FC236}">
                <a16:creationId xmlns:a16="http://schemas.microsoft.com/office/drawing/2014/main" id="{5047942B-F8B8-491C-A176-0171297B25FE}"/>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CÂU HỎI</a:t>
            </a:r>
          </a:p>
        </p:txBody>
      </p:sp>
      <p:sp>
        <p:nvSpPr>
          <p:cNvPr id="7" name="">
            <a:extLst xmlns:a="http://schemas.openxmlformats.org/drawingml/2006/main">
              <a:ext uri="{FF2B5EF4-FFF2-40B4-BE49-F238E27FC236}">
                <a16:creationId xmlns:a16="http://schemas.microsoft.com/office/drawing/2014/main" id="{5544D3D3-1042-408B-ADA1-625557F63981}"/>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ĐÁP ÁN NGẮN</a:t>
            </a:r>
          </a:p>
        </p:txBody>
      </p:sp>
      <p:sp>
        <p:nvSpPr>
          <p:cNvPr id="8" name="">
            <a:extLst xmlns:a="http://schemas.openxmlformats.org/drawingml/2006/main">
              <a:ext uri="{FF2B5EF4-FFF2-40B4-BE49-F238E27FC236}">
                <a16:creationId xmlns:a16="http://schemas.microsoft.com/office/drawing/2014/main" id="{E94E5FBD-F53F-4020-8D80-43100139BDC4}"/>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E5966D6A-A63F-4FB0-BB2C-746EC81DC896}"/>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DDEEF8"/>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8CEE7E66-1129-4FC6-8AD2-3939D24D1FD9}"/>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1. Property khác field ở điểm nào?</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2. Khi nào nên dùng private set?</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3. Gắn [Required] có tự kiểm tra trong Console không?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4. Annotation có kiểm tra mã trùng trong database không?</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5. Khi nào dùng IValidatableObject?</a:t>
            </a:r>
          </a:p>
        </p:txBody>
      </p:sp>
      <p:sp>
        <p:nvSpPr>
          <p:cNvPr id="11" name="">
            <a:extLst xmlns:a="http://schemas.openxmlformats.org/drawingml/2006/main">
              <a:ext uri="{FF2B5EF4-FFF2-40B4-BE49-F238E27FC236}">
                <a16:creationId xmlns:a16="http://schemas.microsoft.com/office/drawing/2014/main" id="{2AD71B40-4EDF-4932-A025-80286403374F}"/>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1. Property kiểm soát truy cập.</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2. Khi bên ngoài chỉ được đọc.</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3. Không, phải gọi Validator.</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4. Không nên. Đó là business/data rule.</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5. Khi quy tắc liên quan nhiều property.</a:t>
            </a:r>
          </a:p>
        </p:txBody>
      </p:sp>
      <p:sp>
        <p:nvSpPr>
          <p:cNvPr id="12" name="">
            <a:extLst xmlns:a="http://schemas.openxmlformats.org/drawingml/2006/main">
              <a:ext uri="{FF2B5EF4-FFF2-40B4-BE49-F238E27FC236}">
                <a16:creationId xmlns:a16="http://schemas.microsoft.com/office/drawing/2014/main" id="{5661CF19-AAFE-4CF7-971D-6503817FDB0E}"/>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A34F8187-F368-41A6-9426-80CCE8E61CD5}"/>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1638044991"/>
      </p:ext>
    </p:extLst>
  </p:cSld>
</p:sld>
</file>

<file path=ppt/slides/slide3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3AB10D-7B2B-471B-8162-D5D5B5D182B7}"/>
              </a:ext>
            </a:extLst>
          </p:cNvPr>
          <p:cNvSpPr>
            <a:spLocks xmlns:a="http://schemas.openxmlformats.org/drawingml/2006/main" noGrp="1"/>
          </p:cNvSpPr>
          <p:nvPr/>
        </p:nvSpPr>
        <p:spPr>
          <a:xfrm xmlns:a="http://schemas.openxmlformats.org/drawingml/2006/main">
            <a:off x="0" y="0"/>
            <a:ext cx="12192000" cy="876300"/>
          </a:xfrm>
          <a:prstGeom xmlns:a="http://schemas.openxmlformats.org/drawingml/2006/main" prst="rect">
            <a:avLst/>
          </a:prstGeom>
          <a:solidFill xmlns:a="http://schemas.openxmlformats.org/drawingml/2006/main">
            <a:srgbClr val="123A63"/>
          </a:solidFill>
          <a:ln xmlns:a="http://schemas.openxmlformats.org/drawingml/2006/main" w="9525">
            <a:solidFill>
              <a:srgbClr val="123A63"/>
            </a:solidFill>
          </a:ln>
        </p:spPr>
      </p:sp>
      <p:sp>
        <p:nvSpPr>
          <p:cNvPr id="2" name="">
            <a:extLst xmlns:a="http://schemas.openxmlformats.org/drawingml/2006/main">
              <a:ext uri="{FF2B5EF4-FFF2-40B4-BE49-F238E27FC236}">
                <a16:creationId xmlns:a16="http://schemas.microsoft.com/office/drawing/2014/main" id="{BD3C8CDE-C11E-4E9E-A031-BE73A23216E0}"/>
              </a:ext>
            </a:extLst>
          </p:cNvPr>
          <p:cNvSpPr>
            <a:spLocks xmlns:a="http://schemas.openxmlformats.org/drawingml/2006/main" noGrp="1"/>
          </p:cNvSpPr>
          <p:nvPr/>
        </p:nvSpPr>
        <p:spPr>
          <a:xfrm xmlns:a="http://schemas.openxmlformats.org/drawingml/2006/main">
            <a:off x="495300" y="171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defRPr sz="975" b="1">
                <a:solidFill>
                  <a:srgbClr val="BFD7EA"/>
                </a:solidFill>
                <a:latin typeface="DejaVu Sans"/>
                <a:ea typeface="DejaVu Sans"/>
                <a:cs typeface="DejaVu Sans"/>
              </a:defRPr>
            </a:pPr>
            <a:r>
              <a:rPr sz="975" b="1">
                <a:solidFill>
                  <a:srgbClr val="BFD7EA"/>
                </a:solidFill>
                <a:latin typeface="DejaVu Sans"/>
                <a:ea typeface="DejaVu Sans"/>
                <a:cs typeface="DejaVu Sans"/>
              </a:rPr>
              <a:t>BÀI 2</a:t>
            </a:r>
          </a:p>
        </p:txBody>
      </p:sp>
      <p:sp>
        <p:nvSpPr>
          <p:cNvPr id="3" name="">
            <a:extLst xmlns:a="http://schemas.openxmlformats.org/drawingml/2006/main">
              <a:ext uri="{FF2B5EF4-FFF2-40B4-BE49-F238E27FC236}">
                <a16:creationId xmlns:a16="http://schemas.microsoft.com/office/drawing/2014/main" id="{E378037B-04B6-43AD-9916-0920A7690276}"/>
              </a:ext>
            </a:extLst>
          </p:cNvPr>
          <p:cNvSpPr>
            <a:spLocks xmlns:a="http://schemas.openxmlformats.org/drawingml/2006/main" noGrp="1"/>
          </p:cNvSpPr>
          <p:nvPr/>
        </p:nvSpPr>
        <p:spPr>
          <a:xfrm xmlns:a="http://schemas.openxmlformats.org/drawingml/2006/main">
            <a:off x="495300" y="3429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Kết luận bài 2</a:t>
            </a:r>
          </a:p>
        </p:txBody>
      </p:sp>
      <p:sp>
        <p:nvSpPr>
          <p:cNvPr id="4" name="">
            <a:extLst xmlns:a="http://schemas.openxmlformats.org/drawingml/2006/main">
              <a:ext uri="{FF2B5EF4-FFF2-40B4-BE49-F238E27FC236}">
                <a16:creationId xmlns:a16="http://schemas.microsoft.com/office/drawing/2014/main" id="{62A3D1AF-506D-45D6-A692-87729771821D}"/>
              </a:ext>
            </a:extLst>
          </p:cNvPr>
          <p:cNvSpPr>
            <a:spLocks xmlns:a="http://schemas.openxmlformats.org/drawingml/2006/main" noGrp="1"/>
          </p:cNvSpPr>
          <p:nvPr/>
        </p:nvSpPr>
        <p:spPr>
          <a:xfrm xmlns:a="http://schemas.openxmlformats.org/drawingml/2006/main">
            <a:off x="11334750" y="228600"/>
            <a:ext cx="323850" cy="323850"/>
          </a:xfrm>
          <a:prstGeom xmlns:a="http://schemas.openxmlformats.org/drawingml/2006/main" prst="roundRect">
            <a:avLst>
              <a:gd name="adj" fmla="val 23529"/>
            </a:avLst>
          </a:prstGeom>
          <a:solidFill xmlns:a="http://schemas.openxmlformats.org/drawingml/2006/main">
            <a:srgbClr val="2B6EA6"/>
          </a:solidFill>
          <a:ln xmlns:a="http://schemas.openxmlformats.org/drawingml/2006/main" w="9525">
            <a:solidFill>
              <a:srgbClr val="2B6EA6"/>
            </a:solidFill>
          </a:ln>
        </p:spPr>
      </p:sp>
      <p:sp>
        <p:nvSpPr>
          <p:cNvPr id="5" name="">
            <a:extLst xmlns:a="http://schemas.openxmlformats.org/drawingml/2006/main">
              <a:ext uri="{FF2B5EF4-FFF2-40B4-BE49-F238E27FC236}">
                <a16:creationId xmlns:a16="http://schemas.microsoft.com/office/drawing/2014/main" id="{9DBC41D1-4655-40F9-89A6-8BC5EA58415F}"/>
              </a:ext>
            </a:extLst>
          </p:cNvPr>
          <p:cNvSpPr>
            <a:spLocks xmlns:a="http://schemas.openxmlformats.org/drawingml/2006/main" noGrp="1"/>
          </p:cNvSpPr>
          <p:nvPr/>
        </p:nvSpPr>
        <p:spPr>
          <a:xfrm xmlns:a="http://schemas.openxmlformats.org/drawingml/2006/main">
            <a:off x="11334750" y="238125"/>
            <a:ext cx="32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5"/>
          </a:bodyPr>
          <a:lstStyle xmlns:a="http://schemas.openxmlformats.org/drawingml/2006/main"/>
          <a:p xmlns:a="http://schemas.openxmlformats.org/drawingml/2006/main">
            <a:pPr>
              <a:defRPr sz="975" b="1">
                <a:solidFill>
                  <a:srgbClr val="FFFFFF"/>
                </a:solidFill>
                <a:latin typeface="DejaVu Sans"/>
                <a:ea typeface="DejaVu Sans"/>
                <a:cs typeface="DejaVu Sans"/>
              </a:defRPr>
            </a:pPr>
            <a:r>
              <a:rPr sz="975" b="1">
                <a:solidFill>
                  <a:srgbClr val="FFFFFF"/>
                </a:solidFill>
                <a:latin typeface="DejaVu Sans"/>
                <a:ea typeface="DejaVu Sans"/>
                <a:cs typeface="DejaVu Sans"/>
              </a:rPr>
              <a:t>33</a:t>
            </a:r>
          </a:p>
        </p:txBody>
      </p:sp>
      <p:sp>
        <p:nvSpPr>
          <p:cNvPr id="6" name="">
            <a:extLst xmlns:a="http://schemas.openxmlformats.org/drawingml/2006/main">
              <a:ext uri="{FF2B5EF4-FFF2-40B4-BE49-F238E27FC236}">
                <a16:creationId xmlns:a16="http://schemas.microsoft.com/office/drawing/2014/main" id="{5608417C-0407-4FB0-B046-9254F98EE6C1}"/>
              </a:ext>
            </a:extLst>
          </p:cNvPr>
          <p:cNvSpPr>
            <a:spLocks xmlns:a="http://schemas.openxmlformats.org/drawingml/2006/main" noGrp="1"/>
          </p:cNvSpPr>
          <p:nvPr/>
        </p:nvSpPr>
        <p:spPr>
          <a:xfrm xmlns:a="http://schemas.openxmlformats.org/drawingml/2006/main">
            <a:off x="60960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23A63"/>
                </a:solidFill>
                <a:latin typeface="DejaVu Sans"/>
                <a:ea typeface="DejaVu Sans"/>
                <a:cs typeface="DejaVu Sans"/>
              </a:defRPr>
            </a:pPr>
            <a:r>
              <a:rPr sz="1800" b="1">
                <a:solidFill>
                  <a:srgbClr val="123A63"/>
                </a:solidFill>
                <a:latin typeface="DejaVu Sans"/>
                <a:ea typeface="DejaVu Sans"/>
                <a:cs typeface="DejaVu Sans"/>
              </a:rPr>
              <a:t>KIẾN THỨC TRỌNG TÂM</a:t>
            </a:r>
          </a:p>
        </p:txBody>
      </p:sp>
      <p:sp>
        <p:nvSpPr>
          <p:cNvPr id="7" name="">
            <a:extLst xmlns:a="http://schemas.openxmlformats.org/drawingml/2006/main">
              <a:ext uri="{FF2B5EF4-FFF2-40B4-BE49-F238E27FC236}">
                <a16:creationId xmlns:a16="http://schemas.microsoft.com/office/drawing/2014/main" id="{CA21DB65-FF84-4F22-8DF1-87DF12EB485D}"/>
              </a:ext>
            </a:extLst>
          </p:cNvPr>
          <p:cNvSpPr>
            <a:spLocks xmlns:a="http://schemas.openxmlformats.org/drawingml/2006/main" noGrp="1"/>
          </p:cNvSpPr>
          <p:nvPr/>
        </p:nvSpPr>
        <p:spPr>
          <a:xfrm xmlns:a="http://schemas.openxmlformats.org/drawingml/2006/main">
            <a:off x="6381750" y="11049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8793E"/>
                </a:solidFill>
                <a:latin typeface="DejaVu Sans"/>
                <a:ea typeface="DejaVu Sans"/>
                <a:cs typeface="DejaVu Sans"/>
              </a:defRPr>
            </a:pPr>
            <a:r>
              <a:rPr sz="1800" b="1">
                <a:solidFill>
                  <a:srgbClr val="E8793E"/>
                </a:solidFill>
                <a:latin typeface="DejaVu Sans"/>
                <a:ea typeface="DejaVu Sans"/>
                <a:cs typeface="DejaVu Sans"/>
              </a:rPr>
              <a:t>CHUẨN BỊ CHO BÀI 3</a:t>
            </a:r>
          </a:p>
        </p:txBody>
      </p:sp>
      <p:sp>
        <p:nvSpPr>
          <p:cNvPr id="8" name="">
            <a:extLst xmlns:a="http://schemas.openxmlformats.org/drawingml/2006/main">
              <a:ext uri="{FF2B5EF4-FFF2-40B4-BE49-F238E27FC236}">
                <a16:creationId xmlns:a16="http://schemas.microsoft.com/office/drawing/2014/main" id="{98696C8C-91B6-4DED-8F8F-0218A0F88AF8}"/>
              </a:ext>
            </a:extLst>
          </p:cNvPr>
          <p:cNvSpPr>
            <a:spLocks xmlns:a="http://schemas.openxmlformats.org/drawingml/2006/main" noGrp="1"/>
          </p:cNvSpPr>
          <p:nvPr/>
        </p:nvSpPr>
        <p:spPr>
          <a:xfrm xmlns:a="http://schemas.openxmlformats.org/drawingml/2006/main">
            <a:off x="552450" y="1562100"/>
            <a:ext cx="5257800" cy="4524375"/>
          </a:xfrm>
          <a:prstGeom xmlns:a="http://schemas.openxmlformats.org/drawingml/2006/main" prst="roundRect">
            <a:avLst>
              <a:gd name="adj" fmla="val 1684"/>
            </a:avLst>
          </a:prstGeom>
          <a:solidFill xmlns:a="http://schemas.openxmlformats.org/drawingml/2006/main">
            <a:srgbClr val="FFFFFF"/>
          </a:solidFill>
          <a:ln xmlns:a="http://schemas.openxmlformats.org/drawingml/2006/main" w="9525">
            <a:solidFill>
              <a:srgbClr val="D7DEE8"/>
            </a:solidFill>
          </a:ln>
        </p:spPr>
      </p:sp>
      <p:sp>
        <p:nvSpPr>
          <p:cNvPr id="9" name="">
            <a:extLst xmlns:a="http://schemas.openxmlformats.org/drawingml/2006/main">
              <a:ext uri="{FF2B5EF4-FFF2-40B4-BE49-F238E27FC236}">
                <a16:creationId xmlns:a16="http://schemas.microsoft.com/office/drawing/2014/main" id="{7C48E306-A8B6-489A-B074-14255D5606CC}"/>
              </a:ext>
            </a:extLst>
          </p:cNvPr>
          <p:cNvSpPr>
            <a:spLocks xmlns:a="http://schemas.openxmlformats.org/drawingml/2006/main" noGrp="1"/>
          </p:cNvSpPr>
          <p:nvPr/>
        </p:nvSpPr>
        <p:spPr>
          <a:xfrm xmlns:a="http://schemas.openxmlformats.org/drawingml/2006/main">
            <a:off x="6324600" y="1562100"/>
            <a:ext cx="5314950" cy="4524375"/>
          </a:xfrm>
          <a:prstGeom xmlns:a="http://schemas.openxmlformats.org/drawingml/2006/main" prst="roundRect">
            <a:avLst>
              <a:gd name="adj" fmla="val 1684"/>
            </a:avLst>
          </a:prstGeom>
          <a:solidFill xmlns:a="http://schemas.openxmlformats.org/drawingml/2006/main">
            <a:srgbClr val="E4F4ED"/>
          </a:solidFill>
          <a:ln xmlns:a="http://schemas.openxmlformats.org/drawingml/2006/main" w="9525">
            <a:solidFill>
              <a:srgbClr val="D7DEE8"/>
            </a:solidFill>
          </a:ln>
        </p:spPr>
      </p:sp>
      <p:sp>
        <p:nvSpPr>
          <p:cNvPr id="10" name="">
            <a:extLst xmlns:a="http://schemas.openxmlformats.org/drawingml/2006/main">
              <a:ext uri="{FF2B5EF4-FFF2-40B4-BE49-F238E27FC236}">
                <a16:creationId xmlns:a16="http://schemas.microsoft.com/office/drawing/2014/main" id="{80B26B8A-465C-4252-B798-BABEBF0712F8}"/>
              </a:ext>
            </a:extLst>
          </p:cNvPr>
          <p:cNvSpPr>
            <a:spLocks xmlns:a="http://schemas.openxmlformats.org/drawingml/2006/main" noGrp="1"/>
          </p:cNvSpPr>
          <p:nvPr/>
        </p:nvSpPr>
        <p:spPr>
          <a:xfrm xmlns:a="http://schemas.openxmlformats.org/drawingml/2006/main">
            <a:off x="800100" y="1752600"/>
            <a:ext cx="4762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OOP tổ chức trạng thái và hành vi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Property bảo vệ dữ liệu của object</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Constructor thiết lập trạng thái ban đầu</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Data Annotations mô tả ràng buộc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Validator thực thi và thu thập lỗi</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Business rules cần tầng xử lý riêng</a:t>
            </a:r>
          </a:p>
        </p:txBody>
      </p:sp>
      <p:sp>
        <p:nvSpPr>
          <p:cNvPr id="11" name="">
            <a:extLst xmlns:a="http://schemas.openxmlformats.org/drawingml/2006/main">
              <a:ext uri="{FF2B5EF4-FFF2-40B4-BE49-F238E27FC236}">
                <a16:creationId xmlns:a16="http://schemas.microsoft.com/office/drawing/2014/main" id="{5A5A52B2-2829-4C46-A093-F2D02B1DBD34}"/>
              </a:ext>
            </a:extLst>
          </p:cNvPr>
          <p:cNvSpPr>
            <a:spLocks xmlns:a="http://schemas.openxmlformats.org/drawingml/2006/main" noGrp="1"/>
          </p:cNvSpPr>
          <p:nvPr/>
        </p:nvSpPr>
        <p:spPr>
          <a:xfrm xmlns:a="http://schemas.openxmlformats.org/drawingml/2006/main">
            <a:off x="6572250" y="1752600"/>
            <a:ext cx="48196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Hoàn thiện lớp Student và bộ dữ liệu mẫu.</a:t>
            </a:r>
          </a:p>
          <a:p xmlns:a="http://schemas.openxmlformats.org/drawingml/2006/main">
            <a:r>
              <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Đọc trước:</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Delegate và Func&lt;T, TResult&gt;</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Lambda expression</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LINQ to Objects</a:t>
            </a:r>
          </a:p>
          <a:p xmlns:a="http://schemas.openxmlformats.org/drawingml/2006/main">
            <a:pPr>
              <a:defRPr sz="1800" b="0">
                <a:solidFill>
                  <a:srgbClr val="172B3A"/>
                </a:solidFill>
                <a:latin typeface="DejaVu Sans"/>
                <a:ea typeface="DejaVu Sans"/>
                <a:cs typeface="DejaVu Sans"/>
              </a:defRPr>
            </a:pPr>
            <a:r>
              <a:rPr sz="1800" b="0">
                <a:solidFill>
                  <a:srgbClr val="172B3A"/>
                </a:solidFill>
                <a:latin typeface="DejaVu Sans"/>
                <a:ea typeface="DejaVu Sans"/>
                <a:cs typeface="DejaVu Sans"/>
              </a:rPr>
              <a:t>• Regular Expression</a:t>
            </a:r>
          </a:p>
        </p:txBody>
      </p:sp>
      <p:sp>
        <p:nvSpPr>
          <p:cNvPr id="12" name="">
            <a:extLst xmlns:a="http://schemas.openxmlformats.org/drawingml/2006/main">
              <a:ext uri="{FF2B5EF4-FFF2-40B4-BE49-F238E27FC236}">
                <a16:creationId xmlns:a16="http://schemas.microsoft.com/office/drawing/2014/main" id="{5EC8AB01-1934-4083-9528-3916B61FC1F7}"/>
              </a:ext>
            </a:extLst>
          </p:cNvPr>
          <p:cNvSpPr>
            <a:spLocks xmlns:a="http://schemas.openxmlformats.org/drawingml/2006/main" noGrp="1"/>
          </p:cNvSpPr>
          <p:nvPr/>
        </p:nvSpPr>
        <p:spPr>
          <a:xfrm xmlns:a="http://schemas.openxmlformats.org/drawingml/2006/main">
            <a:off x="495300" y="6486525"/>
            <a:ext cx="542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Chu Thị Minh Huệ  •  Lập trình nâng cao với C#</a:t>
            </a:r>
          </a:p>
        </p:txBody>
      </p:sp>
      <p:sp>
        <p:nvSpPr>
          <p:cNvPr id="13" name="">
            <a:extLst xmlns:a="http://schemas.openxmlformats.org/drawingml/2006/main">
              <a:ext uri="{FF2B5EF4-FFF2-40B4-BE49-F238E27FC236}">
                <a16:creationId xmlns:a16="http://schemas.microsoft.com/office/drawing/2014/main" id="{3BEA9B2B-D329-4F15-8F3F-0ACA3D5F87B4}"/>
              </a:ext>
            </a:extLst>
          </p:cNvPr>
          <p:cNvSpPr>
            <a:spLocks xmlns:a="http://schemas.openxmlformats.org/drawingml/2006/main" noGrp="1"/>
          </p:cNvSpPr>
          <p:nvPr/>
        </p:nvSpPr>
        <p:spPr>
          <a:xfrm xmlns:a="http://schemas.openxmlformats.org/drawingml/2006/main">
            <a:off x="7429500" y="6486525"/>
            <a:ext cx="4229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718394"/>
                </a:solidFill>
                <a:latin typeface="DejaVu Sans"/>
                <a:ea typeface="DejaVu Sans"/>
                <a:cs typeface="DejaVu Sans"/>
              </a:defRPr>
            </a:pPr>
            <a:r>
              <a:rPr sz="750" b="0">
                <a:solidFill>
                  <a:srgbClr val="718394"/>
                </a:solidFill>
                <a:latin typeface="DejaVu Sans"/>
                <a:ea typeface="DejaVu Sans"/>
                <a:cs typeface="DejaVu Sans"/>
              </a:rPr>
              <a:t>OOP • Property • Data Annotations</a:t>
            </a:r>
          </a:p>
        </p:txBody>
      </p:sp>
    </p:spTree>
    <p:extLst>
      <p:ext uri="{BB962C8B-B14F-4D97-AF65-F5344CB8AC3E}">
        <p14:creationId xmlns:p14="http://schemas.microsoft.com/office/powerpoint/2010/main" val="69658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2026-09-18T09:24:05.4180000Z</dcterms:created>
  <dcterms:modified xsi:type="dcterms:W3CDTF">2026-09-18T09:24:05.4180000Z</dcterms:modified>
</coreProperties>
</file>