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6afae50d77464a" /><Relationship Type="http://schemas.openxmlformats.org/officeDocument/2006/relationships/extended-properties" Target="/docProps/app.xml" Id="R889f1f15132f4e6d" /><Relationship Type="http://schemas.openxmlformats.org/officeDocument/2006/relationships/officeDocument" Target="/ppt/presentation.xml" Id="Ra0818a50b09d4560" /></Relationships>
</file>

<file path=ppt/presentation.xml><?xml version="1.0" encoding="utf-8"?>
<p:presentation xmlns:p="http://schemas.openxmlformats.org/presentationml/2006/main">
  <p:sldMasterIdLst>
    <p:sldMasterId xmlns:r="http://schemas.openxmlformats.org/officeDocument/2006/relationships" id="2147483648" r:id="R9f21259c31dc4aad"/>
  </p:sldMasterIdLst>
  <p:notesMasterIdLst>
    <p:notesMasterId xmlns:r="http://schemas.openxmlformats.org/officeDocument/2006/relationships" r:id="R8d9e98f31e7c46a7"/>
  </p:notesMasterIdLst>
  <p:sldIdLst>
    <p:sldId xmlns:r="http://schemas.openxmlformats.org/officeDocument/2006/relationships" id="256" r:id="R7e55c8655af94962"/>
    <p:sldId xmlns:r="http://schemas.openxmlformats.org/officeDocument/2006/relationships" id="257" r:id="Rd505dad36bc9423f"/>
    <p:sldId xmlns:r="http://schemas.openxmlformats.org/officeDocument/2006/relationships" id="258" r:id="Rd5caca8380fa4cb1"/>
    <p:sldId xmlns:r="http://schemas.openxmlformats.org/officeDocument/2006/relationships" id="259" r:id="R866af94326574bef"/>
    <p:sldId xmlns:r="http://schemas.openxmlformats.org/officeDocument/2006/relationships" id="260" r:id="R720a4e9ae8364127"/>
    <p:sldId xmlns:r="http://schemas.openxmlformats.org/officeDocument/2006/relationships" id="261" r:id="R8526955875e04ca6"/>
    <p:sldId xmlns:r="http://schemas.openxmlformats.org/officeDocument/2006/relationships" id="262" r:id="Rb5d42f2ec53a4edb"/>
    <p:sldId xmlns:r="http://schemas.openxmlformats.org/officeDocument/2006/relationships" id="263" r:id="Rdd7a37897d5b4098"/>
    <p:sldId xmlns:r="http://schemas.openxmlformats.org/officeDocument/2006/relationships" id="264" r:id="Rd547f48549dc4b21"/>
    <p:sldId xmlns:r="http://schemas.openxmlformats.org/officeDocument/2006/relationships" id="265" r:id="R3ded624aaa0046ac"/>
    <p:sldId xmlns:r="http://schemas.openxmlformats.org/officeDocument/2006/relationships" id="266" r:id="R69b1fe6dca674a81"/>
    <p:sldId xmlns:r="http://schemas.openxmlformats.org/officeDocument/2006/relationships" id="267" r:id="Ra3c70b4afbb94009"/>
    <p:sldId xmlns:r="http://schemas.openxmlformats.org/officeDocument/2006/relationships" id="268" r:id="R5c2f50f7c5a049d3"/>
    <p:sldId xmlns:r="http://schemas.openxmlformats.org/officeDocument/2006/relationships" id="269" r:id="Re8f3659cbb6742be"/>
    <p:sldId xmlns:r="http://schemas.openxmlformats.org/officeDocument/2006/relationships" id="270" r:id="Rba794b90ace64f49"/>
    <p:sldId xmlns:r="http://schemas.openxmlformats.org/officeDocument/2006/relationships" id="271" r:id="R3d598975622344a1"/>
    <p:sldId xmlns:r="http://schemas.openxmlformats.org/officeDocument/2006/relationships" id="272" r:id="Rc5229e8019184ec1"/>
    <p:sldId xmlns:r="http://schemas.openxmlformats.org/officeDocument/2006/relationships" id="273" r:id="Rfddd494591e34e9b"/>
    <p:sldId xmlns:r="http://schemas.openxmlformats.org/officeDocument/2006/relationships" id="274" r:id="R9bd22c7f12be413b"/>
    <p:sldId xmlns:r="http://schemas.openxmlformats.org/officeDocument/2006/relationships" id="275" r:id="Rc05516e84bce4401"/>
    <p:sldId xmlns:r="http://schemas.openxmlformats.org/officeDocument/2006/relationships" id="276" r:id="R0b0ee0992e4845b0"/>
    <p:sldId xmlns:r="http://schemas.openxmlformats.org/officeDocument/2006/relationships" id="277" r:id="R1d66a47d5dea4561"/>
    <p:sldId xmlns:r="http://schemas.openxmlformats.org/officeDocument/2006/relationships" id="278" r:id="Rab728a27e17c4591"/>
    <p:sldId xmlns:r="http://schemas.openxmlformats.org/officeDocument/2006/relationships" id="279" r:id="Rc42d70e79a4e4c4a"/>
    <p:sldId xmlns:r="http://schemas.openxmlformats.org/officeDocument/2006/relationships" id="280" r:id="R94314e3d773a44ed"/>
    <p:sldId xmlns:r="http://schemas.openxmlformats.org/officeDocument/2006/relationships" id="281" r:id="R138e61fff80247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fe57fefbc94d47" /><Relationship Type="http://schemas.openxmlformats.org/officeDocument/2006/relationships/slideMaster" Target="/ppt/slideMasters/slideMaster1.xml" Id="R9f21259c31dc4aad" /><Relationship Type="http://schemas.openxmlformats.org/officeDocument/2006/relationships/notesMaster" Target="/ppt/notesMasters/notesMaster1.xml" Id="R8d9e98f31e7c46a7" /><Relationship Type="http://schemas.openxmlformats.org/officeDocument/2006/relationships/presProps" Target="/ppt/presProps.xml" Id="R4e47f0acbe934ba3" /><Relationship Type="http://schemas.openxmlformats.org/officeDocument/2006/relationships/tableStyles" Target="/ppt/tableStyles.xml" Id="R555a869462c64c0b" /><Relationship Type="http://schemas.openxmlformats.org/officeDocument/2006/relationships/slide" Target="/ppt/slides/slide1.xml" Id="R7e55c8655af94962" /><Relationship Type="http://schemas.openxmlformats.org/officeDocument/2006/relationships/slide" Target="/ppt/slides/slide2.xml" Id="Rd505dad36bc9423f" /><Relationship Type="http://schemas.openxmlformats.org/officeDocument/2006/relationships/slide" Target="/ppt/slides/slide3.xml" Id="Rd5caca8380fa4cb1" /><Relationship Type="http://schemas.openxmlformats.org/officeDocument/2006/relationships/slide" Target="/ppt/slides/slide4.xml" Id="R866af94326574bef" /><Relationship Type="http://schemas.openxmlformats.org/officeDocument/2006/relationships/slide" Target="/ppt/slides/slide5.xml" Id="R720a4e9ae8364127" /><Relationship Type="http://schemas.openxmlformats.org/officeDocument/2006/relationships/slide" Target="/ppt/slides/slide6.xml" Id="R8526955875e04ca6" /><Relationship Type="http://schemas.openxmlformats.org/officeDocument/2006/relationships/slide" Target="/ppt/slides/slide7.xml" Id="Rb5d42f2ec53a4edb" /><Relationship Type="http://schemas.openxmlformats.org/officeDocument/2006/relationships/slide" Target="/ppt/slides/slide8.xml" Id="Rdd7a37897d5b4098" /><Relationship Type="http://schemas.openxmlformats.org/officeDocument/2006/relationships/slide" Target="/ppt/slides/slide9.xml" Id="Rd547f48549dc4b21" /><Relationship Type="http://schemas.openxmlformats.org/officeDocument/2006/relationships/slide" Target="/ppt/slides/slide10.xml" Id="R3ded624aaa0046ac" /><Relationship Type="http://schemas.openxmlformats.org/officeDocument/2006/relationships/slide" Target="/ppt/slides/slide11.xml" Id="R69b1fe6dca674a81" /><Relationship Type="http://schemas.openxmlformats.org/officeDocument/2006/relationships/slide" Target="/ppt/slides/slide12.xml" Id="Ra3c70b4afbb94009" /><Relationship Type="http://schemas.openxmlformats.org/officeDocument/2006/relationships/slide" Target="/ppt/slides/slide13.xml" Id="R5c2f50f7c5a049d3" /><Relationship Type="http://schemas.openxmlformats.org/officeDocument/2006/relationships/slide" Target="/ppt/slides/slide14.xml" Id="Re8f3659cbb6742be" /><Relationship Type="http://schemas.openxmlformats.org/officeDocument/2006/relationships/slide" Target="/ppt/slides/slide15.xml" Id="Rba794b90ace64f49" /><Relationship Type="http://schemas.openxmlformats.org/officeDocument/2006/relationships/slide" Target="/ppt/slides/slide16.xml" Id="R3d598975622344a1" /><Relationship Type="http://schemas.openxmlformats.org/officeDocument/2006/relationships/slide" Target="/ppt/slides/slide17.xml" Id="Rc5229e8019184ec1" /><Relationship Type="http://schemas.openxmlformats.org/officeDocument/2006/relationships/slide" Target="/ppt/slides/slide18.xml" Id="Rfddd494591e34e9b" /><Relationship Type="http://schemas.openxmlformats.org/officeDocument/2006/relationships/slide" Target="/ppt/slides/slide19.xml" Id="R9bd22c7f12be413b" /><Relationship Type="http://schemas.openxmlformats.org/officeDocument/2006/relationships/slide" Target="/ppt/slides/slide20.xml" Id="Rc05516e84bce4401" /><Relationship Type="http://schemas.openxmlformats.org/officeDocument/2006/relationships/slide" Target="/ppt/slides/slide21.xml" Id="R0b0ee0992e4845b0" /><Relationship Type="http://schemas.openxmlformats.org/officeDocument/2006/relationships/slide" Target="/ppt/slides/slide22.xml" Id="R1d66a47d5dea4561" /><Relationship Type="http://schemas.openxmlformats.org/officeDocument/2006/relationships/slide" Target="/ppt/slides/slide23.xml" Id="Rab728a27e17c4591" /><Relationship Type="http://schemas.openxmlformats.org/officeDocument/2006/relationships/slide" Target="/ppt/slides/slide24.xml" Id="Rc42d70e79a4e4c4a" /><Relationship Type="http://schemas.openxmlformats.org/officeDocument/2006/relationships/slide" Target="/ppt/slides/slide25.xml" Id="R94314e3d773a44ed" /><Relationship Type="http://schemas.openxmlformats.org/officeDocument/2006/relationships/slide" Target="/ppt/slides/slide26.xml" Id="R138e61fff80247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3892a62ba449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c133f12e734f2c" /><Relationship Type="http://schemas.openxmlformats.org/officeDocument/2006/relationships/notesMaster" Target="/ppt/notesMasters/notesMaster1.xml" Id="Re0949b5561be47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d8108dbfcd4dc3" /><Relationship Type="http://schemas.openxmlformats.org/officeDocument/2006/relationships/notesMaster" Target="/ppt/notesMasters/notesMaster1.xml" Id="R19979ea758394c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afb2300eb0493b" /><Relationship Type="http://schemas.openxmlformats.org/officeDocument/2006/relationships/notesMaster" Target="/ppt/notesMasters/notesMaster1.xml" Id="R86bfcafc58ad4c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4dbe7989cf460f" /><Relationship Type="http://schemas.openxmlformats.org/officeDocument/2006/relationships/notesMaster" Target="/ppt/notesMasters/notesMaster1.xml" Id="Rdbe3f5e0f3ea4c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3779d33bba461e" /><Relationship Type="http://schemas.openxmlformats.org/officeDocument/2006/relationships/notesMaster" Target="/ppt/notesMasters/notesMaster1.xml" Id="R756464cbcb0043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4ea5db90a04964" /><Relationship Type="http://schemas.openxmlformats.org/officeDocument/2006/relationships/notesMaster" Target="/ppt/notesMasters/notesMaster1.xml" Id="R36e4dfd3e8154c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6f74b8cb664bc0" /><Relationship Type="http://schemas.openxmlformats.org/officeDocument/2006/relationships/notesMaster" Target="/ppt/notesMasters/notesMaster1.xml" Id="R4f00e58a391046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115700e08e4073" /><Relationship Type="http://schemas.openxmlformats.org/officeDocument/2006/relationships/notesMaster" Target="/ppt/notesMasters/notesMaster1.xml" Id="R2b7c31b99eca42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1c3895f872441e" /><Relationship Type="http://schemas.openxmlformats.org/officeDocument/2006/relationships/notesMaster" Target="/ppt/notesMasters/notesMaster1.xml" Id="Rd8974a74f7ac42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134e2da9f84684" /><Relationship Type="http://schemas.openxmlformats.org/officeDocument/2006/relationships/notesMaster" Target="/ppt/notesMasters/notesMaster1.xml" Id="Rb95381e82ca04c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43f679497c40df" /><Relationship Type="http://schemas.openxmlformats.org/officeDocument/2006/relationships/notesMaster" Target="/ppt/notesMasters/notesMaster1.xml" Id="Rf9a079221fe84a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eae0dcc1504a52" /><Relationship Type="http://schemas.openxmlformats.org/officeDocument/2006/relationships/notesMaster" Target="/ppt/notesMasters/notesMaster1.xml" Id="Rd2be83cb906a42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72dc7a6df74b9b" /><Relationship Type="http://schemas.openxmlformats.org/officeDocument/2006/relationships/notesMaster" Target="/ppt/notesMasters/notesMaster1.xml" Id="R0363ab9599f345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6694667cce46d7" /><Relationship Type="http://schemas.openxmlformats.org/officeDocument/2006/relationships/notesMaster" Target="/ppt/notesMasters/notesMaster1.xml" Id="R89beb64d87314e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1a471180934f7b" /><Relationship Type="http://schemas.openxmlformats.org/officeDocument/2006/relationships/notesMaster" Target="/ppt/notesMasters/notesMaster1.xml" Id="R72c22177c75941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83f9ec996514ebe" /><Relationship Type="http://schemas.openxmlformats.org/officeDocument/2006/relationships/notesMaster" Target="/ppt/notesMasters/notesMaster1.xml" Id="Rcda3bd6c93914d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1c68cd1c3c4a39" /><Relationship Type="http://schemas.openxmlformats.org/officeDocument/2006/relationships/notesMaster" Target="/ppt/notesMasters/notesMaster1.xml" Id="R49629c92c00341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b750c11e9e4ef2" /><Relationship Type="http://schemas.openxmlformats.org/officeDocument/2006/relationships/notesMaster" Target="/ppt/notesMasters/notesMaster1.xml" Id="R048d2603529243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326e1d02c744b98" /><Relationship Type="http://schemas.openxmlformats.org/officeDocument/2006/relationships/notesMaster" Target="/ppt/notesMasters/notesMaster1.xml" Id="Re5974a9b09154bc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85f59b6b3e4e30" /><Relationship Type="http://schemas.openxmlformats.org/officeDocument/2006/relationships/notesMaster" Target="/ppt/notesMasters/notesMaster1.xml" Id="R73741025d25144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e5ad9b8ea04623" /><Relationship Type="http://schemas.openxmlformats.org/officeDocument/2006/relationships/notesMaster" Target="/ppt/notesMasters/notesMaster1.xml" Id="Rec25815f10e1480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0c410178514892" /><Relationship Type="http://schemas.openxmlformats.org/officeDocument/2006/relationships/notesMaster" Target="/ppt/notesMasters/notesMaster1.xml" Id="R450d63497c6e466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e348eb72bdc41b3" /><Relationship Type="http://schemas.openxmlformats.org/officeDocument/2006/relationships/notesMaster" Target="/ppt/notesMasters/notesMaster1.xml" Id="Rdf3f0a07fd21427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3e3e3fea4964264" /><Relationship Type="http://schemas.openxmlformats.org/officeDocument/2006/relationships/notesMaster" Target="/ppt/notesMasters/notesMaster1.xml" Id="Rb1e3e850876e4ae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bfb2b549e714a76" /><Relationship Type="http://schemas.openxmlformats.org/officeDocument/2006/relationships/notesMaster" Target="/ppt/notesMasters/notesMaster1.xml" Id="Rbfcdbf36e95f408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dc0551480b34b04" /><Relationship Type="http://schemas.openxmlformats.org/officeDocument/2006/relationships/notesMaster" Target="/ppt/notesMasters/notesMaster1.xml" Id="Ra269995a87b047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chính: https://www.w3schools.com/cs/index.php</a:t>
            </a:r>
          </a:p>
          <a:p xmlns:a="http://schemas.openxmlformats.org/drawingml/2006/main">
            <a:r>
              <a:t>Đối chiếu: 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https://www.w3schools.com/cs/index.php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https://www.w3schools.com/cs/index.php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https://www.w3schools.com/cs/cs_syntax.php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https://www.w3schools.com/cs/cs_user_input.php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https://www.w3schools.com/cs/cs_data_types.php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https://www.w3schools.com/cs/cs_variables.php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https://www.w3schools.com/cs/cs_type_casting.php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https://www.w3schools.com/cs/cs_operators.php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https://www.w3schools.com/cs/cs_strings.php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https://www.w3schools.com/cs/cs_conditions.php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https://www.w3schools.com/cs/cs_switch.php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https://www.w3schools.com/cs/cs_for_loop.php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https://www.w3schools.com/cs/cs_methods.php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https://www.w3schools.com/cs/cs_method_parameters.php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https://www.w3schools.com/cs/cs_arrays.php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https://learn.microsoft.com/en-us/dotnet/api/system.collections.generic.dictionary-2</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https://www.w3schools.com/cs/cs_classes.php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https://www.w3schools.com/cs/cs_constructors.php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https://www.w3schools.com/cs/cs_inheritance.php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https://www.w3schools.com/cs/cs_exceptions.php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https://learn.microsoft.com/en-us/dotnet/csharp/fundamentals/coding-style/coding-conventions</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https://www.w3schools.com/cs/index.php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https://www.w3schools.com/cs/index.php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https://www.w3schools.com/cs/index.php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https://www.w3schools.com/cs/index.php</a:t>
            </a:r>
          </a:p>
          <a:p xmlns:a="http://schemas.openxmlformats.org/drawingml/2006/main">
            <a:r>
              <a:t>https://learn.microsoft.com/en-us/dotnet/csharp/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fc968dcef241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79f1124825413c" /><Relationship Type="http://schemas.openxmlformats.org/officeDocument/2006/relationships/slideLayout" Target="/ppt/slideLayouts/slideLayout1.xml" Id="R39760cfe2e5b4c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760cfe2e5b4c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146feb6cdd4fd1" /><Relationship Type="http://schemas.openxmlformats.org/officeDocument/2006/relationships/notesSlide" Target="/ppt/notesSlides/notesSlide1.xml" Id="Rce94b85c34ef4b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668dfcae814cb8" /><Relationship Type="http://schemas.openxmlformats.org/officeDocument/2006/relationships/notesSlide" Target="/ppt/notesSlides/notesSlide2.xml" Id="R7af165ced27f47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a35ae549a1411c" /><Relationship Type="http://schemas.openxmlformats.org/officeDocument/2006/relationships/notesSlide" Target="/ppt/notesSlides/notesSlide3.xml" Id="R9faa45a7088c41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ddc9c21d7c4c39" /><Relationship Type="http://schemas.openxmlformats.org/officeDocument/2006/relationships/notesSlide" Target="/ppt/notesSlides/notesSlide4.xml" Id="R67af9f93104c44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1362403c8b4f34" /><Relationship Type="http://schemas.openxmlformats.org/officeDocument/2006/relationships/notesSlide" Target="/ppt/notesSlides/notesSlide5.xml" Id="R94f40bb8c2c64b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30053661534a1e" /><Relationship Type="http://schemas.openxmlformats.org/officeDocument/2006/relationships/notesSlide" Target="/ppt/notesSlides/notesSlide6.xml" Id="Rd3a6675abeb643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8cc26274b04ac8" /><Relationship Type="http://schemas.openxmlformats.org/officeDocument/2006/relationships/notesSlide" Target="/ppt/notesSlides/notesSlide7.xml" Id="Ra1b0f433fe4a44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6b2d4fb1394c1d" /><Relationship Type="http://schemas.openxmlformats.org/officeDocument/2006/relationships/notesSlide" Target="/ppt/notesSlides/notesSlide8.xml" Id="Re4e87caf51054c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543c4d0aecd40d6" /><Relationship Type="http://schemas.openxmlformats.org/officeDocument/2006/relationships/notesSlide" Target="/ppt/notesSlides/notesSlide9.xml" Id="Rb0098d95d5054f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1a9ae74fe44b45" /><Relationship Type="http://schemas.openxmlformats.org/officeDocument/2006/relationships/notesSlide" Target="/ppt/notesSlides/notesSlide10.xml" Id="Rff5437eb391945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16127c7b2d4ae4" /><Relationship Type="http://schemas.openxmlformats.org/officeDocument/2006/relationships/notesSlide" Target="/ppt/notesSlides/notesSlide11.xml" Id="R1bb773486ae94d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051fd3a4b8a4dad" /><Relationship Type="http://schemas.openxmlformats.org/officeDocument/2006/relationships/notesSlide" Target="/ppt/notesSlides/notesSlide12.xml" Id="Rc54b863d7f2443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e9fadf744ed4717" /><Relationship Type="http://schemas.openxmlformats.org/officeDocument/2006/relationships/notesSlide" Target="/ppt/notesSlides/notesSlide13.xml" Id="R217d3610e5e247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a331eb1317e450e" /><Relationship Type="http://schemas.openxmlformats.org/officeDocument/2006/relationships/notesSlide" Target="/ppt/notesSlides/notesSlide14.xml" Id="R26ea19bb1bae45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fcfe48549d04f9e" /><Relationship Type="http://schemas.openxmlformats.org/officeDocument/2006/relationships/notesSlide" Target="/ppt/notesSlides/notesSlide15.xml" Id="R474d6f13ff984ee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57874505a1f4b26" /><Relationship Type="http://schemas.openxmlformats.org/officeDocument/2006/relationships/notesSlide" Target="/ppt/notesSlides/notesSlide16.xml" Id="R0a63a2ad08194c8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9f597e73d7f4d3f" /><Relationship Type="http://schemas.openxmlformats.org/officeDocument/2006/relationships/notesSlide" Target="/ppt/notesSlides/notesSlide17.xml" Id="R6024c607d09644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9ab71c4196642d8" /><Relationship Type="http://schemas.openxmlformats.org/officeDocument/2006/relationships/notesSlide" Target="/ppt/notesSlides/notesSlide18.xml" Id="R6442b802bb9a457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9bad974549c4a52" /><Relationship Type="http://schemas.openxmlformats.org/officeDocument/2006/relationships/notesSlide" Target="/ppt/notesSlides/notesSlide19.xml" Id="R9b5ef39575ee478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fcf7f9c504e461e" /><Relationship Type="http://schemas.openxmlformats.org/officeDocument/2006/relationships/notesSlide" Target="/ppt/notesSlides/notesSlide20.xml" Id="Rd2798ce7f4e640f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9222a1d4a26417a" /><Relationship Type="http://schemas.openxmlformats.org/officeDocument/2006/relationships/notesSlide" Target="/ppt/notesSlides/notesSlide21.xml" Id="Rbce1675c567343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16ad649623b40d2" /><Relationship Type="http://schemas.openxmlformats.org/officeDocument/2006/relationships/notesSlide" Target="/ppt/notesSlides/notesSlide22.xml" Id="R421af1ca36c8474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4638a31bc2141a2" /><Relationship Type="http://schemas.openxmlformats.org/officeDocument/2006/relationships/notesSlide" Target="/ppt/notesSlides/notesSlide23.xml" Id="Rf1d4535fd6db459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39dcb7a729c442d" /><Relationship Type="http://schemas.openxmlformats.org/officeDocument/2006/relationships/notesSlide" Target="/ppt/notesSlides/notesSlide24.xml" Id="Rac6f47539c8140c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b9816b5f71e4330" /><Relationship Type="http://schemas.openxmlformats.org/officeDocument/2006/relationships/notesSlide" Target="/ppt/notesSlides/notesSlide25.xml" Id="R526b1e0a5a92456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12b760084384dea" /><Relationship Type="http://schemas.openxmlformats.org/officeDocument/2006/relationships/notesSlide" Target="/ppt/notesSlides/notesSlide26.xml" Id="R93146158569e4f6a" /></Relationships>
</file>

<file path=ppt/slides/slide1.xml><?xml version="1.0" encoding="utf-8"?>
<p:sld xmlns:p="http://schemas.openxmlformats.org/presentationml/2006/main">
  <p:cSld>
    <p:bg>
      <p:bgPr>
        <a:solidFill xmlns:a="http://schemas.openxmlformats.org/drawingml/2006/main">
          <a:srgbClr val="123A6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DDF5DF-3988-4DED-BC91-A00E65CE511B}"/>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E8793E"/>
          </a:solidFill>
          <a:ln xmlns:a="http://schemas.openxmlformats.org/drawingml/2006/main" w="9525">
            <a:solidFill>
              <a:srgbClr val="E8793E"/>
            </a:solidFill>
          </a:ln>
        </p:spPr>
      </p:sp>
      <p:sp>
        <p:nvSpPr>
          <p:cNvPr id="2" name="">
            <a:extLst xmlns:a="http://schemas.openxmlformats.org/drawingml/2006/main">
              <a:ext uri="{FF2B5EF4-FFF2-40B4-BE49-F238E27FC236}">
                <a16:creationId xmlns:a16="http://schemas.microsoft.com/office/drawing/2014/main" id="{32C4C410-A9A2-4E97-80F4-574705DEA1EC}"/>
              </a:ext>
            </a:extLst>
          </p:cNvPr>
          <p:cNvSpPr>
            <a:spLocks xmlns:a="http://schemas.openxmlformats.org/drawingml/2006/main" noGrp="1"/>
          </p:cNvSpPr>
          <p:nvPr/>
        </p:nvSpPr>
        <p:spPr>
          <a:xfrm xmlns:a="http://schemas.openxmlformats.org/drawingml/2006/main">
            <a:off x="685800" y="7048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BFD7EA"/>
                </a:solidFill>
                <a:latin typeface="DejaVu Sans"/>
                <a:ea typeface="DejaVu Sans"/>
                <a:cs typeface="DejaVu Sans"/>
              </a:defRPr>
            </a:pPr>
            <a:r>
              <a:rPr sz="1350"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653BCB13-67C5-49F2-98C3-A55E6D84834B}"/>
              </a:ext>
            </a:extLst>
          </p:cNvPr>
          <p:cNvSpPr>
            <a:spLocks xmlns:a="http://schemas.openxmlformats.org/drawingml/2006/main" noGrp="1"/>
          </p:cNvSpPr>
          <p:nvPr/>
        </p:nvSpPr>
        <p:spPr>
          <a:xfrm xmlns:a="http://schemas.openxmlformats.org/drawingml/2006/main">
            <a:off x="685800" y="1200150"/>
            <a:ext cx="781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ÔN TẬP NGÔN NGỮ</a:t>
            </a:r>
          </a:p>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LẬP TRÌNH C# CƠ BẢN</a:t>
            </a:r>
          </a:p>
        </p:txBody>
      </p:sp>
      <p:sp>
        <p:nvSpPr>
          <p:cNvPr id="4" name="">
            <a:extLst xmlns:a="http://schemas.openxmlformats.org/drawingml/2006/main">
              <a:ext uri="{FF2B5EF4-FFF2-40B4-BE49-F238E27FC236}">
                <a16:creationId xmlns:a16="http://schemas.microsoft.com/office/drawing/2014/main" id="{8F6F0047-E2FD-4D65-B64B-8177EBC71C8E}"/>
              </a:ext>
            </a:extLst>
          </p:cNvPr>
          <p:cNvSpPr>
            <a:spLocks xmlns:a="http://schemas.openxmlformats.org/drawingml/2006/main" noGrp="1"/>
          </p:cNvSpPr>
          <p:nvPr/>
        </p:nvSpPr>
        <p:spPr>
          <a:xfrm xmlns:a="http://schemas.openxmlformats.org/drawingml/2006/main">
            <a:off x="723900" y="27813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DCEBFA"/>
                </a:solidFill>
                <a:latin typeface="DejaVu Sans"/>
                <a:ea typeface="DejaVu Sans"/>
                <a:cs typeface="DejaVu Sans"/>
              </a:defRPr>
            </a:pPr>
            <a:r>
              <a:rPr sz="1800" b="0">
                <a:solidFill>
                  <a:srgbClr val="DCEBFA"/>
                </a:solidFill>
                <a:latin typeface="DejaVu Sans"/>
                <a:ea typeface="DejaVu Sans"/>
                <a:cs typeface="DejaVu Sans"/>
              </a:rPr>
              <a:t>Từ kiến thức lập trình đã có đến cú pháp và phong cách C#</a:t>
            </a:r>
          </a:p>
        </p:txBody>
      </p:sp>
      <p:sp>
        <p:nvSpPr>
          <p:cNvPr id="5" name="">
            <a:extLst xmlns:a="http://schemas.openxmlformats.org/drawingml/2006/main">
              <a:ext uri="{FF2B5EF4-FFF2-40B4-BE49-F238E27FC236}">
                <a16:creationId xmlns:a16="http://schemas.microsoft.com/office/drawing/2014/main" id="{41FE5E80-9C5C-4C1F-A6E3-634008D4EB2E}"/>
              </a:ext>
            </a:extLst>
          </p:cNvPr>
          <p:cNvSpPr>
            <a:spLocks xmlns:a="http://schemas.openxmlformats.org/drawingml/2006/main" noGrp="1"/>
          </p:cNvSpPr>
          <p:nvPr/>
        </p:nvSpPr>
        <p:spPr>
          <a:xfrm xmlns:a="http://schemas.openxmlformats.org/drawingml/2006/main">
            <a:off x="723900" y="3667125"/>
            <a:ext cx="10744200" cy="1485900"/>
          </a:xfrm>
          <a:prstGeom xmlns:a="http://schemas.openxmlformats.org/drawingml/2006/main" prst="roundRect">
            <a:avLst>
              <a:gd name="adj" fmla="val 5128"/>
            </a:avLst>
          </a:prstGeom>
          <a:solidFill xmlns:a="http://schemas.openxmlformats.org/drawingml/2006/main">
            <a:srgbClr val="194B76"/>
          </a:solidFill>
          <a:ln xmlns:a="http://schemas.openxmlformats.org/drawingml/2006/main" w="9525">
            <a:solidFill>
              <a:srgbClr val="2B6EA6"/>
            </a:solidFill>
          </a:ln>
        </p:spPr>
      </p:sp>
      <p:sp>
        <p:nvSpPr>
          <p:cNvPr id="6" name="">
            <a:extLst xmlns:a="http://schemas.openxmlformats.org/drawingml/2006/main">
              <a:ext uri="{FF2B5EF4-FFF2-40B4-BE49-F238E27FC236}">
                <a16:creationId xmlns:a16="http://schemas.microsoft.com/office/drawing/2014/main" id="{43D56840-A87B-43B8-944D-31C9C39F5028}"/>
              </a:ext>
            </a:extLst>
          </p:cNvPr>
          <p:cNvSpPr>
            <a:spLocks xmlns:a="http://schemas.openxmlformats.org/drawingml/2006/main" noGrp="1"/>
          </p:cNvSpPr>
          <p:nvPr/>
        </p:nvSpPr>
        <p:spPr>
          <a:xfrm xmlns:a="http://schemas.openxmlformats.org/drawingml/2006/main">
            <a:off x="990600" y="38481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1800" b="1">
                <a:solidFill>
                  <a:srgbClr val="BFE3D3"/>
                </a:solidFill>
                <a:latin typeface="DejaVu Sans"/>
                <a:ea typeface="DejaVu Sans"/>
                <a:cs typeface="DejaVu Sans"/>
              </a:defRPr>
            </a:pPr>
            <a:r>
              <a:rPr sz="1800" b="1">
                <a:solidFill>
                  <a:srgbClr val="BFE3D3"/>
                </a:solidFill>
                <a:latin typeface="DejaVu Sans"/>
                <a:ea typeface="DejaVu Sans"/>
                <a:cs typeface="DejaVu Sans"/>
              </a:rPr>
              <a:t>Đối tượng</a:t>
            </a:r>
          </a:p>
        </p:txBody>
      </p:sp>
      <p:sp>
        <p:nvSpPr>
          <p:cNvPr id="7" name="">
            <a:extLst xmlns:a="http://schemas.openxmlformats.org/drawingml/2006/main">
              <a:ext uri="{FF2B5EF4-FFF2-40B4-BE49-F238E27FC236}">
                <a16:creationId xmlns:a16="http://schemas.microsoft.com/office/drawing/2014/main" id="{EBDAC60B-2455-4F43-BAA7-38A4A4919C64}"/>
              </a:ext>
            </a:extLst>
          </p:cNvPr>
          <p:cNvSpPr>
            <a:spLocks xmlns:a="http://schemas.openxmlformats.org/drawingml/2006/main" noGrp="1"/>
          </p:cNvSpPr>
          <p:nvPr/>
        </p:nvSpPr>
        <p:spPr>
          <a:xfrm xmlns:a="http://schemas.openxmlformats.org/drawingml/2006/main">
            <a:off x="990600" y="417195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Sinh viên đã học lập trình cơ sở và OOP bằng ngôn ngữ khác</a:t>
            </a:r>
          </a:p>
        </p:txBody>
      </p:sp>
      <p:sp>
        <p:nvSpPr>
          <p:cNvPr id="8" name="">
            <a:extLst xmlns:a="http://schemas.openxmlformats.org/drawingml/2006/main">
              <a:ext uri="{FF2B5EF4-FFF2-40B4-BE49-F238E27FC236}">
                <a16:creationId xmlns:a16="http://schemas.microsoft.com/office/drawing/2014/main" id="{0B83CE0C-974C-43EE-88D2-C621F464EFBD}"/>
              </a:ext>
            </a:extLst>
          </p:cNvPr>
          <p:cNvSpPr>
            <a:spLocks xmlns:a="http://schemas.openxmlformats.org/drawingml/2006/main" noGrp="1"/>
          </p:cNvSpPr>
          <p:nvPr/>
        </p:nvSpPr>
        <p:spPr>
          <a:xfrm xmlns:a="http://schemas.openxmlformats.org/drawingml/2006/main">
            <a:off x="6191250" y="38481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1800" b="1">
                <a:solidFill>
                  <a:srgbClr val="FFD7C2"/>
                </a:solidFill>
                <a:latin typeface="DejaVu Sans"/>
                <a:ea typeface="DejaVu Sans"/>
                <a:cs typeface="DejaVu Sans"/>
              </a:defRPr>
            </a:pPr>
            <a:r>
              <a:rPr sz="1800" b="1">
                <a:solidFill>
                  <a:srgbClr val="FFD7C2"/>
                </a:solidFill>
                <a:latin typeface="DejaVu Sans"/>
                <a:ea typeface="DejaVu Sans"/>
                <a:cs typeface="DejaVu Sans"/>
              </a:rPr>
              <a:t>Trọng tâm</a:t>
            </a:r>
          </a:p>
        </p:txBody>
      </p:sp>
      <p:sp>
        <p:nvSpPr>
          <p:cNvPr id="9" name="">
            <a:extLst xmlns:a="http://schemas.openxmlformats.org/drawingml/2006/main">
              <a:ext uri="{FF2B5EF4-FFF2-40B4-BE49-F238E27FC236}">
                <a16:creationId xmlns:a16="http://schemas.microsoft.com/office/drawing/2014/main" id="{4E4A5935-8112-49EC-A229-DC1A9B3F4037}"/>
              </a:ext>
            </a:extLst>
          </p:cNvPr>
          <p:cNvSpPr>
            <a:spLocks xmlns:a="http://schemas.openxmlformats.org/drawingml/2006/main" noGrp="1"/>
          </p:cNvSpPr>
          <p:nvPr/>
        </p:nvSpPr>
        <p:spPr>
          <a:xfrm xmlns:a="http://schemas.openxmlformats.org/drawingml/2006/main">
            <a:off x="6191250" y="41719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119"/>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Cú pháp C# • Type system • Methods • Collections • Class • Exception</a:t>
            </a:r>
          </a:p>
        </p:txBody>
      </p:sp>
      <p:sp>
        <p:nvSpPr>
          <p:cNvPr id="10" name="">
            <a:extLst xmlns:a="http://schemas.openxmlformats.org/drawingml/2006/main">
              <a:ext uri="{FF2B5EF4-FFF2-40B4-BE49-F238E27FC236}">
                <a16:creationId xmlns:a16="http://schemas.microsoft.com/office/drawing/2014/main" id="{2F61791E-E69B-4AC1-953B-845880EF5DD3}"/>
              </a:ext>
            </a:extLst>
          </p:cNvPr>
          <p:cNvSpPr>
            <a:spLocks xmlns:a="http://schemas.openxmlformats.org/drawingml/2006/main" noGrp="1"/>
          </p:cNvSpPr>
          <p:nvPr/>
        </p:nvSpPr>
        <p:spPr>
          <a:xfrm xmlns:a="http://schemas.openxmlformats.org/drawingml/2006/main">
            <a:off x="723900" y="592455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Giảng viên: Chu Thị Minh Huệ</a:t>
            </a:r>
          </a:p>
        </p:txBody>
      </p:sp>
      <p:sp>
        <p:nvSpPr>
          <p:cNvPr id="11" name="">
            <a:extLst xmlns:a="http://schemas.openxmlformats.org/drawingml/2006/main">
              <a:ext uri="{FF2B5EF4-FFF2-40B4-BE49-F238E27FC236}">
                <a16:creationId xmlns:a16="http://schemas.microsoft.com/office/drawing/2014/main" id="{268BC60A-9774-4009-A66F-B6D2DB76DE07}"/>
              </a:ext>
            </a:extLst>
          </p:cNvPr>
          <p:cNvSpPr>
            <a:spLocks xmlns:a="http://schemas.openxmlformats.org/drawingml/2006/main" noGrp="1"/>
          </p:cNvSpPr>
          <p:nvPr/>
        </p:nvSpPr>
        <p:spPr>
          <a:xfrm xmlns:a="http://schemas.openxmlformats.org/drawingml/2006/main">
            <a:off x="723900" y="6229350"/>
            <a:ext cx="581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BFD7EA"/>
                </a:solidFill>
                <a:latin typeface="DejaVu Sans"/>
                <a:ea typeface="DejaVu Sans"/>
                <a:cs typeface="DejaVu Sans"/>
              </a:defRPr>
            </a:pPr>
            <a:r>
              <a:rPr sz="1125" b="0">
                <a:solidFill>
                  <a:srgbClr val="BFD7EA"/>
                </a:solidFill>
                <a:latin typeface="DejaVu Sans"/>
                <a:ea typeface="DejaVu Sans"/>
                <a:cs typeface="DejaVu Sans"/>
              </a:rPr>
              <a:t>Học phần: Lập trình nâng cao với C#</a:t>
            </a:r>
          </a:p>
        </p:txBody>
      </p:sp>
    </p:spTree>
    <p:extLst>
      <p:ext uri="{BB962C8B-B14F-4D97-AF65-F5344CB8AC3E}">
        <p14:creationId xmlns:p14="http://schemas.microsoft.com/office/powerpoint/2010/main" val="1319482328"/>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E3445C0-3549-4D81-B0D2-C90C9DF11FAA}"/>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C2FC311B-6846-4599-AC1E-615175D3C18E}"/>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7D6382F4-DC44-496E-9740-E8934970ADCC}"/>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Mục tiêu bài học</a:t>
            </a:r>
          </a:p>
        </p:txBody>
      </p:sp>
      <p:sp>
        <p:nvSpPr>
          <p:cNvPr id="4" name="">
            <a:extLst xmlns:a="http://schemas.openxmlformats.org/drawingml/2006/main">
              <a:ext uri="{FF2B5EF4-FFF2-40B4-BE49-F238E27FC236}">
                <a16:creationId xmlns:a16="http://schemas.microsoft.com/office/drawing/2014/main" id="{DBE04581-AE1D-4914-88B2-2E5B97050AC8}"/>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01C5492C-D220-4D43-9065-BA548EA96C8C}"/>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A48E9A56-F9E1-41BA-9FF0-4A094776787B}"/>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SAU BÀI HỌC, SINH VIÊN CÓ THỂ</a:t>
            </a:r>
          </a:p>
        </p:txBody>
      </p:sp>
      <p:sp>
        <p:nvSpPr>
          <p:cNvPr id="7" name="">
            <a:extLst xmlns:a="http://schemas.openxmlformats.org/drawingml/2006/main">
              <a:ext uri="{FF2B5EF4-FFF2-40B4-BE49-F238E27FC236}">
                <a16:creationId xmlns:a16="http://schemas.microsoft.com/office/drawing/2014/main" id="{3D135A0E-9A6F-4A1D-8B2F-4B984D521F2C}"/>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NỘI DUNG ÔN TẬP</a:t>
            </a:r>
          </a:p>
        </p:txBody>
      </p:sp>
      <p:sp>
        <p:nvSpPr>
          <p:cNvPr id="8" name="">
            <a:extLst xmlns:a="http://schemas.openxmlformats.org/drawingml/2006/main">
              <a:ext uri="{FF2B5EF4-FFF2-40B4-BE49-F238E27FC236}">
                <a16:creationId xmlns:a16="http://schemas.microsoft.com/office/drawing/2014/main" id="{3C61497B-DBC8-40D5-862A-BC881BB5F510}"/>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5AD8AF21-1FD4-449C-AA52-C6EA4861A1A0}"/>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8DFCD065-ECBA-41ED-8027-D6213C7EE29B}"/>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Nhận diện cấu trúc chương trình C#</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Sử dụng đúng kiểu dữ liệu và toán tử</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Viết cấu trúc điều khiển, phương thức và collections</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Tạo class đơn giản và xử lý ngoại lệ</a:t>
            </a:r>
          </a:p>
        </p:txBody>
      </p:sp>
      <p:sp>
        <p:nvSpPr>
          <p:cNvPr id="11" name="">
            <a:extLst xmlns:a="http://schemas.openxmlformats.org/drawingml/2006/main">
              <a:ext uri="{FF2B5EF4-FFF2-40B4-BE49-F238E27FC236}">
                <a16:creationId xmlns:a16="http://schemas.microsoft.com/office/drawing/2014/main" id="{29099105-515B-4943-8709-DE7F96552346}"/>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01  Cú pháp và kiểu dữ liệu</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02  Điều khiển luồng</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03  Methods và collections</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04  Class, object và exception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05  Bài thực hành tổng hợp</a:t>
            </a:r>
          </a:p>
        </p:txBody>
      </p:sp>
      <p:sp>
        <p:nvSpPr>
          <p:cNvPr id="12" name="">
            <a:extLst xmlns:a="http://schemas.openxmlformats.org/drawingml/2006/main">
              <a:ext uri="{FF2B5EF4-FFF2-40B4-BE49-F238E27FC236}">
                <a16:creationId xmlns:a16="http://schemas.microsoft.com/office/drawing/2014/main" id="{60EB96B7-3934-4CD1-AD99-4FC3565FB85E}"/>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5D85F5B1-BE24-453A-862C-0C1F9DE1DA70}"/>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463710322"/>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218216D-072B-42B8-A8F1-176446E2F3CE}"/>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E368FE0E-5113-471A-91F0-D35B838AB44F}"/>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1A782C24-A871-49D4-AB10-A43F1F4F139E}"/>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 giống và khác gì ngôn ngữ đã học?</a:t>
            </a:r>
          </a:p>
        </p:txBody>
      </p:sp>
      <p:sp>
        <p:nvSpPr>
          <p:cNvPr id="4" name="">
            <a:extLst xmlns:a="http://schemas.openxmlformats.org/drawingml/2006/main">
              <a:ext uri="{FF2B5EF4-FFF2-40B4-BE49-F238E27FC236}">
                <a16:creationId xmlns:a16="http://schemas.microsoft.com/office/drawing/2014/main" id="{CA9F6AF9-E89B-4DEB-BA82-EEB8C7129AED}"/>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3D1A392A-F4DD-49DC-8B8F-6AC8BBE3A576}"/>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03</a:t>
            </a:r>
          </a:p>
        </p:txBody>
      </p:sp>
      <p:sp>
        <p:nvSpPr>
          <p:cNvPr id="6" name="">
            <a:extLst xmlns:a="http://schemas.openxmlformats.org/drawingml/2006/main">
              <a:ext uri="{FF2B5EF4-FFF2-40B4-BE49-F238E27FC236}">
                <a16:creationId xmlns:a16="http://schemas.microsoft.com/office/drawing/2014/main" id="{3C9F3B30-C2FC-4ACE-903A-88E4F4670FD2}"/>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KIẾN THỨC CÓ THỂ TÁI SỬ DỤNG</a:t>
            </a:r>
          </a:p>
        </p:txBody>
      </p:sp>
      <p:sp>
        <p:nvSpPr>
          <p:cNvPr id="7" name="">
            <a:extLst xmlns:a="http://schemas.openxmlformats.org/drawingml/2006/main">
              <a:ext uri="{FF2B5EF4-FFF2-40B4-BE49-F238E27FC236}">
                <a16:creationId xmlns:a16="http://schemas.microsoft.com/office/drawing/2014/main" id="{0E70DC83-18E7-4548-A586-F9624C16A8CF}"/>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ĐIỂM CẦN CHÚ Ý TRONG C#</a:t>
            </a:r>
          </a:p>
        </p:txBody>
      </p:sp>
      <p:sp>
        <p:nvSpPr>
          <p:cNvPr id="8" name="">
            <a:extLst xmlns:a="http://schemas.openxmlformats.org/drawingml/2006/main">
              <a:ext uri="{FF2B5EF4-FFF2-40B4-BE49-F238E27FC236}">
                <a16:creationId xmlns:a16="http://schemas.microsoft.com/office/drawing/2014/main" id="{9A12A389-F547-41DE-93F9-535DE64AD69C}"/>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CADEBAE8-2F47-49A1-A86C-ADBF6D0653B0}"/>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FFF2E9"/>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452AF4E0-E28F-4E0D-9491-D790809D262D}"/>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Biến, biểu thức và toán tử</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if, switch, for, while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Hàm hoặc phương thức</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Class, object, inheritance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Exception handling</a:t>
            </a:r>
          </a:p>
        </p:txBody>
      </p:sp>
      <p:sp>
        <p:nvSpPr>
          <p:cNvPr id="11" name="">
            <a:extLst xmlns:a="http://schemas.openxmlformats.org/drawingml/2006/main">
              <a:ext uri="{FF2B5EF4-FFF2-40B4-BE49-F238E27FC236}">
                <a16:creationId xmlns:a16="http://schemas.microsoft.com/office/drawing/2014/main" id="{ABB1D6FD-D970-4280-A2B0-9B392CB036D8}"/>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Ngôn ngữ định kiểu mạnh (strongly typed)</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Mọi kiểu đều liên hệ với System.Object</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Property khác field</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Generic collections dùng kiểu T</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Quy ước PascalCase và camelCase</a:t>
            </a:r>
          </a:p>
        </p:txBody>
      </p:sp>
      <p:sp>
        <p:nvSpPr>
          <p:cNvPr id="12" name="">
            <a:extLst xmlns:a="http://schemas.openxmlformats.org/drawingml/2006/main">
              <a:ext uri="{FF2B5EF4-FFF2-40B4-BE49-F238E27FC236}">
                <a16:creationId xmlns:a16="http://schemas.microsoft.com/office/drawing/2014/main" id="{B9D8F83D-7586-4D66-B94B-7A38E2B2FB10}"/>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E1C10438-5C9D-483A-B73F-D0F41A964E2E}"/>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855008975"/>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65356A-0C3B-46E9-90B1-DC19CFB6642B}"/>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704415C7-D5E9-48B9-9EB5-6EFA9C073764}"/>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01EB2C9B-948B-40FA-B4A9-A18B83B8156C}"/>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Cấu trúc chương trình C#</a:t>
            </a:r>
          </a:p>
        </p:txBody>
      </p:sp>
      <p:sp>
        <p:nvSpPr>
          <p:cNvPr id="4" name="">
            <a:extLst xmlns:a="http://schemas.openxmlformats.org/drawingml/2006/main">
              <a:ext uri="{FF2B5EF4-FFF2-40B4-BE49-F238E27FC236}">
                <a16:creationId xmlns:a16="http://schemas.microsoft.com/office/drawing/2014/main" id="{720EA8FD-B17C-47B6-9DBE-D4B15F029969}"/>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0BA8E8A4-CCDC-46D1-96A9-AABDAE34FF18}"/>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04</a:t>
            </a:r>
          </a:p>
        </p:txBody>
      </p:sp>
      <p:sp>
        <p:nvSpPr>
          <p:cNvPr id="6" name="">
            <a:extLst xmlns:a="http://schemas.openxmlformats.org/drawingml/2006/main">
              <a:ext uri="{FF2B5EF4-FFF2-40B4-BE49-F238E27FC236}">
                <a16:creationId xmlns:a16="http://schemas.microsoft.com/office/drawing/2014/main" id="{8360EB47-5F5B-4431-A77C-E70BD8C9A864}"/>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Một chương trình console tối thiểu gồm namespace, class và Main.</a:t>
            </a:r>
          </a:p>
        </p:txBody>
      </p:sp>
      <p:sp>
        <p:nvSpPr>
          <p:cNvPr id="7" name="">
            <a:extLst xmlns:a="http://schemas.openxmlformats.org/drawingml/2006/main">
              <a:ext uri="{FF2B5EF4-FFF2-40B4-BE49-F238E27FC236}">
                <a16:creationId xmlns:a16="http://schemas.microsoft.com/office/drawing/2014/main" id="{7125A9D5-DFED-4A30-AA17-6357F342D3BF}"/>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8377C9C3-66A7-41AD-BACA-D32AE636FB3F}"/>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using System;</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namespace ReviewCSharp;</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class Program</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static void Main(string[] args)</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Console.WriteLine("Hello, C#!");</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8C73771D-B1A7-4E91-8894-E45EE9601BDE}"/>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1BE7315A-9E9D-417C-BD1B-9EBAFF90B0BE}"/>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AAB9F158-C4B5-40BA-BA28-C129C4E7CA67}"/>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using nhập namespace</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Main là điểm bắt đầu chương trình</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Dấu ; kết thúc câu lệnh</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Khối lệnh đặt trong { }</a:t>
            </a:r>
          </a:p>
        </p:txBody>
      </p:sp>
      <p:sp>
        <p:nvSpPr>
          <p:cNvPr id="12" name="">
            <a:extLst xmlns:a="http://schemas.openxmlformats.org/drawingml/2006/main">
              <a:ext uri="{FF2B5EF4-FFF2-40B4-BE49-F238E27FC236}">
                <a16:creationId xmlns:a16="http://schemas.microsoft.com/office/drawing/2014/main" id="{68086F97-8250-4155-AA85-E520814FF6F0}"/>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169E0953-C388-46B5-B636-66D777A13F8A}"/>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294278769"/>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B7F87CF-C047-4926-84D4-E379767A37F6}"/>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AA33C5D5-9B3B-4AD9-AF9E-CDB71B1F58BF}"/>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3B0E7EF2-4D26-459B-9EDC-BF23A291775D}"/>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Nhập và xuất dữ liệu</a:t>
            </a:r>
          </a:p>
        </p:txBody>
      </p:sp>
      <p:sp>
        <p:nvSpPr>
          <p:cNvPr id="4" name="">
            <a:extLst xmlns:a="http://schemas.openxmlformats.org/drawingml/2006/main">
              <a:ext uri="{FF2B5EF4-FFF2-40B4-BE49-F238E27FC236}">
                <a16:creationId xmlns:a16="http://schemas.microsoft.com/office/drawing/2014/main" id="{7E0346E5-4B9C-43B0-9022-296F5EDCDB9E}"/>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0A2FF883-ECFF-4FC5-9DB4-6D7FDD9D7D71}"/>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05</a:t>
            </a:r>
          </a:p>
        </p:txBody>
      </p:sp>
      <p:sp>
        <p:nvSpPr>
          <p:cNvPr id="6" name="">
            <a:extLst xmlns:a="http://schemas.openxmlformats.org/drawingml/2006/main">
              <a:ext uri="{FF2B5EF4-FFF2-40B4-BE49-F238E27FC236}">
                <a16:creationId xmlns:a16="http://schemas.microsoft.com/office/drawing/2014/main" id="{831CEDF1-B4B8-4360-94CD-07A228559C2F}"/>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Console.ReadLine trả về string, vì vậy thường cần chuyển kiểu.</a:t>
            </a:r>
          </a:p>
        </p:txBody>
      </p:sp>
      <p:sp>
        <p:nvSpPr>
          <p:cNvPr id="7" name="">
            <a:extLst xmlns:a="http://schemas.openxmlformats.org/drawingml/2006/main">
              <a:ext uri="{FF2B5EF4-FFF2-40B4-BE49-F238E27FC236}">
                <a16:creationId xmlns:a16="http://schemas.microsoft.com/office/drawing/2014/main" id="{80BABE16-0FA3-4A94-B48F-A914D3F48301}"/>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EF52FF7B-C62D-418D-9480-5F5E3982F644}"/>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Console.Write("Họ tên: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string name = Console.ReadLine() ??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Console.Write("Năm sinh: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int year = int.Parse(Console.ReadLine()!);</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int age = DateTime.Now.Year - year;</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Console.WriteLine($"{name}: {age} tuổi");</a:t>
            </a:r>
          </a:p>
        </p:txBody>
      </p:sp>
      <p:sp>
        <p:nvSpPr>
          <p:cNvPr id="9" name="">
            <a:extLst xmlns:a="http://schemas.openxmlformats.org/drawingml/2006/main">
              <a:ext uri="{FF2B5EF4-FFF2-40B4-BE49-F238E27FC236}">
                <a16:creationId xmlns:a16="http://schemas.microsoft.com/office/drawing/2014/main" id="{129D781E-EBD8-4E3B-B003-655D0BCFAEE3}"/>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2246E243-C9E7-4FBB-A748-2FC0475D7B24}"/>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B5FD1F76-E779-4D7F-8715-60A158C055DE}"/>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Write không xuống dòng</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WriteLine xuống dòng</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ReadLine có thể trả về null</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$"...{value}..." là string interpolation</a:t>
            </a:r>
          </a:p>
        </p:txBody>
      </p:sp>
      <p:sp>
        <p:nvSpPr>
          <p:cNvPr id="12" name="">
            <a:extLst xmlns:a="http://schemas.openxmlformats.org/drawingml/2006/main">
              <a:ext uri="{FF2B5EF4-FFF2-40B4-BE49-F238E27FC236}">
                <a16:creationId xmlns:a16="http://schemas.microsoft.com/office/drawing/2014/main" id="{7EB5BFB5-A044-437E-B724-5F55D5D41892}"/>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C79538C5-9E13-4AE5-ACDF-DC3A8D127CFC}"/>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10276939"/>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D7B5FDA-DAA5-4155-B3AD-A4642A431AA3}"/>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7A84BDE5-D998-46C2-A950-8C247E3BDB32}"/>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214464C6-540C-4DC0-A07C-CEA777484399}"/>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Hệ thống kiểu của C#</a:t>
            </a:r>
          </a:p>
        </p:txBody>
      </p:sp>
      <p:sp>
        <p:nvSpPr>
          <p:cNvPr id="4" name="">
            <a:extLst xmlns:a="http://schemas.openxmlformats.org/drawingml/2006/main">
              <a:ext uri="{FF2B5EF4-FFF2-40B4-BE49-F238E27FC236}">
                <a16:creationId xmlns:a16="http://schemas.microsoft.com/office/drawing/2014/main" id="{6F34F03C-8669-46C6-A041-FA733F96661F}"/>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6F0BFDD6-CD68-4212-B687-0CEC310615D8}"/>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06</a:t>
            </a:r>
          </a:p>
        </p:txBody>
      </p:sp>
      <p:sp>
        <p:nvSpPr>
          <p:cNvPr id="6" name="">
            <a:extLst xmlns:a="http://schemas.openxmlformats.org/drawingml/2006/main">
              <a:ext uri="{FF2B5EF4-FFF2-40B4-BE49-F238E27FC236}">
                <a16:creationId xmlns:a16="http://schemas.microsoft.com/office/drawing/2014/main" id="{AE2C8A5B-5E7D-490E-AD86-3B4D6352BE69}"/>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VALUE TYPES</a:t>
            </a:r>
          </a:p>
        </p:txBody>
      </p:sp>
      <p:sp>
        <p:nvSpPr>
          <p:cNvPr id="7" name="">
            <a:extLst xmlns:a="http://schemas.openxmlformats.org/drawingml/2006/main">
              <a:ext uri="{FF2B5EF4-FFF2-40B4-BE49-F238E27FC236}">
                <a16:creationId xmlns:a16="http://schemas.microsoft.com/office/drawing/2014/main" id="{E36BF28A-85BE-4306-A2AD-BCE5FE768B1C}"/>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REFERENCE TYPES</a:t>
            </a:r>
          </a:p>
        </p:txBody>
      </p:sp>
      <p:sp>
        <p:nvSpPr>
          <p:cNvPr id="8" name="">
            <a:extLst xmlns:a="http://schemas.openxmlformats.org/drawingml/2006/main">
              <a:ext uri="{FF2B5EF4-FFF2-40B4-BE49-F238E27FC236}">
                <a16:creationId xmlns:a16="http://schemas.microsoft.com/office/drawing/2014/main" id="{46EB1CEC-D14A-460A-8C87-E8A25CC5DA01}"/>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53D0E42C-528F-44C4-8B67-3956E15E7E5A}"/>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3A0706B5-F971-4277-8CD5-B799EB07341E}"/>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Lưu trực tiếp giá trị</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 long, float, double</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decimal, bool, char</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struct, enum</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Ví dụ:</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 a = 10;</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 b = a;</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b = 20; // a vẫn bằng 10</a:t>
            </a:r>
          </a:p>
        </p:txBody>
      </p:sp>
      <p:sp>
        <p:nvSpPr>
          <p:cNvPr id="11" name="">
            <a:extLst xmlns:a="http://schemas.openxmlformats.org/drawingml/2006/main">
              <a:ext uri="{FF2B5EF4-FFF2-40B4-BE49-F238E27FC236}">
                <a16:creationId xmlns:a16="http://schemas.microsoft.com/office/drawing/2014/main" id="{A15FA093-007D-499C-A7F7-0C5D7741749A}"/>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Biến lưu tham chiếu đến đối tượng</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string, array, class</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interface, delegate</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Ví dụ:</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 a = { 1, 2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 b = a;</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b[0] = 9; // a[0] cũng bằng 9</a:t>
            </a:r>
          </a:p>
        </p:txBody>
      </p:sp>
      <p:sp>
        <p:nvSpPr>
          <p:cNvPr id="12" name="">
            <a:extLst xmlns:a="http://schemas.openxmlformats.org/drawingml/2006/main">
              <a:ext uri="{FF2B5EF4-FFF2-40B4-BE49-F238E27FC236}">
                <a16:creationId xmlns:a16="http://schemas.microsoft.com/office/drawing/2014/main" id="{4A736EB0-22C0-4E3C-9BF3-5534D809B563}"/>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18BD4B20-0B0F-4E40-BF71-D8F38C5F8C06}"/>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022839639"/>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B9D0B81-395A-4C4A-B17C-D52D6F7E1220}"/>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33B6C7F1-4949-4AC3-8820-BEC82AB456C6}"/>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33AF3830-3F68-43B0-B1E3-ED687614C8F6}"/>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Biến, hằng và suy luận kiểu</a:t>
            </a:r>
          </a:p>
        </p:txBody>
      </p:sp>
      <p:sp>
        <p:nvSpPr>
          <p:cNvPr id="4" name="">
            <a:extLst xmlns:a="http://schemas.openxmlformats.org/drawingml/2006/main">
              <a:ext uri="{FF2B5EF4-FFF2-40B4-BE49-F238E27FC236}">
                <a16:creationId xmlns:a16="http://schemas.microsoft.com/office/drawing/2014/main" id="{B8F67BD6-0601-47AF-B0B6-D5BE42A4104D}"/>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24522171-C6C8-45C5-A3FD-62846284FC61}"/>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07</a:t>
            </a:r>
          </a:p>
        </p:txBody>
      </p:sp>
      <p:sp>
        <p:nvSpPr>
          <p:cNvPr id="6" name="">
            <a:extLst xmlns:a="http://schemas.openxmlformats.org/drawingml/2006/main">
              <a:ext uri="{FF2B5EF4-FFF2-40B4-BE49-F238E27FC236}">
                <a16:creationId xmlns:a16="http://schemas.microsoft.com/office/drawing/2014/main" id="{A225682E-FEDF-4EF3-A059-97C44B896623}"/>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Dùng kiểu tường minh khi cần làm rõ ý nghĩa; dùng var khi kiểu đã rõ ở vế phải.</a:t>
            </a:r>
          </a:p>
        </p:txBody>
      </p:sp>
      <p:sp>
        <p:nvSpPr>
          <p:cNvPr id="7" name="">
            <a:extLst xmlns:a="http://schemas.openxmlformats.org/drawingml/2006/main">
              <a:ext uri="{FF2B5EF4-FFF2-40B4-BE49-F238E27FC236}">
                <a16:creationId xmlns:a16="http://schemas.microsoft.com/office/drawing/2014/main" id="{86B9C6FF-16BB-40C5-85C5-20E25583A74D}"/>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3E5F5758-4AED-4080-9CE7-06679F31A59A}"/>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int quantity = 3;</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decimal unitPrice = 125_000m;</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const decimal VatRate = 0.08m;</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var subtotal = quantity * unitPrice;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var total = subtotal * (1 + VatRate);</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Console.WriteLine($"Tổng: {total:N0} đ");</a:t>
            </a:r>
          </a:p>
        </p:txBody>
      </p:sp>
      <p:sp>
        <p:nvSpPr>
          <p:cNvPr id="9" name="">
            <a:extLst xmlns:a="http://schemas.openxmlformats.org/drawingml/2006/main">
              <a:ext uri="{FF2B5EF4-FFF2-40B4-BE49-F238E27FC236}">
                <a16:creationId xmlns:a16="http://schemas.microsoft.com/office/drawing/2014/main" id="{572EAA96-476E-4F62-9FE2-6B1F8B59B01B}"/>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286026A9-2207-470D-85F6-0CFEB6C9507B}"/>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4BB0A703-0E90-4D6E-8CB2-15064939A1C0}"/>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const cần giá trị tại thời điểm biên dịch</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decimal phù hợp dữ liệu tiền tệ</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hậu tố m tạo literal decimal</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var vẫn là định kiểu tĩnh</a:t>
            </a:r>
          </a:p>
        </p:txBody>
      </p:sp>
      <p:sp>
        <p:nvSpPr>
          <p:cNvPr id="12" name="">
            <a:extLst xmlns:a="http://schemas.openxmlformats.org/drawingml/2006/main">
              <a:ext uri="{FF2B5EF4-FFF2-40B4-BE49-F238E27FC236}">
                <a16:creationId xmlns:a16="http://schemas.microsoft.com/office/drawing/2014/main" id="{7D24620B-3327-49A2-B5CF-173F19F3D983}"/>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AC085346-0F0A-497D-B7BC-037FE4D2D3AC}"/>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907634582"/>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CD61563-F3B5-442E-86C4-9F9E90760F7C}"/>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B9774874-92DB-4F44-AAF6-0B40A1DF79F7}"/>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BDBE34E4-CA9F-435A-9587-56343AA26425}"/>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Chuyển đổi kiểu dữ liệu</a:t>
            </a:r>
          </a:p>
        </p:txBody>
      </p:sp>
      <p:sp>
        <p:nvSpPr>
          <p:cNvPr id="4" name="">
            <a:extLst xmlns:a="http://schemas.openxmlformats.org/drawingml/2006/main">
              <a:ext uri="{FF2B5EF4-FFF2-40B4-BE49-F238E27FC236}">
                <a16:creationId xmlns:a16="http://schemas.microsoft.com/office/drawing/2014/main" id="{5BA02E36-55BF-485A-8DA5-0994968927FA}"/>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8D46A9AE-3156-4030-B205-0DD5414AE1AA}"/>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08</a:t>
            </a:r>
          </a:p>
        </p:txBody>
      </p:sp>
      <p:sp>
        <p:nvSpPr>
          <p:cNvPr id="6" name="">
            <a:extLst xmlns:a="http://schemas.openxmlformats.org/drawingml/2006/main">
              <a:ext uri="{FF2B5EF4-FFF2-40B4-BE49-F238E27FC236}">
                <a16:creationId xmlns:a16="http://schemas.microsoft.com/office/drawing/2014/main" id="{B9472DA3-D3D1-45B9-8F40-AB079E9DC31A}"/>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CHUYỂN ĐỔI AN TOÀN</a:t>
            </a:r>
          </a:p>
        </p:txBody>
      </p:sp>
      <p:sp>
        <p:nvSpPr>
          <p:cNvPr id="7" name="">
            <a:extLst xmlns:a="http://schemas.openxmlformats.org/drawingml/2006/main">
              <a:ext uri="{FF2B5EF4-FFF2-40B4-BE49-F238E27FC236}">
                <a16:creationId xmlns:a16="http://schemas.microsoft.com/office/drawing/2014/main" id="{8970C774-0579-443C-813C-677004E66303}"/>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CHUYỂN ĐỔI CÓ THỂ MẤT DỮ LIỆU</a:t>
            </a:r>
          </a:p>
        </p:txBody>
      </p:sp>
      <p:sp>
        <p:nvSpPr>
          <p:cNvPr id="8" name="">
            <a:extLst xmlns:a="http://schemas.openxmlformats.org/drawingml/2006/main">
              <a:ext uri="{FF2B5EF4-FFF2-40B4-BE49-F238E27FC236}">
                <a16:creationId xmlns:a16="http://schemas.microsoft.com/office/drawing/2014/main" id="{C190165E-10A9-4927-B7BC-5FA79606006C}"/>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5816FE88-6800-43F9-9D5B-D2E5CD434792}"/>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FFF2E9"/>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42A9E825-38F6-461C-98DB-C6E4C1447791}"/>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 count = 25;</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double x = count; // implicit</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string input = "42";</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bool ok = int.TryParse(input, out int n);</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if (ok) Console.WriteLine(n);</a:t>
            </a:r>
          </a:p>
        </p:txBody>
      </p:sp>
      <p:sp>
        <p:nvSpPr>
          <p:cNvPr id="11" name="">
            <a:extLst xmlns:a="http://schemas.openxmlformats.org/drawingml/2006/main">
              <a:ext uri="{FF2B5EF4-FFF2-40B4-BE49-F238E27FC236}">
                <a16:creationId xmlns:a16="http://schemas.microsoft.com/office/drawing/2014/main" id="{98FDD750-5047-4EA8-A9D4-80BB643A1027}"/>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double price = 19.95;</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 roundedDown = (int)price; // 19</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string bad = "abc";</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 n = int.Parse(bad);</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FormatException</a:t>
            </a:r>
          </a:p>
        </p:txBody>
      </p:sp>
      <p:sp>
        <p:nvSpPr>
          <p:cNvPr id="12" name="">
            <a:extLst xmlns:a="http://schemas.openxmlformats.org/drawingml/2006/main">
              <a:ext uri="{FF2B5EF4-FFF2-40B4-BE49-F238E27FC236}">
                <a16:creationId xmlns:a16="http://schemas.microsoft.com/office/drawing/2014/main" id="{4FFC7304-686B-4CE7-8D26-C6A082C4AFC7}"/>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169536DB-7077-4063-A680-D8BA6513090A}"/>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981584501"/>
      </p:ext>
    </p:extLst>
  </p:cSld>
</p:sld>
</file>

<file path=ppt/slides/slide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BE1D285-1A50-424D-8C0B-E339F0CFE1C2}"/>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DE644639-B2AC-4E8B-B11A-26E1D1782D06}"/>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98900B03-86AF-4E9D-97D7-11DF0E829EAC}"/>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Toán tử và biểu thức</a:t>
            </a:r>
          </a:p>
        </p:txBody>
      </p:sp>
      <p:sp>
        <p:nvSpPr>
          <p:cNvPr id="4" name="">
            <a:extLst xmlns:a="http://schemas.openxmlformats.org/drawingml/2006/main">
              <a:ext uri="{FF2B5EF4-FFF2-40B4-BE49-F238E27FC236}">
                <a16:creationId xmlns:a16="http://schemas.microsoft.com/office/drawing/2014/main" id="{C7DE3B9C-616D-4F55-A823-CEAA3598FA0A}"/>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4118B251-F75B-43C1-BAE4-EA77C8FB696F}"/>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09</a:t>
            </a:r>
          </a:p>
        </p:txBody>
      </p:sp>
      <p:sp>
        <p:nvSpPr>
          <p:cNvPr id="6" name="">
            <a:extLst xmlns:a="http://schemas.openxmlformats.org/drawingml/2006/main">
              <a:ext uri="{FF2B5EF4-FFF2-40B4-BE49-F238E27FC236}">
                <a16:creationId xmlns:a16="http://schemas.microsoft.com/office/drawing/2014/main" id="{26763B23-B164-4E11-809A-5FA3C19B934F}"/>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Chú ý phép chia số nguyên, độ ưu tiên và toán tử logic ngắn mạch.</a:t>
            </a:r>
          </a:p>
        </p:txBody>
      </p:sp>
      <p:sp>
        <p:nvSpPr>
          <p:cNvPr id="7" name="">
            <a:extLst xmlns:a="http://schemas.openxmlformats.org/drawingml/2006/main">
              <a:ext uri="{FF2B5EF4-FFF2-40B4-BE49-F238E27FC236}">
                <a16:creationId xmlns:a16="http://schemas.microsoft.com/office/drawing/2014/main" id="{20B5639B-D78C-4D50-8521-8907AA77D3F3}"/>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23E41E31-035E-42CC-ABB1-EC0C83C24306}"/>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int a = 7, b = 2;</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Console.WriteLine(a / b);        // 3</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Console.WriteLine((double)a/b); // 3.5</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bool eligible = age &gt;= 18 &amp;&amp; status == "Active";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int max = a &gt; b ? a : b;</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count++;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total += price;</a:t>
            </a:r>
          </a:p>
        </p:txBody>
      </p:sp>
      <p:sp>
        <p:nvSpPr>
          <p:cNvPr id="9" name="">
            <a:extLst xmlns:a="http://schemas.openxmlformats.org/drawingml/2006/main">
              <a:ext uri="{FF2B5EF4-FFF2-40B4-BE49-F238E27FC236}">
                <a16:creationId xmlns:a16="http://schemas.microsoft.com/office/drawing/2014/main" id="{3E7EF616-739A-4930-BC11-A80706146D66}"/>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DAA6D3A4-AE39-488D-82DC-D5A0603E3129}"/>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2CE06DDC-0936-4271-B476-CD87A5A91B5D}"/>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 trên hai số nguyên trả về số nguyên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&amp;&amp; và || sử dụng short-circuit</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condition ? a : b là toán tử ba ngôi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Dùng ngoặc để thể hiện chủ ý</a:t>
            </a:r>
          </a:p>
        </p:txBody>
      </p:sp>
      <p:sp>
        <p:nvSpPr>
          <p:cNvPr id="12" name="">
            <a:extLst xmlns:a="http://schemas.openxmlformats.org/drawingml/2006/main">
              <a:ext uri="{FF2B5EF4-FFF2-40B4-BE49-F238E27FC236}">
                <a16:creationId xmlns:a16="http://schemas.microsoft.com/office/drawing/2014/main" id="{1DEE230C-1778-4609-A048-84733B2088B2}"/>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FA040CE6-09D6-4FF0-AB0E-89F29DEF23A0}"/>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319889449"/>
      </p:ext>
    </p:extLst>
  </p:cSld>
</p:sld>
</file>

<file path=ppt/slides/slide1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A98B9B0-BB81-46F0-A885-DCC20A3895E1}"/>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5F29A4B8-FFDB-4F07-9FD8-F0BF983F6B2B}"/>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26A9CF55-7B58-45AA-B128-F3940E15E81D}"/>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Làm việc với chuỗi</a:t>
            </a:r>
          </a:p>
        </p:txBody>
      </p:sp>
      <p:sp>
        <p:nvSpPr>
          <p:cNvPr id="4" name="">
            <a:extLst xmlns:a="http://schemas.openxmlformats.org/drawingml/2006/main">
              <a:ext uri="{FF2B5EF4-FFF2-40B4-BE49-F238E27FC236}">
                <a16:creationId xmlns:a16="http://schemas.microsoft.com/office/drawing/2014/main" id="{BA3BB9D3-B02F-47B0-BB5E-276DE2D0A565}"/>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E8DCAF07-A301-45E7-9201-106F656B29BA}"/>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69FE8D4D-A35A-4200-9EA2-EAE646C9444E}"/>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string là reference type nhưng bất biến (immutable). Mỗi phép sửa tạo chuỗi mới.</a:t>
            </a:r>
          </a:p>
        </p:txBody>
      </p:sp>
      <p:sp>
        <p:nvSpPr>
          <p:cNvPr id="7" name="">
            <a:extLst xmlns:a="http://schemas.openxmlformats.org/drawingml/2006/main">
              <a:ext uri="{FF2B5EF4-FFF2-40B4-BE49-F238E27FC236}">
                <a16:creationId xmlns:a16="http://schemas.microsoft.com/office/drawing/2014/main" id="{780B70A9-B772-40D0-AA9E-A23299BC04F8}"/>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4B5845E9-FE02-4F8F-9B63-75FA1B2A40F7}"/>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string first = "Minh";</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string last = "Huệ";</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string fullName = $"{first} {last}";</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Console.WriteLine(fullName.Length);</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Console.WriteLine(fullName.ToUpper());</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Console.WriteLine(fullName.Contains("Huệ"));</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string code = "  CSE3010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Console.WriteLine(code.Trim());</a:t>
            </a:r>
          </a:p>
        </p:txBody>
      </p:sp>
      <p:sp>
        <p:nvSpPr>
          <p:cNvPr id="9" name="">
            <a:extLst xmlns:a="http://schemas.openxmlformats.org/drawingml/2006/main">
              <a:ext uri="{FF2B5EF4-FFF2-40B4-BE49-F238E27FC236}">
                <a16:creationId xmlns:a16="http://schemas.microsoft.com/office/drawing/2014/main" id="{7A9FF1D7-DBC3-4F30-98FB-4C3095400236}"/>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AE613FA1-2ACB-4DE4-BD03-6585D63B726C}"/>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59782D3C-81A2-47AF-9144-6FB52DB5B297}"/>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76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Ưu tiên string interpolation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So sánh chuỗi cần chú ý hoa thường</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Trim loại khoảng trắng hai đầu</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Chuỗi lớn lặp lại nhiều lần: cân nhắc StringBuilder</a:t>
            </a:r>
          </a:p>
        </p:txBody>
      </p:sp>
      <p:sp>
        <p:nvSpPr>
          <p:cNvPr id="12" name="">
            <a:extLst xmlns:a="http://schemas.openxmlformats.org/drawingml/2006/main">
              <a:ext uri="{FF2B5EF4-FFF2-40B4-BE49-F238E27FC236}">
                <a16:creationId xmlns:a16="http://schemas.microsoft.com/office/drawing/2014/main" id="{C5A791A6-1F82-4654-9976-35DEBBF4CC63}"/>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92E4F856-7D0E-40AA-B64C-39F1D5F13AB9}"/>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894802848"/>
      </p:ext>
    </p:extLst>
  </p:cSld>
</p:sld>
</file>

<file path=ppt/slides/slide1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16CEC8-4E7A-4F4A-BC86-0EAEC01CADF1}"/>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B2B69EA2-D764-4F17-84BC-09DF23642DB2}"/>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48FE51EE-0708-4ADE-87EF-6247E05BB7B6}"/>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Rẽ nhánh với if</a:t>
            </a:r>
          </a:p>
        </p:txBody>
      </p:sp>
      <p:sp>
        <p:nvSpPr>
          <p:cNvPr id="4" name="">
            <a:extLst xmlns:a="http://schemas.openxmlformats.org/drawingml/2006/main">
              <a:ext uri="{FF2B5EF4-FFF2-40B4-BE49-F238E27FC236}">
                <a16:creationId xmlns:a16="http://schemas.microsoft.com/office/drawing/2014/main" id="{58157DD9-CDD7-4053-9CA5-6829850957D2}"/>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D8696C02-BBB2-49F0-9FD3-011D4B423B9A}"/>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969A5109-C3CF-4782-958D-63504B2A5761}"/>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Biểu thức điều kiện phải trả về bool.</a:t>
            </a:r>
          </a:p>
        </p:txBody>
      </p:sp>
      <p:sp>
        <p:nvSpPr>
          <p:cNvPr id="7" name="">
            <a:extLst xmlns:a="http://schemas.openxmlformats.org/drawingml/2006/main">
              <a:ext uri="{FF2B5EF4-FFF2-40B4-BE49-F238E27FC236}">
                <a16:creationId xmlns:a16="http://schemas.microsoft.com/office/drawing/2014/main" id="{5278C5F2-FC94-42AA-8AC1-69ABB4EF79BF}"/>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01FFEA16-0CF4-4F0F-91B4-27820B668468}"/>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double score = 7.8;</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if (score &gt;= 8.5)</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Console.WriteLine("A");</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else if (score &gt;= 7.0)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Console.WriteLine("B");</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else if (score &gt;= 5.5)</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Console.WriteLine("C");</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else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Console.WriteLine("F");</a:t>
            </a:r>
          </a:p>
        </p:txBody>
      </p:sp>
      <p:sp>
        <p:nvSpPr>
          <p:cNvPr id="9" name="">
            <a:extLst xmlns:a="http://schemas.openxmlformats.org/drawingml/2006/main">
              <a:ext uri="{FF2B5EF4-FFF2-40B4-BE49-F238E27FC236}">
                <a16:creationId xmlns:a16="http://schemas.microsoft.com/office/drawing/2014/main" id="{C00E3198-E452-491A-8574-67F2A1F72325}"/>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4C268984-B453-4B75-AACA-125BF57E7D6A}"/>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0AD64E0A-C2D9-4F78-8F89-4DCA3C73E6B7}"/>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Thứ tự điều kiện ảnh hưởng kết quả</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Luôn dùng { } khi khối lệnh phức tạp</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Tránh lồng if quá sâu</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Tách logic thành method khi cần</a:t>
            </a:r>
          </a:p>
        </p:txBody>
      </p:sp>
      <p:sp>
        <p:nvSpPr>
          <p:cNvPr id="12" name="">
            <a:extLst xmlns:a="http://schemas.openxmlformats.org/drawingml/2006/main">
              <a:ext uri="{FF2B5EF4-FFF2-40B4-BE49-F238E27FC236}">
                <a16:creationId xmlns:a16="http://schemas.microsoft.com/office/drawing/2014/main" id="{2935893F-5011-4159-8DFD-E22750D2AED9}"/>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A784F435-5F5A-4C4F-BC8C-1B29105C47E1}"/>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688818462"/>
      </p:ext>
    </p:extLst>
  </p:cSld>
</p:sld>
</file>

<file path=ppt/slides/slide1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1385F01-040F-4A03-96DE-9247177AE505}"/>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9F3F946A-6429-4CDC-83F8-AE15BF16DB10}"/>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2C6F3CAA-3457-48D6-856E-908C9552D2D2}"/>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switch và pattern matching</a:t>
            </a:r>
          </a:p>
        </p:txBody>
      </p:sp>
      <p:sp>
        <p:nvSpPr>
          <p:cNvPr id="4" name="">
            <a:extLst xmlns:a="http://schemas.openxmlformats.org/drawingml/2006/main">
              <a:ext uri="{FF2B5EF4-FFF2-40B4-BE49-F238E27FC236}">
                <a16:creationId xmlns:a16="http://schemas.microsoft.com/office/drawing/2014/main" id="{85946FC3-2122-4594-BA81-8106EB54F098}"/>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42AF0CD1-A167-4713-8C39-0479CEDB3C07}"/>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CE8F9489-A980-46B2-ABB5-A71DA73C36DF}"/>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switch expression phù hợp khi ánh xạ một giá trị sang kết quả.</a:t>
            </a:r>
          </a:p>
        </p:txBody>
      </p:sp>
      <p:sp>
        <p:nvSpPr>
          <p:cNvPr id="7" name="">
            <a:extLst xmlns:a="http://schemas.openxmlformats.org/drawingml/2006/main">
              <a:ext uri="{FF2B5EF4-FFF2-40B4-BE49-F238E27FC236}">
                <a16:creationId xmlns:a16="http://schemas.microsoft.com/office/drawing/2014/main" id="{9B11140A-2CE8-4602-85BC-C41A42CBF1C1}"/>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15DAEA78-67D2-4139-BB01-9C35E8464341}"/>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string rank = score switch</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&gt;= 8.5 =&gt; "A",</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&gt;= 7.0 =&gt; "B",</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&gt;= 5.5 =&gt; "C",</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_      =&gt; "F"</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string message = day switch</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DayOfWeek.Saturday or DayOfWeek.Sunday =&gt; "Cuối tuần",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_ =&gt; "Ngày làm việc"</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3C099D39-09F0-48E3-AF02-F93A1C58405D}"/>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95A2F2C6-CDC4-4486-8584-85595C25AFA8}"/>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120E12D7-F0B7-49D1-87B8-9A3588406D92}"/>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_ là trường hợp còn lại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Mỗi nhánh trả về một giá trị</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Pattern có thể kiểm tra kiểu, giá trị và khoảng</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Dùng khi rõ hơn chuỗi if–else</a:t>
            </a:r>
          </a:p>
        </p:txBody>
      </p:sp>
      <p:sp>
        <p:nvSpPr>
          <p:cNvPr id="12" name="">
            <a:extLst xmlns:a="http://schemas.openxmlformats.org/drawingml/2006/main">
              <a:ext uri="{FF2B5EF4-FFF2-40B4-BE49-F238E27FC236}">
                <a16:creationId xmlns:a16="http://schemas.microsoft.com/office/drawing/2014/main" id="{9364D1E7-0EAE-4732-B947-4AFA55B787F1}"/>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D3BEA83D-4978-4531-A162-FD7EB0771AFE}"/>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518166277"/>
      </p:ext>
    </p:extLst>
  </p:cSld>
</p:sld>
</file>

<file path=ppt/slides/slide1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F7D228-A743-4550-880B-5DCE79691F5C}"/>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FAA2EDD6-D8F9-4B52-9510-AF27A5A309D0}"/>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262BA2DD-6277-4ECC-A8AF-A7CEBFF5AD7D}"/>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Vòng lặp for, while và foreach</a:t>
            </a:r>
          </a:p>
        </p:txBody>
      </p:sp>
      <p:sp>
        <p:nvSpPr>
          <p:cNvPr id="4" name="">
            <a:extLst xmlns:a="http://schemas.openxmlformats.org/drawingml/2006/main">
              <a:ext uri="{FF2B5EF4-FFF2-40B4-BE49-F238E27FC236}">
                <a16:creationId xmlns:a16="http://schemas.microsoft.com/office/drawing/2014/main" id="{5C7BCBED-4406-4968-8A81-5D55BB634EDD}"/>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53C93492-159A-44C5-B997-D576B3F5523F}"/>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4FE02B80-2008-4A95-895C-352D1FC8EB35}"/>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Chọn vòng lặp theo cách duyệt, không theo thói quen.</a:t>
            </a:r>
          </a:p>
        </p:txBody>
      </p:sp>
      <p:sp>
        <p:nvSpPr>
          <p:cNvPr id="7" name="">
            <a:extLst xmlns:a="http://schemas.openxmlformats.org/drawingml/2006/main">
              <a:ext uri="{FF2B5EF4-FFF2-40B4-BE49-F238E27FC236}">
                <a16:creationId xmlns:a16="http://schemas.microsoft.com/office/drawing/2014/main" id="{8CE4EEB0-A99D-4BCF-AE44-216D7E62D050}"/>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F6660302-2E3B-4CA2-B909-8F3EC27413A2}"/>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for (int i = 0; i &lt; scores.Length; i++)</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Console.WriteLine($"{i}: {scores[i]}");</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foreach (double score in scores)</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Console.WriteLine(score);</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while (input != "q")</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input = Console.ReadLine();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3B581ED0-F0C5-48A1-8833-16515F5FFF30}"/>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792796B5-7762-4572-9D68-CAE0238B6177}"/>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9BBE6002-9162-4125-BAA1-BE8A72847041}"/>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for khi cần chỉ số</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foreach khi duyệt toàn bộ collection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while khi chưa biết số lần lặp</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break kết thúc, continue bỏ qua lượt hiện tại</a:t>
            </a:r>
          </a:p>
        </p:txBody>
      </p:sp>
      <p:sp>
        <p:nvSpPr>
          <p:cNvPr id="12" name="">
            <a:extLst xmlns:a="http://schemas.openxmlformats.org/drawingml/2006/main">
              <a:ext uri="{FF2B5EF4-FFF2-40B4-BE49-F238E27FC236}">
                <a16:creationId xmlns:a16="http://schemas.microsoft.com/office/drawing/2014/main" id="{BC4E8257-FBDA-4311-B07E-94DFC431C4C2}"/>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F1674BF8-D2C5-4996-85F2-1C27C0530FA4}"/>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800619960"/>
      </p:ext>
    </p:extLst>
  </p:cSld>
</p:sld>
</file>

<file path=ppt/slides/slide1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5DFDE5A-B46C-4A22-9CAB-A2EE81252468}"/>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0E209943-5B58-47FD-B91F-93976B32D9A8}"/>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99FCD28A-80FF-4C63-9BC1-1946311C02CC}"/>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Phương thức (Method)</a:t>
            </a:r>
          </a:p>
        </p:txBody>
      </p:sp>
      <p:sp>
        <p:nvSpPr>
          <p:cNvPr id="4" name="">
            <a:extLst xmlns:a="http://schemas.openxmlformats.org/drawingml/2006/main">
              <a:ext uri="{FF2B5EF4-FFF2-40B4-BE49-F238E27FC236}">
                <a16:creationId xmlns:a16="http://schemas.microsoft.com/office/drawing/2014/main" id="{B7C06E60-9135-488F-9E60-81D2B0879591}"/>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3527CEC3-28D2-405F-B56B-13C96F52FB90}"/>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14</a:t>
            </a:r>
          </a:p>
        </p:txBody>
      </p:sp>
      <p:sp>
        <p:nvSpPr>
          <p:cNvPr id="6" name="">
            <a:extLst xmlns:a="http://schemas.openxmlformats.org/drawingml/2006/main">
              <a:ext uri="{FF2B5EF4-FFF2-40B4-BE49-F238E27FC236}">
                <a16:creationId xmlns:a16="http://schemas.microsoft.com/office/drawing/2014/main" id="{7E581B65-E936-426F-9661-69C310B8D891}"/>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Method đóng gói một nhiệm vụ, có tên thể hiện hành động và trách nhiệm rõ ràng.</a:t>
            </a:r>
          </a:p>
        </p:txBody>
      </p:sp>
      <p:sp>
        <p:nvSpPr>
          <p:cNvPr id="7" name="">
            <a:extLst xmlns:a="http://schemas.openxmlformats.org/drawingml/2006/main">
              <a:ext uri="{FF2B5EF4-FFF2-40B4-BE49-F238E27FC236}">
                <a16:creationId xmlns:a16="http://schemas.microsoft.com/office/drawing/2014/main" id="{73A2E9C3-3F5C-423B-875D-4808C931FDBE}"/>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BFCB9165-1687-4338-9935-A743E3F026AD}"/>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static decimal CalculateTotal(</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int quantity, decimal unitPrice)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if (quantity &lt;= 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throw new ArgumentOutOfRangeException(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nameof(quantity));</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return quantity * unitPrice;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decimal total = CalculateTotal(3, 125_000m);</a:t>
            </a:r>
          </a:p>
        </p:txBody>
      </p:sp>
      <p:sp>
        <p:nvSpPr>
          <p:cNvPr id="9" name="">
            <a:extLst xmlns:a="http://schemas.openxmlformats.org/drawingml/2006/main">
              <a:ext uri="{FF2B5EF4-FFF2-40B4-BE49-F238E27FC236}">
                <a16:creationId xmlns:a16="http://schemas.microsoft.com/office/drawing/2014/main" id="{9BA38298-7F09-479C-BDDB-6ECA130B3BA5}"/>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81FFB25C-55CA-43E4-AAF3-35E6A250C15D}"/>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C191BA76-BF5B-4BED-BC7B-531BF04E971B}"/>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Tên method dùng PascalCase</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Tham số dùng camelCase</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return kết thúc method và trả kết quả</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Một method nên thực hiện một nhiệm vụ</a:t>
            </a:r>
          </a:p>
        </p:txBody>
      </p:sp>
      <p:sp>
        <p:nvSpPr>
          <p:cNvPr id="12" name="">
            <a:extLst xmlns:a="http://schemas.openxmlformats.org/drawingml/2006/main">
              <a:ext uri="{FF2B5EF4-FFF2-40B4-BE49-F238E27FC236}">
                <a16:creationId xmlns:a16="http://schemas.microsoft.com/office/drawing/2014/main" id="{4716958F-AE3D-4DAB-8D01-8AB97E6CC720}"/>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7B11C2DC-10F3-47E0-A159-AB2AAA87981E}"/>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325260493"/>
      </p:ext>
    </p:extLst>
  </p:cSld>
</p:sld>
</file>

<file path=ppt/slides/slide1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AEB1673-35E5-42F2-8623-41A95770747C}"/>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C8EBF698-ED98-4FC2-A382-DEF8D02489D5}"/>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89F90AE5-213B-41AE-A121-F9A231055CEB}"/>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Tham số trong C#</a:t>
            </a:r>
          </a:p>
        </p:txBody>
      </p:sp>
      <p:sp>
        <p:nvSpPr>
          <p:cNvPr id="4" name="">
            <a:extLst xmlns:a="http://schemas.openxmlformats.org/drawingml/2006/main">
              <a:ext uri="{FF2B5EF4-FFF2-40B4-BE49-F238E27FC236}">
                <a16:creationId xmlns:a16="http://schemas.microsoft.com/office/drawing/2014/main" id="{B006C134-B6A9-4243-A2D8-C279415C9CA4}"/>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F9711291-254A-40E4-A5C5-97AE448F21DF}"/>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15</a:t>
            </a:r>
          </a:p>
        </p:txBody>
      </p:sp>
      <p:sp>
        <p:nvSpPr>
          <p:cNvPr id="6" name="">
            <a:extLst xmlns:a="http://schemas.openxmlformats.org/drawingml/2006/main">
              <a:ext uri="{FF2B5EF4-FFF2-40B4-BE49-F238E27FC236}">
                <a16:creationId xmlns:a16="http://schemas.microsoft.com/office/drawing/2014/main" id="{034A70FD-7C62-427D-BDB8-415E22C5314E}"/>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CÁCH TRUYỀN PHỔ BIẾN</a:t>
            </a:r>
          </a:p>
        </p:txBody>
      </p:sp>
      <p:sp>
        <p:nvSpPr>
          <p:cNvPr id="7" name="">
            <a:extLst xmlns:a="http://schemas.openxmlformats.org/drawingml/2006/main">
              <a:ext uri="{FF2B5EF4-FFF2-40B4-BE49-F238E27FC236}">
                <a16:creationId xmlns:a16="http://schemas.microsoft.com/office/drawing/2014/main" id="{F09ACE75-79A0-4734-BF0A-053394B50A7B}"/>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CÁC TỪ KHÓA CẦN NHỚ</a:t>
            </a:r>
          </a:p>
        </p:txBody>
      </p:sp>
      <p:sp>
        <p:nvSpPr>
          <p:cNvPr id="8" name="">
            <a:extLst xmlns:a="http://schemas.openxmlformats.org/drawingml/2006/main">
              <a:ext uri="{FF2B5EF4-FFF2-40B4-BE49-F238E27FC236}">
                <a16:creationId xmlns:a16="http://schemas.microsoft.com/office/drawing/2014/main" id="{0E21A6D3-6617-4052-BB8A-69F5826D7A10}"/>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2769CED8-9C89-4D48-B5DD-B41F731B9AA9}"/>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B0BF7AF0-09D6-4D6D-9527-66FCB10849C7}"/>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void Print(string text, int copies = 1)</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for (int i = 0; i &lt; copies; i++)</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Console.WriteLine(text);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Print("Hello");</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Print(text: "C#", copies: 3);</a:t>
            </a:r>
          </a:p>
        </p:txBody>
      </p:sp>
      <p:sp>
        <p:nvSpPr>
          <p:cNvPr id="11" name="">
            <a:extLst xmlns:a="http://schemas.openxmlformats.org/drawingml/2006/main">
              <a:ext uri="{FF2B5EF4-FFF2-40B4-BE49-F238E27FC236}">
                <a16:creationId xmlns:a16="http://schemas.microsoft.com/office/drawing/2014/main" id="{4F7333F8-FD7B-4099-B75D-B9EBCDAC960E}"/>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ref   // truyền tham chiếu, phải gán trước</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out   // method phải gán giá trị</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    // chỉ đọc trong method</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params // số lượng đối số thay đổi</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bool ok = int.TryParse("25", out int value);</a:t>
            </a:r>
          </a:p>
        </p:txBody>
      </p:sp>
      <p:sp>
        <p:nvSpPr>
          <p:cNvPr id="12" name="">
            <a:extLst xmlns:a="http://schemas.openxmlformats.org/drawingml/2006/main">
              <a:ext uri="{FF2B5EF4-FFF2-40B4-BE49-F238E27FC236}">
                <a16:creationId xmlns:a16="http://schemas.microsoft.com/office/drawing/2014/main" id="{6AF12F1E-DF78-46F3-A017-4EF6086234E6}"/>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5C4342A0-DFD7-4C20-9F27-0544EFEBED8E}"/>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982081819"/>
      </p:ext>
    </p:extLst>
  </p:cSld>
</p:sld>
</file>

<file path=ppt/slides/slide1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C5CE072-815A-401C-AC2C-C6983421729F}"/>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F9C8D709-3230-488F-B259-0240009F3472}"/>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C48FDEB3-14D9-43AB-B990-7EA1CF8E9D43}"/>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Array và List&lt;T&gt;</a:t>
            </a:r>
          </a:p>
        </p:txBody>
      </p:sp>
      <p:sp>
        <p:nvSpPr>
          <p:cNvPr id="4" name="">
            <a:extLst xmlns:a="http://schemas.openxmlformats.org/drawingml/2006/main">
              <a:ext uri="{FF2B5EF4-FFF2-40B4-BE49-F238E27FC236}">
                <a16:creationId xmlns:a16="http://schemas.microsoft.com/office/drawing/2014/main" id="{18842957-50FC-40EA-9DD1-4A473C6717E9}"/>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94265B9D-C985-432F-88C4-EA3F8382C548}"/>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16</a:t>
            </a:r>
          </a:p>
        </p:txBody>
      </p:sp>
      <p:sp>
        <p:nvSpPr>
          <p:cNvPr id="6" name="">
            <a:extLst xmlns:a="http://schemas.openxmlformats.org/drawingml/2006/main">
              <a:ext uri="{FF2B5EF4-FFF2-40B4-BE49-F238E27FC236}">
                <a16:creationId xmlns:a16="http://schemas.microsoft.com/office/drawing/2014/main" id="{4CFF7B95-B376-4D64-94FA-9E14C3EB6F6F}"/>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ARRAY: KÍCH THƯỚC CỐ ĐỊNH</a:t>
            </a:r>
          </a:p>
        </p:txBody>
      </p:sp>
      <p:sp>
        <p:nvSpPr>
          <p:cNvPr id="7" name="">
            <a:extLst xmlns:a="http://schemas.openxmlformats.org/drawingml/2006/main">
              <a:ext uri="{FF2B5EF4-FFF2-40B4-BE49-F238E27FC236}">
                <a16:creationId xmlns:a16="http://schemas.microsoft.com/office/drawing/2014/main" id="{BF1345B9-9876-4474-877C-258C3895DB68}"/>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LIST&lt;T&gt;: KÍCH THƯỚC LINH HOẠT</a:t>
            </a:r>
          </a:p>
        </p:txBody>
      </p:sp>
      <p:sp>
        <p:nvSpPr>
          <p:cNvPr id="8" name="">
            <a:extLst xmlns:a="http://schemas.openxmlformats.org/drawingml/2006/main">
              <a:ext uri="{FF2B5EF4-FFF2-40B4-BE49-F238E27FC236}">
                <a16:creationId xmlns:a16="http://schemas.microsoft.com/office/drawing/2014/main" id="{06F45506-56C5-474F-A0AB-8EA545402933}"/>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4F96644E-1BFA-40A7-B4BB-A71AB80441DF}"/>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E4F4ED"/>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344D30C3-AD87-40A2-A171-A829011554BA}"/>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 scores = { 8, 6, 9, 7 };</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scores[1] = 10;</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Array.Sort(scores);</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foreach (int score in scores)</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Console.WriteLine(score);</a:t>
            </a:r>
          </a:p>
        </p:txBody>
      </p:sp>
      <p:sp>
        <p:nvSpPr>
          <p:cNvPr id="11" name="">
            <a:extLst xmlns:a="http://schemas.openxmlformats.org/drawingml/2006/main">
              <a:ext uri="{FF2B5EF4-FFF2-40B4-BE49-F238E27FC236}">
                <a16:creationId xmlns:a16="http://schemas.microsoft.com/office/drawing/2014/main" id="{16CD92C6-2D84-4525-B79B-A958233A89EB}"/>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List&lt;string&gt; students = new();</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students.Add("An");</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students.Add("Bình");</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students.Remove("An");</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Console.WriteLine(students.Count);</a:t>
            </a:r>
          </a:p>
        </p:txBody>
      </p:sp>
      <p:sp>
        <p:nvSpPr>
          <p:cNvPr id="12" name="">
            <a:extLst xmlns:a="http://schemas.openxmlformats.org/drawingml/2006/main">
              <a:ext uri="{FF2B5EF4-FFF2-40B4-BE49-F238E27FC236}">
                <a16:creationId xmlns:a16="http://schemas.microsoft.com/office/drawing/2014/main" id="{FCE2D1C0-784F-4462-B01F-F62FEB868040}"/>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718E96B7-640A-4F7F-9D7B-9A0112ACFEEA}"/>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451680587"/>
      </p:ext>
    </p:extLst>
  </p:cSld>
</p:sld>
</file>

<file path=ppt/slides/slide1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6CE0370-EE8F-41C0-81A6-140A6A3E9EDA}"/>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CA6ED151-0903-4A4E-9883-09BC2AA980F2}"/>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CAADF199-3300-4AAD-99CC-3F2CF3F5CB88}"/>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Dictionary&lt;TKey, TValue&gt;</a:t>
            </a:r>
          </a:p>
        </p:txBody>
      </p:sp>
      <p:sp>
        <p:nvSpPr>
          <p:cNvPr id="4" name="">
            <a:extLst xmlns:a="http://schemas.openxmlformats.org/drawingml/2006/main">
              <a:ext uri="{FF2B5EF4-FFF2-40B4-BE49-F238E27FC236}">
                <a16:creationId xmlns:a16="http://schemas.microsoft.com/office/drawing/2014/main" id="{E67C473B-0916-4CB5-8192-39AFB1E14F8D}"/>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140FC916-EE25-4EFE-81BE-0F977D8BF855}"/>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17</a:t>
            </a:r>
          </a:p>
        </p:txBody>
      </p:sp>
      <p:sp>
        <p:nvSpPr>
          <p:cNvPr id="6" name="">
            <a:extLst xmlns:a="http://schemas.openxmlformats.org/drawingml/2006/main">
              <a:ext uri="{FF2B5EF4-FFF2-40B4-BE49-F238E27FC236}">
                <a16:creationId xmlns:a16="http://schemas.microsoft.com/office/drawing/2014/main" id="{F79B6779-C3A5-463E-8424-C9155DEDBBD3}"/>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Dictionary lưu dữ liệu theo cặp khóa–giá trị; khóa phải duy nhất.</a:t>
            </a:r>
          </a:p>
        </p:txBody>
      </p:sp>
      <p:sp>
        <p:nvSpPr>
          <p:cNvPr id="7" name="">
            <a:extLst xmlns:a="http://schemas.openxmlformats.org/drawingml/2006/main">
              <a:ext uri="{FF2B5EF4-FFF2-40B4-BE49-F238E27FC236}">
                <a16:creationId xmlns:a16="http://schemas.microsoft.com/office/drawing/2014/main" id="{EFF28A15-4194-4A82-ADF7-F473729A0D00}"/>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C0EEC06E-1683-4440-936A-752F1741A293}"/>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Dictionary&lt;string, double&gt; grades = new()</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["SV001"] = 8.5,</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["SV002"] = 7.0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grades["SV003"] = 9.0;</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if (grades.TryGetValue("SV001", out double grade))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Console.WriteLine(grade);</a:t>
            </a:r>
          </a:p>
        </p:txBody>
      </p:sp>
      <p:sp>
        <p:nvSpPr>
          <p:cNvPr id="9" name="">
            <a:extLst xmlns:a="http://schemas.openxmlformats.org/drawingml/2006/main">
              <a:ext uri="{FF2B5EF4-FFF2-40B4-BE49-F238E27FC236}">
                <a16:creationId xmlns:a16="http://schemas.microsoft.com/office/drawing/2014/main" id="{07248ED3-AD93-4ECC-9706-F41B6365C564}"/>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DC1EEB9A-5AC5-4B1F-902B-2B84BFAE1C7A}"/>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95911AAB-4C69-4CDC-BA0A-FC287FFBC7D8}"/>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495"/>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Truy cập nhanh theo khóa</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Dùng TryGetValue để tránh KeyNotFoundException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TKey và TValue có thể là kiểu tùy chỉnh</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Phù hợp tra cứu mã → đối tượng</a:t>
            </a:r>
          </a:p>
        </p:txBody>
      </p:sp>
      <p:sp>
        <p:nvSpPr>
          <p:cNvPr id="12" name="">
            <a:extLst xmlns:a="http://schemas.openxmlformats.org/drawingml/2006/main">
              <a:ext uri="{FF2B5EF4-FFF2-40B4-BE49-F238E27FC236}">
                <a16:creationId xmlns:a16="http://schemas.microsoft.com/office/drawing/2014/main" id="{FA74422C-EB58-4670-8ABC-0730D080B9EA}"/>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37738C2B-BDB4-47EB-B2AA-DA746574B6D0}"/>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551936530"/>
      </p:ext>
    </p:extLst>
  </p:cSld>
</p:sld>
</file>

<file path=ppt/slides/slide1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5489907-26A9-498E-BF9A-F2AAC73E6B28}"/>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E9977FC1-9E0A-456A-BF44-877C37705DC4}"/>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6E2BDB2D-48F1-47C3-8352-D251C0C99015}"/>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Class và Object</a:t>
            </a:r>
          </a:p>
        </p:txBody>
      </p:sp>
      <p:sp>
        <p:nvSpPr>
          <p:cNvPr id="4" name="">
            <a:extLst xmlns:a="http://schemas.openxmlformats.org/drawingml/2006/main">
              <a:ext uri="{FF2B5EF4-FFF2-40B4-BE49-F238E27FC236}">
                <a16:creationId xmlns:a16="http://schemas.microsoft.com/office/drawing/2014/main" id="{3740506A-65A4-4DA8-98A8-EA7F63A894D8}"/>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AA9BF0BD-CBF9-493E-9998-5EB4BC6621EE}"/>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18</a:t>
            </a:r>
          </a:p>
        </p:txBody>
      </p:sp>
      <p:sp>
        <p:nvSpPr>
          <p:cNvPr id="6" name="">
            <a:extLst xmlns:a="http://schemas.openxmlformats.org/drawingml/2006/main">
              <a:ext uri="{FF2B5EF4-FFF2-40B4-BE49-F238E27FC236}">
                <a16:creationId xmlns:a16="http://schemas.microsoft.com/office/drawing/2014/main" id="{CA3EDE1C-E3D5-4FEC-BA8B-0FCFCDF504E8}"/>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Class mô tả trạng thái và hành vi; object là một thể hiện cụ thể.</a:t>
            </a:r>
          </a:p>
        </p:txBody>
      </p:sp>
      <p:sp>
        <p:nvSpPr>
          <p:cNvPr id="7" name="">
            <a:extLst xmlns:a="http://schemas.openxmlformats.org/drawingml/2006/main">
              <a:ext uri="{FF2B5EF4-FFF2-40B4-BE49-F238E27FC236}">
                <a16:creationId xmlns:a16="http://schemas.microsoft.com/office/drawing/2014/main" id="{73F8BE61-A48D-48AB-A253-9438F2DA2506}"/>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CF33B88C-F968-44D0-AA5C-FF26267CD9B1}"/>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class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Id { get; set; } =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Name { get; set; } =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double Score { get; set;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bool IsPassed() =&gt; Score &gt;= 5.0;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var student = new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Id = "SV001", Name = "An", Score = 8.0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FC4E499C-BAE6-40BC-B82C-05601172AA59}"/>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0E2CAC82-EF67-45D3-8ABC-814FD5C2633F}"/>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52E43B1F-0A59-4E0B-BA4F-4ABB0E6E17E0}"/>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Property công khai dữ liệu có kiểm soát</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Method thể hiện hành vi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new tạo object</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Object initializer giúp mã dễ đọc</a:t>
            </a:r>
          </a:p>
        </p:txBody>
      </p:sp>
      <p:sp>
        <p:nvSpPr>
          <p:cNvPr id="12" name="">
            <a:extLst xmlns:a="http://schemas.openxmlformats.org/drawingml/2006/main">
              <a:ext uri="{FF2B5EF4-FFF2-40B4-BE49-F238E27FC236}">
                <a16:creationId xmlns:a16="http://schemas.microsoft.com/office/drawing/2014/main" id="{6F855E8C-B058-44F4-86E7-A4356B806DFE}"/>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194131CD-E36E-4B45-A9C5-9E473555FA8C}"/>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300109429"/>
      </p:ext>
    </p:extLst>
  </p:cSld>
</p:sld>
</file>

<file path=ppt/slides/slide1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5E85B33-B1BB-4026-99B3-2A4968FFCE26}"/>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39B5C216-BFC1-41E5-B1A7-1D5A79683572}"/>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E5A9818B-799A-462A-95C5-619FCCFD5F19}"/>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Constructor và Property</a:t>
            </a:r>
          </a:p>
        </p:txBody>
      </p:sp>
      <p:sp>
        <p:nvSpPr>
          <p:cNvPr id="4" name="">
            <a:extLst xmlns:a="http://schemas.openxmlformats.org/drawingml/2006/main">
              <a:ext uri="{FF2B5EF4-FFF2-40B4-BE49-F238E27FC236}">
                <a16:creationId xmlns:a16="http://schemas.microsoft.com/office/drawing/2014/main" id="{1AD6C62E-4DF9-48B0-84E7-E475B08C64EB}"/>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49211B61-4888-4BBF-B874-725701FD7FE4}"/>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19</a:t>
            </a:r>
          </a:p>
        </p:txBody>
      </p:sp>
      <p:sp>
        <p:nvSpPr>
          <p:cNvPr id="6" name="">
            <a:extLst xmlns:a="http://schemas.openxmlformats.org/drawingml/2006/main">
              <a:ext uri="{FF2B5EF4-FFF2-40B4-BE49-F238E27FC236}">
                <a16:creationId xmlns:a16="http://schemas.microsoft.com/office/drawing/2014/main" id="{DD6B3160-A817-4104-B097-3E846F264728}"/>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Constructor thiết lập trạng thái hợp lệ ngay khi tạo object.</a:t>
            </a:r>
          </a:p>
        </p:txBody>
      </p:sp>
      <p:sp>
        <p:nvSpPr>
          <p:cNvPr id="7" name="">
            <a:extLst xmlns:a="http://schemas.openxmlformats.org/drawingml/2006/main">
              <a:ext uri="{FF2B5EF4-FFF2-40B4-BE49-F238E27FC236}">
                <a16:creationId xmlns:a16="http://schemas.microsoft.com/office/drawing/2014/main" id="{E7E2A44B-99CF-4CEC-B39F-888B378F62F6}"/>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B50A7838-E816-4FFB-9820-3FD12E777537}"/>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75"/>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class Product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Code { get;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Name { get; set;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decimal Price { get; private set;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Product(string code, string name, decimal price)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Code = code;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Name = name;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SetPrice(price);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void SetPrice(decimal value)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if (value &lt; 0) throw new ArgumentException();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Price = value;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12FEA39F-97EE-4033-A0E5-315DD36144A2}"/>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C249DE31-E8A9-4A70-9DEB-894323A929D0}"/>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DD8C8F17-B86A-45C8-98C9-E273FFD2386C}"/>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Constructor cùng tên class</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get và set điều khiển truy cập</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private set bảo vệ thay đổi tùy tiện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Object phải duy trì trạng thái hợp lệ</a:t>
            </a:r>
          </a:p>
        </p:txBody>
      </p:sp>
      <p:sp>
        <p:nvSpPr>
          <p:cNvPr id="12" name="">
            <a:extLst xmlns:a="http://schemas.openxmlformats.org/drawingml/2006/main">
              <a:ext uri="{FF2B5EF4-FFF2-40B4-BE49-F238E27FC236}">
                <a16:creationId xmlns:a16="http://schemas.microsoft.com/office/drawing/2014/main" id="{56110262-F4AE-431D-8096-5F5A3CDCF726}"/>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3CEF4BB9-CFDC-4659-9830-0D5E22613E73}"/>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649871134"/>
      </p:ext>
    </p:extLst>
  </p:cSld>
</p:sld>
</file>

<file path=ppt/slides/slide2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B59E66F-F554-4472-B5B0-C9D009DD3EC1}"/>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654704B4-4B22-4030-8D89-41439CDCAE59}"/>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937FB05E-FC53-4C0B-83AD-EE445D3AD19D}"/>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Nhắc lại OOP trong C#</a:t>
            </a:r>
          </a:p>
        </p:txBody>
      </p:sp>
      <p:sp>
        <p:nvSpPr>
          <p:cNvPr id="4" name="">
            <a:extLst xmlns:a="http://schemas.openxmlformats.org/drawingml/2006/main">
              <a:ext uri="{FF2B5EF4-FFF2-40B4-BE49-F238E27FC236}">
                <a16:creationId xmlns:a16="http://schemas.microsoft.com/office/drawing/2014/main" id="{92BB1BBA-239C-4142-829D-76D6B168C1EB}"/>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759A21E2-9AE5-420A-B9F5-5EC1FA487CD8}"/>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20</a:t>
            </a:r>
          </a:p>
        </p:txBody>
      </p:sp>
      <p:sp>
        <p:nvSpPr>
          <p:cNvPr id="6" name="">
            <a:extLst xmlns:a="http://schemas.openxmlformats.org/drawingml/2006/main">
              <a:ext uri="{FF2B5EF4-FFF2-40B4-BE49-F238E27FC236}">
                <a16:creationId xmlns:a16="http://schemas.microsoft.com/office/drawing/2014/main" id="{DAC98C04-6FB2-41B6-98E8-FE3C568A994D}"/>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KẾ THỪA VÀ ĐA HÌNH</a:t>
            </a:r>
          </a:p>
        </p:txBody>
      </p:sp>
      <p:sp>
        <p:nvSpPr>
          <p:cNvPr id="7" name="">
            <a:extLst xmlns:a="http://schemas.openxmlformats.org/drawingml/2006/main">
              <a:ext uri="{FF2B5EF4-FFF2-40B4-BE49-F238E27FC236}">
                <a16:creationId xmlns:a16="http://schemas.microsoft.com/office/drawing/2014/main" id="{70D779C0-35CA-47DE-A3D3-13A1AE32FFED}"/>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INTERFACE VÀ ABSTRACTION</a:t>
            </a:r>
          </a:p>
        </p:txBody>
      </p:sp>
      <p:sp>
        <p:nvSpPr>
          <p:cNvPr id="8" name="">
            <a:extLst xmlns:a="http://schemas.openxmlformats.org/drawingml/2006/main">
              <a:ext uri="{FF2B5EF4-FFF2-40B4-BE49-F238E27FC236}">
                <a16:creationId xmlns:a16="http://schemas.microsoft.com/office/drawing/2014/main" id="{406B98F8-399A-426C-96AA-6A768A3BFAC7}"/>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AB16043C-430F-45B9-B5DB-6E5D0495C69C}"/>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B731ACF0-32D0-4B5D-BE0F-8DF884370B52}"/>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abstract class Employee</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public abstract decimal GetSalary();</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class Lecturer : Employee</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public override decimal GetSalary()</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=&gt; 15_000_000m;</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p:txBody>
      </p:sp>
      <p:sp>
        <p:nvSpPr>
          <p:cNvPr id="11" name="">
            <a:extLst xmlns:a="http://schemas.openxmlformats.org/drawingml/2006/main">
              <a:ext uri="{FF2B5EF4-FFF2-40B4-BE49-F238E27FC236}">
                <a16:creationId xmlns:a16="http://schemas.microsoft.com/office/drawing/2014/main" id="{AD8D4A47-12DF-416F-BEDD-54413FDC8A3F}"/>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interface IPrintable</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void Print();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class Report : IPrintable</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public void Print()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=&gt; Console.WriteLine("Report");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p:txBody>
      </p:sp>
      <p:sp>
        <p:nvSpPr>
          <p:cNvPr id="12" name="">
            <a:extLst xmlns:a="http://schemas.openxmlformats.org/drawingml/2006/main">
              <a:ext uri="{FF2B5EF4-FFF2-40B4-BE49-F238E27FC236}">
                <a16:creationId xmlns:a16="http://schemas.microsoft.com/office/drawing/2014/main" id="{B29A6560-D1FC-4629-8C04-6BD2B9BFC408}"/>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647BBB4C-66E6-4E73-8EF6-2BA3BF6BBFA9}"/>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590952727"/>
      </p:ext>
    </p:extLst>
  </p:cSld>
</p:sld>
</file>

<file path=ppt/slides/slide2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42877EC-BFE4-4D74-9550-1654DC3489B3}"/>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00CF3B55-69D6-46A4-8C21-E34F3EA734EB}"/>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C09FDD9F-852E-4948-8656-8C9988BC733B}"/>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Xử lý ngoại lệ</a:t>
            </a:r>
          </a:p>
        </p:txBody>
      </p:sp>
      <p:sp>
        <p:nvSpPr>
          <p:cNvPr id="4" name="">
            <a:extLst xmlns:a="http://schemas.openxmlformats.org/drawingml/2006/main">
              <a:ext uri="{FF2B5EF4-FFF2-40B4-BE49-F238E27FC236}">
                <a16:creationId xmlns:a16="http://schemas.microsoft.com/office/drawing/2014/main" id="{BBFAB36C-9D59-456A-838D-074278E5F0B5}"/>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B9BBA58A-8ED0-4EA1-BBB1-C2F0CD234C57}"/>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21</a:t>
            </a:r>
          </a:p>
        </p:txBody>
      </p:sp>
      <p:sp>
        <p:nvSpPr>
          <p:cNvPr id="6" name="">
            <a:extLst xmlns:a="http://schemas.openxmlformats.org/drawingml/2006/main">
              <a:ext uri="{FF2B5EF4-FFF2-40B4-BE49-F238E27FC236}">
                <a16:creationId xmlns:a16="http://schemas.microsoft.com/office/drawing/2014/main" id="{3C34C66E-F706-4854-9113-D5AAF34A3ADD}"/>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Chỉ bắt ngoại lệ khi có thể xử lý hoặc bổ sung ngữ cảnh hữu ích.</a:t>
            </a:r>
          </a:p>
        </p:txBody>
      </p:sp>
      <p:sp>
        <p:nvSpPr>
          <p:cNvPr id="7" name="">
            <a:extLst xmlns:a="http://schemas.openxmlformats.org/drawingml/2006/main">
              <a:ext uri="{FF2B5EF4-FFF2-40B4-BE49-F238E27FC236}">
                <a16:creationId xmlns:a16="http://schemas.microsoft.com/office/drawing/2014/main" id="{510E16A1-BBD8-4BA8-B6B8-E3DCD709C291}"/>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95914B98-073B-4E00-AE4D-F02FE6D9251D}"/>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07"/>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try</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Console.Write("Số lượng: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int quantity = int.Parse(Console.ReadLine()!);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Console.WriteLine(100 / quantity);</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catch (FormatException)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Console.WriteLine("Phải nhập số nguyên.");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catch (DivideByZeroException)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Console.WriteLine("Số lượng phải khác 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finally</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Console.WriteLine("Kết thúc xử lý.");</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B4349A89-353D-4206-9368-44BD37892FFB}"/>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4D09B327-8F7A-4AB2-8F9D-03ADA85EA774}"/>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3D32C3FC-E01F-4669-BC5F-2AED308CA927}"/>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try chứa thao tác có thể thất bại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catch nên bắt kiểu cụ thể</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finally luôn chạy</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Không dùng exception thay cho kiểm tra dữ liệu thông thường</a:t>
            </a:r>
          </a:p>
        </p:txBody>
      </p:sp>
      <p:sp>
        <p:nvSpPr>
          <p:cNvPr id="12" name="">
            <a:extLst xmlns:a="http://schemas.openxmlformats.org/drawingml/2006/main">
              <a:ext uri="{FF2B5EF4-FFF2-40B4-BE49-F238E27FC236}">
                <a16:creationId xmlns:a16="http://schemas.microsoft.com/office/drawing/2014/main" id="{401FBEA2-87FD-4038-A375-7FE1145467A1}"/>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568C4741-EBDD-4E50-88AC-A28581C9FFFC}"/>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804266972"/>
      </p:ext>
    </p:extLst>
  </p:cSld>
</p:sld>
</file>

<file path=ppt/slides/slide2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BA7BFDB-71CE-4F7A-ADDD-1AC922432920}"/>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9DE7FBCF-9E1D-46D0-84AE-37C5A06F54B8}"/>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7614F0D4-408D-4245-AD0B-913D980970F0}"/>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Phong cách viết C# dễ bảo trì</a:t>
            </a:r>
          </a:p>
        </p:txBody>
      </p:sp>
      <p:sp>
        <p:nvSpPr>
          <p:cNvPr id="4" name="">
            <a:extLst xmlns:a="http://schemas.openxmlformats.org/drawingml/2006/main">
              <a:ext uri="{FF2B5EF4-FFF2-40B4-BE49-F238E27FC236}">
                <a16:creationId xmlns:a16="http://schemas.microsoft.com/office/drawing/2014/main" id="{45962723-2F16-48E7-8DC2-8A813C68BFC0}"/>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6D60BFA6-B962-499B-AC6A-8CBF52D0B2EF}"/>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22</a:t>
            </a:r>
          </a:p>
        </p:txBody>
      </p:sp>
      <p:sp>
        <p:nvSpPr>
          <p:cNvPr id="6" name="">
            <a:extLst xmlns:a="http://schemas.openxmlformats.org/drawingml/2006/main">
              <a:ext uri="{FF2B5EF4-FFF2-40B4-BE49-F238E27FC236}">
                <a16:creationId xmlns:a16="http://schemas.microsoft.com/office/drawing/2014/main" id="{A71BE6BA-6770-4C37-B3A3-C02BD23DF195}"/>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NÊN VIẾT</a:t>
            </a:r>
          </a:p>
        </p:txBody>
      </p:sp>
      <p:sp>
        <p:nvSpPr>
          <p:cNvPr id="7" name="">
            <a:extLst xmlns:a="http://schemas.openxmlformats.org/drawingml/2006/main">
              <a:ext uri="{FF2B5EF4-FFF2-40B4-BE49-F238E27FC236}">
                <a16:creationId xmlns:a16="http://schemas.microsoft.com/office/drawing/2014/main" id="{7C7EEB27-69CD-44A6-B12B-8E170D2C2FD4}"/>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CẦN TRÁNH</a:t>
            </a:r>
          </a:p>
        </p:txBody>
      </p:sp>
      <p:sp>
        <p:nvSpPr>
          <p:cNvPr id="8" name="">
            <a:extLst xmlns:a="http://schemas.openxmlformats.org/drawingml/2006/main">
              <a:ext uri="{FF2B5EF4-FFF2-40B4-BE49-F238E27FC236}">
                <a16:creationId xmlns:a16="http://schemas.microsoft.com/office/drawing/2014/main" id="{ED78DA9C-A4E3-432E-A740-EDF1E6CA6893}"/>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14655E16-FD92-4C7F-9F2D-46BA9F50498F}"/>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FFF2E9"/>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CE55541E-B201-40FB-B4E5-70F1A9A72CFD}"/>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Class, method, property: PascalCase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Biến và tham số: camelCase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Mỗi method có một nhiệm vụ rõ</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Đặt tên thể hiện mục đích</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Dùng guard clause để giảm lồng nhau</a:t>
            </a:r>
          </a:p>
        </p:txBody>
      </p:sp>
      <p:sp>
        <p:nvSpPr>
          <p:cNvPr id="11" name="">
            <a:extLst xmlns:a="http://schemas.openxmlformats.org/drawingml/2006/main">
              <a:ext uri="{FF2B5EF4-FFF2-40B4-BE49-F238E27FC236}">
                <a16:creationId xmlns:a16="http://schemas.microsoft.com/office/drawing/2014/main" id="{101D2028-5E3F-45CE-8EBE-5A299EC57CF1}"/>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Tên một chữ không có ý nghĩa</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Method quá dài</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Magic number rải rác</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Bắt Exception rồi bỏ qua</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Trộn nhập xuất với logic nghiệp vụ</a:t>
            </a:r>
          </a:p>
        </p:txBody>
      </p:sp>
      <p:sp>
        <p:nvSpPr>
          <p:cNvPr id="12" name="">
            <a:extLst xmlns:a="http://schemas.openxmlformats.org/drawingml/2006/main">
              <a:ext uri="{FF2B5EF4-FFF2-40B4-BE49-F238E27FC236}">
                <a16:creationId xmlns:a16="http://schemas.microsoft.com/office/drawing/2014/main" id="{3D33A6AA-6ADF-486A-B093-E653C49DAA2C}"/>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464E428A-358A-4C12-8D98-C82B646820AB}"/>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703821009"/>
      </p:ext>
    </p:extLst>
  </p:cSld>
</p:sld>
</file>

<file path=ppt/slides/slide2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C94F7E3-B30F-4077-B02F-806D6A0993EF}"/>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A0062370-E241-45AF-B660-9CD33F928592}"/>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THỰC HÀNH</a:t>
            </a:r>
          </a:p>
        </p:txBody>
      </p:sp>
      <p:sp>
        <p:nvSpPr>
          <p:cNvPr id="3" name="">
            <a:extLst xmlns:a="http://schemas.openxmlformats.org/drawingml/2006/main">
              <a:ext uri="{FF2B5EF4-FFF2-40B4-BE49-F238E27FC236}">
                <a16:creationId xmlns:a16="http://schemas.microsoft.com/office/drawing/2014/main" id="{A5F46AE4-3700-456B-AD04-687B12C2CFC5}"/>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Bài luyện tập có hướng dẫn</a:t>
            </a:r>
          </a:p>
        </p:txBody>
      </p:sp>
      <p:sp>
        <p:nvSpPr>
          <p:cNvPr id="4" name="">
            <a:extLst xmlns:a="http://schemas.openxmlformats.org/drawingml/2006/main">
              <a:ext uri="{FF2B5EF4-FFF2-40B4-BE49-F238E27FC236}">
                <a16:creationId xmlns:a16="http://schemas.microsoft.com/office/drawing/2014/main" id="{B993225E-1C09-44D9-A56E-3E7A04BD86B3}"/>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E8793E"/>
          </a:solidFill>
          <a:ln xmlns:a="http://schemas.openxmlformats.org/drawingml/2006/main" w="9525">
            <a:solidFill>
              <a:srgbClr val="E8793E"/>
            </a:solidFill>
          </a:ln>
        </p:spPr>
      </p:sp>
      <p:sp>
        <p:nvSpPr>
          <p:cNvPr id="5" name="">
            <a:extLst xmlns:a="http://schemas.openxmlformats.org/drawingml/2006/main">
              <a:ext uri="{FF2B5EF4-FFF2-40B4-BE49-F238E27FC236}">
                <a16:creationId xmlns:a16="http://schemas.microsoft.com/office/drawing/2014/main" id="{F3717117-E8FE-416F-9D75-41ECA567BE63}"/>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23</a:t>
            </a:r>
          </a:p>
        </p:txBody>
      </p:sp>
      <p:sp>
        <p:nvSpPr>
          <p:cNvPr id="6" name="">
            <a:extLst xmlns:a="http://schemas.openxmlformats.org/drawingml/2006/main">
              <a:ext uri="{FF2B5EF4-FFF2-40B4-BE49-F238E27FC236}">
                <a16:creationId xmlns:a16="http://schemas.microsoft.com/office/drawing/2014/main" id="{516F83C0-3D82-47AF-A336-636666490E15}"/>
              </a:ext>
            </a:extLst>
          </p:cNvPr>
          <p:cNvSpPr>
            <a:spLocks xmlns:a="http://schemas.openxmlformats.org/drawingml/2006/main" noGrp="1"/>
          </p:cNvSpPr>
          <p:nvPr/>
        </p:nvSpPr>
        <p:spPr>
          <a:xfrm xmlns:a="http://schemas.openxmlformats.org/drawingml/2006/main">
            <a:off x="552450" y="1181100"/>
            <a:ext cx="11087100" cy="41719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D7DEE8"/>
            </a:solidFill>
          </a:ln>
        </p:spPr>
      </p:sp>
      <p:sp>
        <p:nvSpPr>
          <p:cNvPr id="7" name="">
            <a:extLst xmlns:a="http://schemas.openxmlformats.org/drawingml/2006/main">
              <a:ext uri="{FF2B5EF4-FFF2-40B4-BE49-F238E27FC236}">
                <a16:creationId xmlns:a16="http://schemas.microsoft.com/office/drawing/2014/main" id="{79AF84A2-6C88-4B0D-8657-95775E253CB0}"/>
              </a:ext>
            </a:extLst>
          </p:cNvPr>
          <p:cNvSpPr>
            <a:spLocks xmlns:a="http://schemas.openxmlformats.org/drawingml/2006/main" noGrp="1"/>
          </p:cNvSpPr>
          <p:nvPr/>
        </p:nvSpPr>
        <p:spPr>
          <a:xfrm xmlns:a="http://schemas.openxmlformats.org/drawingml/2006/main">
            <a:off x="838200" y="13906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NHIỆM VỤ</a:t>
            </a:r>
          </a:p>
        </p:txBody>
      </p:sp>
      <p:sp>
        <p:nvSpPr>
          <p:cNvPr id="8" name="">
            <a:extLst xmlns:a="http://schemas.openxmlformats.org/drawingml/2006/main">
              <a:ext uri="{FF2B5EF4-FFF2-40B4-BE49-F238E27FC236}">
                <a16:creationId xmlns:a16="http://schemas.microsoft.com/office/drawing/2014/main" id="{CA404E94-B0BD-406C-BF2D-1909FD94269A}"/>
              </a:ext>
            </a:extLst>
          </p:cNvPr>
          <p:cNvSpPr>
            <a:spLocks xmlns:a="http://schemas.openxmlformats.org/drawingml/2006/main" noGrp="1"/>
          </p:cNvSpPr>
          <p:nvPr/>
        </p:nvSpPr>
        <p:spPr>
          <a:xfrm xmlns:a="http://schemas.openxmlformats.org/drawingml/2006/main">
            <a:off x="838200" y="1809750"/>
            <a:ext cx="1028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Viết chương trình nhập danh sách điểm. Kiểm tra dữ liệu, tính điểm trung bình, tìm điểm cao nhất và in danh sách điểm đạt từ 5 trở lên.</a:t>
            </a:r>
          </a:p>
        </p:txBody>
      </p:sp>
      <p:sp>
        <p:nvSpPr>
          <p:cNvPr id="9" name="">
            <a:extLst xmlns:a="http://schemas.openxmlformats.org/drawingml/2006/main">
              <a:ext uri="{FF2B5EF4-FFF2-40B4-BE49-F238E27FC236}">
                <a16:creationId xmlns:a16="http://schemas.microsoft.com/office/drawing/2014/main" id="{5C0CF71A-532C-48CE-8B57-8425C7DC6CA6}"/>
              </a:ext>
            </a:extLst>
          </p:cNvPr>
          <p:cNvSpPr>
            <a:spLocks xmlns:a="http://schemas.openxmlformats.org/drawingml/2006/main" noGrp="1"/>
          </p:cNvSpPr>
          <p:nvPr/>
        </p:nvSpPr>
        <p:spPr>
          <a:xfrm xmlns:a="http://schemas.openxmlformats.org/drawingml/2006/main">
            <a:off x="838200" y="3886200"/>
            <a:ext cx="10287000" cy="1047750"/>
          </a:xfrm>
          <a:prstGeom xmlns:a="http://schemas.openxmlformats.org/drawingml/2006/main" prst="roundRect">
            <a:avLst>
              <a:gd name="adj" fmla="val 7273"/>
            </a:avLst>
          </a:prstGeom>
          <a:solidFill xmlns:a="http://schemas.openxmlformats.org/drawingml/2006/main">
            <a:srgbClr val="FFF2E9"/>
          </a:solidFill>
          <a:ln xmlns:a="http://schemas.openxmlformats.org/drawingml/2006/main" w="9525">
            <a:solidFill>
              <a:srgbClr val="F0C5AA"/>
            </a:solidFill>
          </a:ln>
        </p:spPr>
      </p:sp>
      <p:sp>
        <p:nvSpPr>
          <p:cNvPr id="10" name="">
            <a:extLst xmlns:a="http://schemas.openxmlformats.org/drawingml/2006/main">
              <a:ext uri="{FF2B5EF4-FFF2-40B4-BE49-F238E27FC236}">
                <a16:creationId xmlns:a16="http://schemas.microsoft.com/office/drawing/2014/main" id="{881E49BC-5C9C-4DE4-96B7-7B8F0954134F}"/>
              </a:ext>
            </a:extLst>
          </p:cNvPr>
          <p:cNvSpPr>
            <a:spLocks xmlns:a="http://schemas.openxmlformats.org/drawingml/2006/main" noGrp="1"/>
          </p:cNvSpPr>
          <p:nvPr/>
        </p:nvSpPr>
        <p:spPr>
          <a:xfrm xmlns:a="http://schemas.openxmlformats.org/drawingml/2006/main">
            <a:off x="1066800" y="39624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1800" b="1">
                <a:solidFill>
                  <a:srgbClr val="9B451C"/>
                </a:solidFill>
                <a:latin typeface="DejaVu Sans"/>
                <a:ea typeface="DejaVu Sans"/>
                <a:cs typeface="DejaVu Sans"/>
              </a:defRPr>
            </a:pPr>
            <a:r>
              <a:rPr sz="1800" b="1">
                <a:solidFill>
                  <a:srgbClr val="9B451C"/>
                </a:solidFill>
                <a:latin typeface="DejaVu Sans"/>
                <a:ea typeface="DejaVu Sans"/>
                <a:cs typeface="DejaVu Sans"/>
              </a:rPr>
              <a:t>Gợi ý kiểm tra</a:t>
            </a:r>
          </a:p>
        </p:txBody>
      </p:sp>
      <p:sp>
        <p:nvSpPr>
          <p:cNvPr id="11" name="">
            <a:extLst xmlns:a="http://schemas.openxmlformats.org/drawingml/2006/main">
              <a:ext uri="{FF2B5EF4-FFF2-40B4-BE49-F238E27FC236}">
                <a16:creationId xmlns:a16="http://schemas.microsoft.com/office/drawing/2014/main" id="{8E18DEAF-26CA-4D7E-8BEA-835E9365F554}"/>
              </a:ext>
            </a:extLst>
          </p:cNvPr>
          <p:cNvSpPr>
            <a:spLocks xmlns:a="http://schemas.openxmlformats.org/drawingml/2006/main" noGrp="1"/>
          </p:cNvSpPr>
          <p:nvPr/>
        </p:nvSpPr>
        <p:spPr>
          <a:xfrm xmlns:a="http://schemas.openxmlformats.org/drawingml/2006/main">
            <a:off x="1066800" y="42862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28"/>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Sử dụng List&lt;double&gt;, TryParse, foreach và các method: InputScores, CalculateAverage, FindMax, PrintPassedScores.</a:t>
            </a:r>
          </a:p>
        </p:txBody>
      </p:sp>
      <p:sp>
        <p:nvSpPr>
          <p:cNvPr id="12" name="">
            <a:extLst xmlns:a="http://schemas.openxmlformats.org/drawingml/2006/main">
              <a:ext uri="{FF2B5EF4-FFF2-40B4-BE49-F238E27FC236}">
                <a16:creationId xmlns:a16="http://schemas.microsoft.com/office/drawing/2014/main" id="{4890AFEB-F968-47A3-B962-E461E38324F3}"/>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CFE03A74-235E-4C78-9EAA-65D0C1F41287}"/>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81192093"/>
      </p:ext>
    </p:extLst>
  </p:cSld>
</p:sld>
</file>

<file path=ppt/slides/slide2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9481DA6-D0A3-4277-893C-0879E6D1B3F6}"/>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A51DA234-3DA2-444F-AA4C-DA1974B607BA}"/>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THỰC HÀNH</a:t>
            </a:r>
          </a:p>
        </p:txBody>
      </p:sp>
      <p:sp>
        <p:nvSpPr>
          <p:cNvPr id="3" name="">
            <a:extLst xmlns:a="http://schemas.openxmlformats.org/drawingml/2006/main">
              <a:ext uri="{FF2B5EF4-FFF2-40B4-BE49-F238E27FC236}">
                <a16:creationId xmlns:a16="http://schemas.microsoft.com/office/drawing/2014/main" id="{86DBCD08-79CC-46F6-8C1E-7A28DF22F66F}"/>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Thực hành tổng hợp</a:t>
            </a:r>
          </a:p>
        </p:txBody>
      </p:sp>
      <p:sp>
        <p:nvSpPr>
          <p:cNvPr id="4" name="">
            <a:extLst xmlns:a="http://schemas.openxmlformats.org/drawingml/2006/main">
              <a:ext uri="{FF2B5EF4-FFF2-40B4-BE49-F238E27FC236}">
                <a16:creationId xmlns:a16="http://schemas.microsoft.com/office/drawing/2014/main" id="{389E9E87-E57F-43E8-A641-C41C43756137}"/>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E8793E"/>
          </a:solidFill>
          <a:ln xmlns:a="http://schemas.openxmlformats.org/drawingml/2006/main" w="9525">
            <a:solidFill>
              <a:srgbClr val="E8793E"/>
            </a:solidFill>
          </a:ln>
        </p:spPr>
      </p:sp>
      <p:sp>
        <p:nvSpPr>
          <p:cNvPr id="5" name="">
            <a:extLst xmlns:a="http://schemas.openxmlformats.org/drawingml/2006/main">
              <a:ext uri="{FF2B5EF4-FFF2-40B4-BE49-F238E27FC236}">
                <a16:creationId xmlns:a16="http://schemas.microsoft.com/office/drawing/2014/main" id="{6B18DF9E-009F-4737-AE0A-C145F8B2C4F8}"/>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24</a:t>
            </a:r>
          </a:p>
        </p:txBody>
      </p:sp>
      <p:sp>
        <p:nvSpPr>
          <p:cNvPr id="6" name="">
            <a:extLst xmlns:a="http://schemas.openxmlformats.org/drawingml/2006/main">
              <a:ext uri="{FF2B5EF4-FFF2-40B4-BE49-F238E27FC236}">
                <a16:creationId xmlns:a16="http://schemas.microsoft.com/office/drawing/2014/main" id="{4EBA2EDF-EAF6-4EDB-A951-3C3DD5B318A4}"/>
              </a:ext>
            </a:extLst>
          </p:cNvPr>
          <p:cNvSpPr>
            <a:spLocks xmlns:a="http://schemas.openxmlformats.org/drawingml/2006/main" noGrp="1"/>
          </p:cNvSpPr>
          <p:nvPr/>
        </p:nvSpPr>
        <p:spPr>
          <a:xfrm xmlns:a="http://schemas.openxmlformats.org/drawingml/2006/main">
            <a:off x="552450" y="1181100"/>
            <a:ext cx="11087100" cy="41719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D7DEE8"/>
            </a:solidFill>
          </a:ln>
        </p:spPr>
      </p:sp>
      <p:sp>
        <p:nvSpPr>
          <p:cNvPr id="7" name="">
            <a:extLst xmlns:a="http://schemas.openxmlformats.org/drawingml/2006/main">
              <a:ext uri="{FF2B5EF4-FFF2-40B4-BE49-F238E27FC236}">
                <a16:creationId xmlns:a16="http://schemas.microsoft.com/office/drawing/2014/main" id="{029BDC2E-2290-425A-8986-8BCD047D7423}"/>
              </a:ext>
            </a:extLst>
          </p:cNvPr>
          <p:cNvSpPr>
            <a:spLocks xmlns:a="http://schemas.openxmlformats.org/drawingml/2006/main" noGrp="1"/>
          </p:cNvSpPr>
          <p:nvPr/>
        </p:nvSpPr>
        <p:spPr>
          <a:xfrm xmlns:a="http://schemas.openxmlformats.org/drawingml/2006/main">
            <a:off x="838200" y="13906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NHIỆM VỤ</a:t>
            </a:r>
          </a:p>
        </p:txBody>
      </p:sp>
      <p:sp>
        <p:nvSpPr>
          <p:cNvPr id="8" name="">
            <a:extLst xmlns:a="http://schemas.openxmlformats.org/drawingml/2006/main">
              <a:ext uri="{FF2B5EF4-FFF2-40B4-BE49-F238E27FC236}">
                <a16:creationId xmlns:a16="http://schemas.microsoft.com/office/drawing/2014/main" id="{F9CD3F33-2F10-4510-9307-D8703DB94B31}"/>
              </a:ext>
            </a:extLst>
          </p:cNvPr>
          <p:cNvSpPr>
            <a:spLocks xmlns:a="http://schemas.openxmlformats.org/drawingml/2006/main" noGrp="1"/>
          </p:cNvSpPr>
          <p:nvPr/>
        </p:nvSpPr>
        <p:spPr>
          <a:xfrm xmlns:a="http://schemas.openxmlformats.org/drawingml/2006/main">
            <a:off x="838200" y="1809750"/>
            <a:ext cx="1028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Xây dựng ứng dụng Console quản lý sản phẩm gồm mã, tên, đơn giá và số lượng. Cho phép thêm sản phẩm, hiển thị danh sách, tìm theo mã và tính tổng giá trị kho.</a:t>
            </a:r>
          </a:p>
        </p:txBody>
      </p:sp>
      <p:sp>
        <p:nvSpPr>
          <p:cNvPr id="9" name="">
            <a:extLst xmlns:a="http://schemas.openxmlformats.org/drawingml/2006/main">
              <a:ext uri="{FF2B5EF4-FFF2-40B4-BE49-F238E27FC236}">
                <a16:creationId xmlns:a16="http://schemas.microsoft.com/office/drawing/2014/main" id="{1B0C3899-7A12-429B-9A3C-EF66B90B9B58}"/>
              </a:ext>
            </a:extLst>
          </p:cNvPr>
          <p:cNvSpPr>
            <a:spLocks xmlns:a="http://schemas.openxmlformats.org/drawingml/2006/main" noGrp="1"/>
          </p:cNvSpPr>
          <p:nvPr/>
        </p:nvSpPr>
        <p:spPr>
          <a:xfrm xmlns:a="http://schemas.openxmlformats.org/drawingml/2006/main">
            <a:off x="838200" y="3886200"/>
            <a:ext cx="10287000" cy="1047750"/>
          </a:xfrm>
          <a:prstGeom xmlns:a="http://schemas.openxmlformats.org/drawingml/2006/main" prst="roundRect">
            <a:avLst>
              <a:gd name="adj" fmla="val 7273"/>
            </a:avLst>
          </a:prstGeom>
          <a:solidFill xmlns:a="http://schemas.openxmlformats.org/drawingml/2006/main">
            <a:srgbClr val="FFF2E9"/>
          </a:solidFill>
          <a:ln xmlns:a="http://schemas.openxmlformats.org/drawingml/2006/main" w="9525">
            <a:solidFill>
              <a:srgbClr val="F0C5AA"/>
            </a:solidFill>
          </a:ln>
        </p:spPr>
      </p:sp>
      <p:sp>
        <p:nvSpPr>
          <p:cNvPr id="10" name="">
            <a:extLst xmlns:a="http://schemas.openxmlformats.org/drawingml/2006/main">
              <a:ext uri="{FF2B5EF4-FFF2-40B4-BE49-F238E27FC236}">
                <a16:creationId xmlns:a16="http://schemas.microsoft.com/office/drawing/2014/main" id="{52E68B76-1B96-43E3-91C0-94F50CBFC444}"/>
              </a:ext>
            </a:extLst>
          </p:cNvPr>
          <p:cNvSpPr>
            <a:spLocks xmlns:a="http://schemas.openxmlformats.org/drawingml/2006/main" noGrp="1"/>
          </p:cNvSpPr>
          <p:nvPr/>
        </p:nvSpPr>
        <p:spPr>
          <a:xfrm xmlns:a="http://schemas.openxmlformats.org/drawingml/2006/main">
            <a:off x="1066800" y="39624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1800" b="1">
                <a:solidFill>
                  <a:srgbClr val="9B451C"/>
                </a:solidFill>
                <a:latin typeface="DejaVu Sans"/>
                <a:ea typeface="DejaVu Sans"/>
                <a:cs typeface="DejaVu Sans"/>
              </a:defRPr>
            </a:pPr>
            <a:r>
              <a:rPr sz="1800" b="1">
                <a:solidFill>
                  <a:srgbClr val="9B451C"/>
                </a:solidFill>
                <a:latin typeface="DejaVu Sans"/>
                <a:ea typeface="DejaVu Sans"/>
                <a:cs typeface="DejaVu Sans"/>
              </a:rPr>
              <a:t>Gợi ý kiểm tra</a:t>
            </a:r>
          </a:p>
        </p:txBody>
      </p:sp>
      <p:sp>
        <p:nvSpPr>
          <p:cNvPr id="11" name="">
            <a:extLst xmlns:a="http://schemas.openxmlformats.org/drawingml/2006/main">
              <a:ext uri="{FF2B5EF4-FFF2-40B4-BE49-F238E27FC236}">
                <a16:creationId xmlns:a16="http://schemas.microsoft.com/office/drawing/2014/main" id="{6CA14FDE-99FB-40FB-84F8-EDD6BB430E37}"/>
              </a:ext>
            </a:extLst>
          </p:cNvPr>
          <p:cNvSpPr>
            <a:spLocks xmlns:a="http://schemas.openxmlformats.org/drawingml/2006/main" noGrp="1"/>
          </p:cNvSpPr>
          <p:nvPr/>
        </p:nvSpPr>
        <p:spPr>
          <a:xfrm xmlns:a="http://schemas.openxmlformats.org/drawingml/2006/main">
            <a:off x="1066800" y="42862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28"/>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Tổ chức tối thiểu 2 class: Product và Program. Dùng List&lt;Product&gt;. Tách mỗi chức năng thành một method. Xử lý trường hợp mã trùng và dữ liệu số không hợp lệ.</a:t>
            </a:r>
          </a:p>
        </p:txBody>
      </p:sp>
      <p:sp>
        <p:nvSpPr>
          <p:cNvPr id="12" name="">
            <a:extLst xmlns:a="http://schemas.openxmlformats.org/drawingml/2006/main">
              <a:ext uri="{FF2B5EF4-FFF2-40B4-BE49-F238E27FC236}">
                <a16:creationId xmlns:a16="http://schemas.microsoft.com/office/drawing/2014/main" id="{BBF5B1C2-7977-48E1-AD96-6E1084DC1B10}"/>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21B58984-82F0-4B09-A475-76274147835E}"/>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813696537"/>
      </p:ext>
    </p:extLst>
  </p:cSld>
</p:sld>
</file>

<file path=ppt/slides/slide2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10F694-9DAB-421C-94F0-7410CCFA1C0D}"/>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A8F17CE4-BAE5-4FAD-BF4C-6F21954B68C9}"/>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7950281C-604D-4C86-8B58-8AEED0B24727}"/>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Tự kiểm tra nhanh</a:t>
            </a:r>
          </a:p>
        </p:txBody>
      </p:sp>
      <p:sp>
        <p:nvSpPr>
          <p:cNvPr id="4" name="">
            <a:extLst xmlns:a="http://schemas.openxmlformats.org/drawingml/2006/main">
              <a:ext uri="{FF2B5EF4-FFF2-40B4-BE49-F238E27FC236}">
                <a16:creationId xmlns:a16="http://schemas.microsoft.com/office/drawing/2014/main" id="{BC473652-641B-437E-BEBD-2674ACE42AD8}"/>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B90C5FB2-4396-4000-924A-54D31854EF7C}"/>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25</a:t>
            </a:r>
          </a:p>
        </p:txBody>
      </p:sp>
      <p:sp>
        <p:nvSpPr>
          <p:cNvPr id="6" name="">
            <a:extLst xmlns:a="http://schemas.openxmlformats.org/drawingml/2006/main">
              <a:ext uri="{FF2B5EF4-FFF2-40B4-BE49-F238E27FC236}">
                <a16:creationId xmlns:a16="http://schemas.microsoft.com/office/drawing/2014/main" id="{FDBDD7B9-03E4-49D3-9CE7-077C8F3CFCB3}"/>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CÂU HỎI</a:t>
            </a:r>
          </a:p>
        </p:txBody>
      </p:sp>
      <p:sp>
        <p:nvSpPr>
          <p:cNvPr id="7" name="">
            <a:extLst xmlns:a="http://schemas.openxmlformats.org/drawingml/2006/main">
              <a:ext uri="{FF2B5EF4-FFF2-40B4-BE49-F238E27FC236}">
                <a16:creationId xmlns:a16="http://schemas.microsoft.com/office/drawing/2014/main" id="{D5B2A6A3-6280-43CD-95FD-F170BBFA780E}"/>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ĐÁP ÁN VÀ GIẢI THÍCH</a:t>
            </a:r>
          </a:p>
        </p:txBody>
      </p:sp>
      <p:sp>
        <p:nvSpPr>
          <p:cNvPr id="8" name="">
            <a:extLst xmlns:a="http://schemas.openxmlformats.org/drawingml/2006/main">
              <a:ext uri="{FF2B5EF4-FFF2-40B4-BE49-F238E27FC236}">
                <a16:creationId xmlns:a16="http://schemas.microsoft.com/office/drawing/2014/main" id="{EF698483-0408-4787-BBDE-3E7F58FBA490}"/>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43EB3187-F541-4969-B72A-46EEFD19B287}"/>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E4F4ED"/>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CD5707E2-D8D6-4F11-9E1F-10384BF60A63}"/>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1. var có làm C# trở thành ngôn ngữ định kiểu động?</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2. Khi nào dùng foreach thay cho for?</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3. Parse khác TryParse thế nào?</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4. Property khác field ở điểm nào?</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5. Vì sao không nên viết SQL hoặc logic nghiệp vụ trong Form?</a:t>
            </a:r>
          </a:p>
        </p:txBody>
      </p:sp>
      <p:sp>
        <p:nvSpPr>
          <p:cNvPr id="11" name="">
            <a:extLst xmlns:a="http://schemas.openxmlformats.org/drawingml/2006/main">
              <a:ext uri="{FF2B5EF4-FFF2-40B4-BE49-F238E27FC236}">
                <a16:creationId xmlns:a16="http://schemas.microsoft.com/office/drawing/2014/main" id="{83F61130-33BA-4A1A-A3F9-0CB20B19996B}"/>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1. Không. Kiểu vẫn xác định lúc biên dịch.</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2. Khi duyệt collection và không cần chỉ số.</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3. Parse có thể ném exception; TryParse trả bool.</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4. Property hỗ trợ kiểm soát truy cập.</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5. Làm tăng liên kết và khó kiểm thử.</a:t>
            </a:r>
          </a:p>
        </p:txBody>
      </p:sp>
      <p:sp>
        <p:nvSpPr>
          <p:cNvPr id="12" name="">
            <a:extLst xmlns:a="http://schemas.openxmlformats.org/drawingml/2006/main">
              <a:ext uri="{FF2B5EF4-FFF2-40B4-BE49-F238E27FC236}">
                <a16:creationId xmlns:a16="http://schemas.microsoft.com/office/drawing/2014/main" id="{98176358-F453-4AF3-8C85-CFBF3E30BF52}"/>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D2CEDE1D-23E2-448B-8BFB-50951B549589}"/>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747894784"/>
      </p:ext>
    </p:extLst>
  </p:cSld>
</p:sld>
</file>

<file path=ppt/slides/slide2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BF81F43-3607-48CE-826C-CFFA1A57C935}"/>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7876AFC9-C880-4E6D-AB5D-305DA7A8DCA1}"/>
              </a:ext>
            </a:extLst>
          </p:cNvPr>
          <p:cNvSpPr>
            <a:spLocks xmlns:a="http://schemas.openxmlformats.org/drawingml/2006/main" noGrp="1"/>
          </p:cNvSpPr>
          <p:nvPr/>
        </p:nvSpPr>
        <p:spPr>
          <a:xfrm xmlns:a="http://schemas.openxmlformats.org/drawingml/2006/main">
            <a:off x="495300" y="1905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1</a:t>
            </a:r>
          </a:p>
        </p:txBody>
      </p:sp>
      <p:sp>
        <p:nvSpPr>
          <p:cNvPr id="3" name="">
            <a:extLst xmlns:a="http://schemas.openxmlformats.org/drawingml/2006/main">
              <a:ext uri="{FF2B5EF4-FFF2-40B4-BE49-F238E27FC236}">
                <a16:creationId xmlns:a16="http://schemas.microsoft.com/office/drawing/2014/main" id="{F3D376BF-C508-4044-B044-0B09BC3FAD7A}"/>
              </a:ext>
            </a:extLst>
          </p:cNvPr>
          <p:cNvSpPr>
            <a:spLocks xmlns:a="http://schemas.openxmlformats.org/drawingml/2006/main" noGrp="1"/>
          </p:cNvSpPr>
          <p:nvPr/>
        </p:nvSpPr>
        <p:spPr>
          <a:xfrm xmlns:a="http://schemas.openxmlformats.org/drawingml/2006/main">
            <a:off x="495300" y="352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92"/>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Kết luận bài 1</a:t>
            </a:r>
          </a:p>
        </p:txBody>
      </p:sp>
      <p:sp>
        <p:nvSpPr>
          <p:cNvPr id="4" name="">
            <a:extLst xmlns:a="http://schemas.openxmlformats.org/drawingml/2006/main">
              <a:ext uri="{FF2B5EF4-FFF2-40B4-BE49-F238E27FC236}">
                <a16:creationId xmlns:a16="http://schemas.microsoft.com/office/drawing/2014/main" id="{1F59DBD7-DBF5-4A03-9796-9861B174B505}"/>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3B40B1A8-8976-46AD-A66E-C8E6977DF891}"/>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26</a:t>
            </a:r>
          </a:p>
        </p:txBody>
      </p:sp>
      <p:sp>
        <p:nvSpPr>
          <p:cNvPr id="6" name="">
            <a:extLst xmlns:a="http://schemas.openxmlformats.org/drawingml/2006/main">
              <a:ext uri="{FF2B5EF4-FFF2-40B4-BE49-F238E27FC236}">
                <a16:creationId xmlns:a16="http://schemas.microsoft.com/office/drawing/2014/main" id="{36E2D8B4-01C1-4CC8-9E68-316434E198A4}"/>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KIẾN THỨC ĐÃ ÔN</a:t>
            </a:r>
          </a:p>
        </p:txBody>
      </p:sp>
      <p:sp>
        <p:nvSpPr>
          <p:cNvPr id="7" name="">
            <a:extLst xmlns:a="http://schemas.openxmlformats.org/drawingml/2006/main">
              <a:ext uri="{FF2B5EF4-FFF2-40B4-BE49-F238E27FC236}">
                <a16:creationId xmlns:a16="http://schemas.microsoft.com/office/drawing/2014/main" id="{09527DD7-6118-4205-A65C-F71D9711EBD7}"/>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CHUẨN BỊ CHO BÀI TIẾP THEO</a:t>
            </a:r>
          </a:p>
        </p:txBody>
      </p:sp>
      <p:sp>
        <p:nvSpPr>
          <p:cNvPr id="8" name="">
            <a:extLst xmlns:a="http://schemas.openxmlformats.org/drawingml/2006/main">
              <a:ext uri="{FF2B5EF4-FFF2-40B4-BE49-F238E27FC236}">
                <a16:creationId xmlns:a16="http://schemas.microsoft.com/office/drawing/2014/main" id="{2159B1F1-E714-4968-9C6B-5859457B799B}"/>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B1B39CE5-6E2C-4F0B-A558-7AA90CBBEBC7}"/>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1A573DBB-B912-49BB-AB6C-77122BFEFE3D}"/>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Cấu trúc chương trình và type system</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Biến, toán tử, chuỗi và điều khiển luồng</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Methods, arrays và generic collections</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Class, property, constructor và OOP</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Exception handling và coding conventions</a:t>
            </a:r>
          </a:p>
        </p:txBody>
      </p:sp>
      <p:sp>
        <p:nvSpPr>
          <p:cNvPr id="11" name="">
            <a:extLst xmlns:a="http://schemas.openxmlformats.org/drawingml/2006/main">
              <a:ext uri="{FF2B5EF4-FFF2-40B4-BE49-F238E27FC236}">
                <a16:creationId xmlns:a16="http://schemas.microsoft.com/office/drawing/2014/main" id="{553963A9-D2F5-456F-B934-D43D234A67D3}"/>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Hoàn thành ứng dụng quản lý sản phẩm.</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Đọc trước:</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Delegates và events</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Lambda expressions</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LINQ to Objects</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Nguồn: w3schools.com/cs</a:t>
            </a:r>
          </a:p>
        </p:txBody>
      </p:sp>
      <p:sp>
        <p:nvSpPr>
          <p:cNvPr id="12" name="">
            <a:extLst xmlns:a="http://schemas.openxmlformats.org/drawingml/2006/main">
              <a:ext uri="{FF2B5EF4-FFF2-40B4-BE49-F238E27FC236}">
                <a16:creationId xmlns:a16="http://schemas.microsoft.com/office/drawing/2014/main" id="{86735BE2-9140-4586-B177-BB68BFC822D1}"/>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AECA2AD4-1FBB-469D-B6F0-04D0FC4AACD2}"/>
              </a:ext>
            </a:extLst>
          </p:cNvPr>
          <p:cNvSpPr>
            <a:spLocks xmlns:a="http://schemas.openxmlformats.org/drawingml/2006/main" noGrp="1"/>
          </p:cNvSpPr>
          <p:nvPr/>
        </p:nvSpPr>
        <p:spPr>
          <a:xfrm xmlns:a="http://schemas.openxmlformats.org/drawingml/2006/main">
            <a:off x="7620000" y="6486525"/>
            <a:ext cx="4038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Nguồn học tập: W3Schools C#</a:t>
            </a:r>
          </a:p>
        </p:txBody>
      </p:sp>
    </p:spTree>
    <p:extLst>
      <p:ext uri="{BB962C8B-B14F-4D97-AF65-F5344CB8AC3E}">
        <p14:creationId xmlns:p14="http://schemas.microsoft.com/office/powerpoint/2010/main" val="10783433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2026-09-12T06:05:56.6680000Z</dcterms:created>
  <dcterms:modified xsi:type="dcterms:W3CDTF">2026-09-12T06:05:56.6680000Z</dcterms:modified>
</coreProperties>
</file>